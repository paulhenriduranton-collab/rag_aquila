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Pipeline RAG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B82F6"/>
                </a:solidFill>
              </a:rPr>
              <a:t>Projet Aquila — Architecture complète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10360152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gemma4:12b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bge-m3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ChromaDB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93192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LangGraph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BM25 + MMR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443484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CrossEncoder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43484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RRF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4434840"/>
            <a:ext cx="2286000" cy="3657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HyDE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4C8"/>
                </a:solidFill>
              </a:rPr>
              <a:t>4 à 6 appels LLM par question  •  Retrieval hybride  •  Re-ranking CrossEncoder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Vue d'ensemble — 3 phases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685800"/>
            <a:ext cx="1143000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822960"/>
            <a:ext cx="3749039" cy="576072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01 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3B82F6"/>
                </a:solidFill>
              </a:rPr>
              <a:t>Une seule fois (ou après ajout de documents)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5740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PDF → Markdown  (pymupdf4llm)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58775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9631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Filtre tables des matières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118104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26664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Découpage par titres  (MarkdownHeaderTextSplitter)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648456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57016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Fusion micro-chunks  (&lt; 400 chars)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17880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8736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Découpage par taille  (1 000 chars, overlap 200)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70916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1772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Contextual retrieval  (préfixe LLM + métadonnées)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3951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4807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Vectorisation  (bge-m3 → 1 024 dimensions)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769864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78424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Stockage  (ChromaDB → C:/vector_db_aquila)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822960"/>
            <a:ext cx="3749039" cy="5760720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822960"/>
            <a:ext cx="3749039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82296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02  QUESTION / RÉPONSE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15361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10B981"/>
                </a:solidFill>
              </a:rPr>
              <a:t>À chaque question posée — 4 à 6 appels 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1" y="205740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7" y="196596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Identification de la source  (LLM #1)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6551" y="258775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7" y="249631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HyDE — réponse fictive  (LLM #2)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1" y="311810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7" y="3026664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Recherche sémantique MMR  (ChromaDB)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6551" y="3648456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7" y="3557016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Recherche lexicale BM25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1" y="417880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7" y="408736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Fusion RRF + déduplication Jaccard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6551" y="470916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7" y="461772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Re-ranking CrossEncoder  (top 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16551" y="523951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4567" y="514807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Évaluation chunks  (LLM #3)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6551" y="576986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567" y="5678424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Génération réponse  (LLM #4)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58" y="822960"/>
            <a:ext cx="3749039" cy="5760720"/>
          </a:xfrm>
          <a:prstGeom prst="rect">
            <a:avLst/>
          </a:prstGeom>
          <a:solidFill>
            <a:srgbClr val="1A25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58" y="822960"/>
            <a:ext cx="3749039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58" y="82296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03  ÉVALUATION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58" y="15361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59E0B"/>
                </a:solidFill>
              </a:rPr>
              <a:t>À la demande — 40 questions de référence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02750" y="205740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6" y="196596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run_agentic_all.py  → agentic_results.json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2750" y="258775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6" y="249631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evaluate_ragas.py  → ragas_evaluation.csv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2750" y="311810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0766" y="3026664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Faithfulness  (hallucinations ?)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02750" y="364845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0766" y="3557016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AnswerRelevancy  (réponse hors sujet ?)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02750" y="41788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0766" y="4087368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ContextPrecision  (chunks hors sujet ?)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2750" y="47091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6" y="4617720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ContextRecall  (info manquante ?)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2750" y="523951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0766" y="5148072"/>
            <a:ext cx="3383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AnswerCorrectness  (vs. ground truth)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Phase 1 —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4C8"/>
                </a:solidFill>
              </a:rPr>
              <a:t>Exécutée une seule fois — produit la base vectorielle ChromaDB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14400"/>
            <a:ext cx="1143000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1051560"/>
            <a:ext cx="132588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PDF / TXT / DOCX
(dossier documents/)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14500.0" y="1325880.0"/>
            <a:ext cx="0.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1463040.0"/>
            <a:ext cx="22860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28800" y="1051560"/>
            <a:ext cx="1325880" cy="8229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0972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Extraction Markdown
pymupdf4llm — page par page
ftfy : réparation encodages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202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AB4C8"/>
                </a:solidFill>
              </a:rPr>
              <a:t>↳ Chevauchement inter-pages : 300 chars copiés d'une page à l'autre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68980.0" y="1325880.0"/>
            <a:ext cx="0.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54680" y="1463040.0"/>
            <a:ext cx="22860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3280" y="1051560"/>
            <a:ext cx="1325880" cy="8229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0972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Filtre tables des matières
_is_toc_page  (ratio '...' &gt; 30 %)
→ pages TdM ignorées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23460.0" y="1325880.0"/>
            <a:ext cx="0.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" y="1463040.0"/>
            <a:ext cx="22860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37760" y="1051560"/>
            <a:ext cx="1325880" cy="8229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09728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Découpage par titres
MarkdownHeaderTextSplitter
→ métadonnées h1 / h2 / 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202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AB4C8"/>
                </a:solidFill>
              </a:rPr>
              <a:t>↳ Titres conservés dans le texte (strip_headers=False)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00700.0" y="1874520"/>
            <a:ext cx="0.0" cy="45720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4320" y="2377440"/>
            <a:ext cx="13258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231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Vectorisation + stockage
bge-m3 → 1 024 dims, lots de 50
→ C:/vector_db_aquila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00200" y="2788920.0"/>
            <a:ext cx="228600" cy="0.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828800" y="2377440"/>
            <a:ext cx="1325880" cy="822960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20" y="24231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Contextual retrieval
_contextualize_chunks — gemma4:12b
[source | page | h1&gt;h2&gt;h3 | mots-clés]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246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AB4C8"/>
                </a:solidFill>
              </a:rPr>
              <a:t>↳ 1 appel LLM / chunk lors de l'ingestion (checkpoint pickle)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2788920.0"/>
            <a:ext cx="228600" cy="0.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83280" y="2377440"/>
            <a:ext cx="1325880" cy="8229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4231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Découpage par taille
RecursiveCharacterTextSplitter
chunk=1 000  overlap=200  \n| protège tableaux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9160" y="2788920.0"/>
            <a:ext cx="228600" cy="0.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37760" y="2377440"/>
            <a:ext cx="1325880" cy="822960"/>
          </a:xfrm>
          <a:prstGeom prst="rect">
            <a:avLst/>
          </a:prstGeom>
          <a:solidFill>
            <a:srgbClr val="1A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24231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Fusion micro-chunks
_merge_small_chunks
→ seuil : 400 caractères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8"/>
                </a:solidFill>
              </a:rPr>
              <a:t>←  sens du flux (suite des étapes)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2743200" cy="914400"/>
          </a:xfrm>
          <a:prstGeom prst="rect">
            <a:avLst/>
          </a:prstGeom>
          <a:solidFill>
            <a:srgbClr val="0D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~700 chunks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4C8"/>
                </a:solidFill>
              </a:rPr>
              <a:t>pour 2 brochures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349240"/>
            <a:ext cx="2743200" cy="914400"/>
          </a:xfrm>
          <a:prstGeom prst="rect">
            <a:avLst/>
          </a:prstGeom>
          <a:solidFill>
            <a:srgbClr val="0D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15–25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4C8"/>
                </a:solidFill>
              </a:rPr>
              <a:t>sur CPU (vectorisation)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349240"/>
            <a:ext cx="2743200" cy="914400"/>
          </a:xfrm>
          <a:prstGeom prst="rect">
            <a:avLst/>
          </a:prstGeom>
          <a:solidFill>
            <a:srgbClr val="0D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1 appel LLM/chunk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4C8"/>
                </a:solidFill>
              </a:rPr>
              <a:t>pour la contextualisation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5349240"/>
            <a:ext cx="2743200" cy="914400"/>
          </a:xfrm>
          <a:prstGeom prst="rect">
            <a:avLst/>
          </a:prstGeom>
          <a:solidFill>
            <a:srgbClr val="0D14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Checkpoint pickle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4C8"/>
                </a:solidFill>
              </a:rPr>
              <a:t>reprise sur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Phase 2 — Pipeline Agentique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8"/>
                </a:solidFill>
              </a:rPr>
              <a:t>LangGraph  •  4 nœuds  •  4 à 6 appels LLM par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931920" y="1005840"/>
            <a:ext cx="420624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05156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Question de l'utilisateur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.0" y="1664208"/>
            <a:ext cx="0.0" cy="2743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931920" y="1956816"/>
            <a:ext cx="4206240" cy="658368"/>
          </a:xfrm>
          <a:prstGeom prst="rect">
            <a:avLst/>
          </a:prstGeom>
          <a:solidFill>
            <a:srgbClr val="1A253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002536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① identify_sources  [LLM #1]
Choisit quel(s) PDF concernent la 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.0" y="2615184"/>
            <a:ext cx="0.0" cy="2743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31920" y="2907792"/>
            <a:ext cx="4206240" cy="658368"/>
          </a:xfrm>
          <a:prstGeom prst="rect">
            <a:avLst/>
          </a:prstGeom>
          <a:solidFill>
            <a:srgbClr val="1A253D"/>
          </a:solidFill>
          <a:ln w="254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95351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② retrieve_node
HyDE [LLM #2]  →  MMR + BM25  →  RRF  →  Dedup  →  Re-rank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.0" y="3566160"/>
            <a:ext cx="0.0" cy="2743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931920" y="3858768"/>
            <a:ext cx="4206240" cy="658368"/>
          </a:xfrm>
          <a:prstGeom prst="rect">
            <a:avLst/>
          </a:prstGeom>
          <a:solidFill>
            <a:srgbClr val="1A25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904488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③ grade_documents  [LLM #3]
Les 5 chunks sont-ils suffisants 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.0" y="4517136"/>
            <a:ext cx="0.0" cy="2743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31920" y="4809744"/>
            <a:ext cx="4206240" cy="658368"/>
          </a:xfrm>
          <a:prstGeom prst="rect">
            <a:avLst/>
          </a:prstGeom>
          <a:solidFill>
            <a:srgbClr val="1A253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4855464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④ generate_node  [LLM #4]
gemma4:12b  •  5 chunks  •  temperature=0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.0" y="5468112"/>
            <a:ext cx="0.0" cy="2743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931920" y="5760720"/>
            <a:ext cx="420624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580644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Réponse finale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4187952.0"/>
            <a:ext cx="45720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83880" y="39136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NON
(&lt; MAX_ATTEMPTS)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3895344"/>
            <a:ext cx="3017520" cy="594360"/>
          </a:xfrm>
          <a:prstGeom prst="rect">
            <a:avLst/>
          </a:prstGeom>
          <a:solidFill>
            <a:srgbClr val="1A25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394106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59E0B"/>
                </a:solidFill>
              </a:rPr>
              <a:t>rewrite_query  [LLM #5]
Reformule la requête sur ce qui manque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104120.0" y="3236976.0"/>
            <a:ext cx="0.0" cy="1252728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138160" y="3236976.0"/>
            <a:ext cx="1965960.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0" y="29626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59E0B"/>
                </a:solidFill>
              </a:rPr>
              <a:t>HyDE [LLM #6]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050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OUI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" y="960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Appels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41732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1325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#1  identify_sources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1508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identifie le(s) PDF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1847088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17556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#2  HyDE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19385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génère une réponse fictive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276856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21854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#3  grade_documents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23682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évalue les chunks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706624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26151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#4  generate_node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27980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génère la réponse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13639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0449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#5  rewrite_query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32278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reformule (si NON)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566160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474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#6  HyDE (2ème tour)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" y="36576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nouvelle réponse fictive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59E0B"/>
                </a:solidFill>
              </a:rPr>
              <a:t>#5 et #6 uniquement si chunks insuffisants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Zoom — Retrieval hybride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8"/>
                </a:solidFill>
              </a:rPr>
              <a:t>Ce qui se passe à l'intérieur du nœud retrieve_node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08476" y="1005840"/>
            <a:ext cx="4572000" cy="658368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9916" y="105156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HyDE  [LLM #2]
Génère une réponse fictive stylistiquement proche des chunks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154680.0" y="1664208"/>
            <a:ext cx="2939796.0" cy="393192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4476.0" y="1664208"/>
            <a:ext cx="2820924.0" cy="393192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97280" y="2057400"/>
            <a:ext cx="4114800" cy="96012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Recherche SÉMANTIQUE — MMR
bge-m3 vectorise la réponse fictive
25 chunks  (parmi 100 candidats)  •  λ=0.5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057400"/>
            <a:ext cx="4114800" cy="96012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Recherche LEXICALE — BM25
Question originale normalisée (sans accents)
25 chunks avec correspondances exactes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.0" y="3017520"/>
            <a:ext cx="2939796.0" cy="41148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94476.0" y="3017520"/>
            <a:ext cx="2820924.0" cy="41148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51276" y="3429000"/>
            <a:ext cx="5486400" cy="658368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2716" y="34747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Fusion RRF  (Reciprocal Rank Fusion)
score = 1/(60 + rang_sémantique) + 1/(60 + rang_BM25)  →  15 candidats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4476.0" y="4087368"/>
            <a:ext cx="0.0" cy="393192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19556" y="4480560"/>
            <a:ext cx="3200400" cy="868680"/>
          </a:xfrm>
          <a:prstGeom prst="rect">
            <a:avLst/>
          </a:prstGeom>
          <a:solidFill>
            <a:srgbClr val="1A25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" y="45262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Déduplication
Jaccard &gt; 80 %
→ quasi-doublons écartés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19956.0" y="4914900.0"/>
            <a:ext cx="274320.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494276" y="4480560"/>
            <a:ext cx="3200400" cy="86868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5716" y="45262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Re-ranking
CrossEncoder
BAAI/bge-reranker-v2-m3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94676.0" y="4914900.0"/>
            <a:ext cx="274320.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968996" y="4480560"/>
            <a:ext cx="3200400" cy="868680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45262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Top 5 chunks
pour le LLM
(seuil logit = 0.0)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532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• MMR : Maximal Marginal Relevance — pertinence ET diversité (évite 25 extraits du même paragraphe)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795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• RRF : indépendant des scores bruts, ne regarde que les rangs — robuste aux différences d'échelle MMR vs BM25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270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B4C8"/>
                </a:solidFill>
              </a:rPr>
              <a:t>• CrossEncoder : lit (question + chunk) ensemble — plus précis qu'un embedding mais plus lent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Phase 3 — Évaluation RAGAS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8"/>
                </a:solidFill>
              </a:rPr>
              <a:t>40 questions de référence  •  5 métriques  •  Modèles locaux (Ollama)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097280"/>
            <a:ext cx="2103120" cy="9144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4300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questions.json
40 questions + réponses
de référence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554480.0"/>
            <a:ext cx="45720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26080" y="1097280"/>
            <a:ext cx="2103120" cy="914400"/>
          </a:xfrm>
          <a:prstGeom prst="rect">
            <a:avLst/>
          </a:prstGeom>
          <a:solidFill>
            <a:srgbClr val="1A253D"/>
          </a:solidFill>
          <a:ln w="1905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14300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run_agentic_all.py
Lance le pipeline sur
chaque 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1554480.0"/>
            <a:ext cx="45720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1097280"/>
            <a:ext cx="2103120" cy="9144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114300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agentic_results.json
Réponse LLM + chunks
+ logs par question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1554480.0"/>
            <a:ext cx="45720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46720" y="1097280"/>
            <a:ext cx="2103120" cy="914400"/>
          </a:xfrm>
          <a:prstGeom prst="rect">
            <a:avLst/>
          </a:prstGeom>
          <a:solidFill>
            <a:srgbClr val="1A253D"/>
          </a:solidFill>
          <a:ln w="1905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14300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evaluate_ragas.py
Construit le dataset
RAGAS et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1554480.0"/>
            <a:ext cx="457200" cy="0.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607040" y="1097280"/>
            <a:ext cx="2103120" cy="9144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1143000"/>
            <a:ext cx="1956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ragas_evaluation.csv
5 métriques
par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286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Les 5 métriques RAGAS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88920"/>
            <a:ext cx="2194560" cy="228600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88920"/>
            <a:ext cx="21945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Faithfulness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 LLM invente-t-il ?
Score bas → hallucinations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8"/>
                </a:solidFill>
              </a:rPr>
              <a:t>Ground truth : Non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0.0 → 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4328" y="2788920"/>
            <a:ext cx="2194560" cy="228600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24328" y="2788920"/>
            <a:ext cx="21945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8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AnswerRelevancy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 réponse répond-elle
à la question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8"/>
                </a:solidFill>
              </a:rPr>
              <a:t>Ground truth : Non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5768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0.0 → 1.0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28616" y="2788920"/>
            <a:ext cx="2194560" cy="2286000"/>
          </a:xfrm>
          <a:prstGeom prst="rect">
            <a:avLst/>
          </a:prstGeom>
          <a:solidFill>
            <a:srgbClr val="1A25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28616" y="2788920"/>
            <a:ext cx="21945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28616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ContextPrecision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0056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Les chunks récupérés
sont-ils pertinents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0056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8"/>
                </a:solidFill>
              </a:rPr>
              <a:t>Ground truth : Non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0056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0.0 → 1.0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32904" y="2788920"/>
            <a:ext cx="2194560" cy="2286000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32904" y="2788920"/>
            <a:ext cx="21945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2904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ContextRecall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344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Les chunks couvrent-ils
tout ce que contient la référence 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4344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</a:rPr>
              <a:t>Ground truth : Oui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4344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0.0 → 1.0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37192" y="2788920"/>
            <a:ext cx="2194560" cy="2286000"/>
          </a:xfrm>
          <a:prstGeom prst="rect">
            <a:avLst/>
          </a:prstGeom>
          <a:solidFill>
            <a:srgbClr val="1A25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37192" y="2788920"/>
            <a:ext cx="21945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37192" y="2788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AnswerCorrectness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 réponse est-elle
correcte vs. référence 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0B981"/>
                </a:solidFill>
              </a:rPr>
              <a:t>Ground truth : Oui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8632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0.0 → 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B4C8"/>
                </a:solidFill>
              </a:rPr>
              <a:t>Scores faibles → Faithfulness : hallucinations  •  ContextPrecision : retrieval hors-sujet  •  ContextRecall : info manquante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