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869680" y="-1371600"/>
            <a:ext cx="5486400" cy="5486400"/>
          </a:xfrm>
          <a:prstGeom prst="ellipse">
            <a:avLst/>
          </a:prstGeom>
          <a:solidFill>
            <a:srgbClr val="12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4206240"/>
            <a:ext cx="3657600" cy="3657600"/>
          </a:xfrm>
          <a:prstGeom prst="ellipse">
            <a:avLst/>
          </a:prstGeom>
          <a:solidFill>
            <a:srgbClr val="1B8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48640" y="548640"/>
            <a:ext cx="164592" cy="164592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41247" y="548640"/>
            <a:ext cx="164592" cy="164592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3856" y="548640"/>
            <a:ext cx="164592" cy="164592"/>
          </a:xfrm>
          <a:prstGeom prst="ellipse">
            <a:avLst/>
          </a:prstGeom>
          <a:solidFill>
            <a:srgbClr val="3A8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426464" y="548640"/>
            <a:ext cx="164592" cy="164592"/>
          </a:xfrm>
          <a:prstGeom prst="ellipse">
            <a:avLst/>
          </a:prstGeom>
          <a:solidFill>
            <a:srgbClr val="8A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719072" y="548640"/>
            <a:ext cx="164592" cy="164592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33172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2EC4B6"/>
                </a:solidFill>
                <a:latin typeface="Segoe UI Semibold"/>
              </a:rPr>
              <a:t>PROJET AQUILA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74320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800" b="1" i="0">
                <a:solidFill>
                  <a:srgbClr val="FFFFFF"/>
                </a:solidFill>
                <a:latin typeface="Segoe UI"/>
              </a:rPr>
              <a:t>RAG Agentique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94760"/>
            <a:ext cx="9875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 i="0">
                <a:solidFill>
                  <a:srgbClr val="C9D6E6"/>
                </a:solidFill>
                <a:latin typeface="Segoe UI"/>
              </a:rPr>
              <a:t>Un système de question-réponse local, agentique et auto-évalué</a:t>
            </a:r>
          </a:p>
          <a:p>
            <a:pPr algn="l">
              <a:lnSpc>
                <a:spcPct val="125000"/>
              </a:lnSpc>
            </a:pPr>
            <a:r>
              <a:rPr sz="1700" b="0" i="0">
                <a:solidFill>
                  <a:srgbClr val="C9D6E6"/>
                </a:solidFill>
                <a:latin typeface="Segoe UI"/>
              </a:rPr>
              <a:t>sur des documents académiques (ENS · Sorbonne)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892040"/>
            <a:ext cx="2313432" cy="384048"/>
          </a:xfrm>
          <a:prstGeom prst="roundRect">
            <a:avLst>
              <a:gd name="adj" fmla="val 50000"/>
            </a:avLst>
          </a:prstGeom>
          <a:solidFill>
            <a:srgbClr val="3A8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1150" b="1">
                <a:solidFill>
                  <a:srgbClr val="FFFFFF"/>
                </a:solidFill>
                <a:latin typeface="Segoe UI Semibold"/>
              </a:rPr>
              <a:t>LangGraph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063240" y="4892040"/>
            <a:ext cx="3520439" cy="384048"/>
          </a:xfrm>
          <a:prstGeom prst="roundRect">
            <a:avLst>
              <a:gd name="adj" fmla="val 50000"/>
            </a:avLst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1150" b="1">
                <a:solidFill>
                  <a:srgbClr val="FFFFFF"/>
                </a:solidFill>
                <a:latin typeface="Segoe UI Semibold"/>
              </a:rPr>
              <a:t>Ollama / bge-m3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784848" y="4892040"/>
            <a:ext cx="2112264" cy="384048"/>
          </a:xfrm>
          <a:prstGeom prst="roundRect">
            <a:avLst>
              <a:gd name="adj" fmla="val 50000"/>
            </a:avLst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1150" b="1">
                <a:solidFill>
                  <a:srgbClr val="FFFFFF"/>
                </a:solidFill>
                <a:latin typeface="Segoe UI Semibold"/>
              </a:rPr>
              <a:t>ChromaDB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98280" y="4892040"/>
            <a:ext cx="1508760" cy="384048"/>
          </a:xfrm>
          <a:prstGeom prst="roundRect">
            <a:avLst>
              <a:gd name="adj" fmla="val 50000"/>
            </a:avLst>
          </a:prstGeom>
          <a:solidFill>
            <a:srgbClr val="8A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1150" b="1">
                <a:solidFill>
                  <a:srgbClr val="FFFFFF"/>
                </a:solidFill>
                <a:latin typeface="Segoe UI Semibold"/>
              </a:rPr>
              <a:t>RAGAS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2636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1">
                <a:solidFill>
                  <a:srgbClr val="5B6677"/>
                </a:solidFill>
                <a:latin typeface="Segoe UI"/>
              </a:rPr>
              <a:t>Présentation technique complète du pipeline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547104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RAG Aquila — Système RAG Agentique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0" y="654710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01/17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492240"/>
            <a:ext cx="12191695" cy="9525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10920"/>
            <a:ext cx="12191695" cy="4064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EC4B6"/>
                </a:solidFill>
                <a:latin typeface="Segoe UI Semibold"/>
              </a:rPr>
              <a:t>SOMMAIRE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38404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Segoe UI"/>
              </a:rPr>
              <a:t>Plan de la présentation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25880"/>
            <a:ext cx="5349240" cy="106070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325880"/>
            <a:ext cx="82296" cy="1060704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8952" y="1435608"/>
            <a:ext cx="822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2EC4B6"/>
                </a:solidFill>
                <a:latin typeface="Segoe U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1444752"/>
            <a:ext cx="4160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0B1F3A"/>
                </a:solidFill>
                <a:latin typeface="Segoe UI Semibold"/>
              </a:rPr>
              <a:t>Contexte &amp; objectifs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1801368"/>
            <a:ext cx="4160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5B6677"/>
                </a:solidFill>
                <a:latin typeface="Segoe UI"/>
              </a:rPr>
              <a:t>Pourquoi un RAG agentique local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532888"/>
            <a:ext cx="5349240" cy="106070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2532888"/>
            <a:ext cx="82296" cy="1060704"/>
          </a:xfrm>
          <a:prstGeom prst="rect">
            <a:avLst/>
          </a:prstGeom>
          <a:solidFill>
            <a:srgbClr val="3A8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2" y="2642616"/>
            <a:ext cx="822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3A86FF"/>
                </a:solidFill>
                <a:latin typeface="Segoe U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2651760"/>
            <a:ext cx="4160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0B1F3A"/>
                </a:solidFill>
                <a:latin typeface="Segoe UI Semibold"/>
              </a:rPr>
              <a:t>Cas d'usage &amp; dataset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3008376"/>
            <a:ext cx="4160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5B6677"/>
                </a:solidFill>
                <a:latin typeface="Segoe UI"/>
              </a:rPr>
              <a:t>50 questions, brochures ENS / Sorbonne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739896"/>
            <a:ext cx="5349240" cy="106070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3739896"/>
            <a:ext cx="82296" cy="1060704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8952" y="3849624"/>
            <a:ext cx="822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6B35"/>
                </a:solidFill>
                <a:latin typeface="Segoe U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3858768"/>
            <a:ext cx="4160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0B1F3A"/>
                </a:solidFill>
                <a:latin typeface="Segoe UI Semibold"/>
              </a:rPr>
              <a:t>Architecture globale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3040" y="4215384"/>
            <a:ext cx="4160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5B6677"/>
                </a:solidFill>
                <a:latin typeface="Segoe UI"/>
              </a:rPr>
              <a:t>3 phases : ingestion, agent, évaluation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4946904"/>
            <a:ext cx="5349240" cy="106070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" y="4946904"/>
            <a:ext cx="82296" cy="1060704"/>
          </a:xfrm>
          <a:prstGeom prst="rect">
            <a:avLst/>
          </a:prstGeom>
          <a:solidFill>
            <a:srgbClr val="8A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952" y="5056632"/>
            <a:ext cx="822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8A5CF6"/>
                </a:solidFill>
                <a:latin typeface="Segoe UI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3040" y="5065776"/>
            <a:ext cx="4160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0B1F3A"/>
                </a:solidFill>
                <a:latin typeface="Segoe UI Semibold"/>
              </a:rPr>
              <a:t>Pipeline d'ingestion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63040" y="5422392"/>
            <a:ext cx="4160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5B6677"/>
                </a:solidFill>
                <a:latin typeface="Segoe UI"/>
              </a:rPr>
              <a:t>Du PDF à la base vectorielle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26480" y="1325880"/>
            <a:ext cx="5349240" cy="106070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26480" y="1325880"/>
            <a:ext cx="82296" cy="1060704"/>
          </a:xfrm>
          <a:prstGeom prst="rect">
            <a:avLst/>
          </a:prstGeom>
          <a:solidFill>
            <a:srgbClr val="1B8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82512" y="1435608"/>
            <a:ext cx="822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1B8A80"/>
                </a:solidFill>
                <a:latin typeface="Segoe UI"/>
              </a:rPr>
              <a:t>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86600" y="1444752"/>
            <a:ext cx="4160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0B1F3A"/>
                </a:solidFill>
                <a:latin typeface="Segoe UI Semibold"/>
              </a:rPr>
              <a:t>Cœur agentique (LangGraph)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600" y="1801368"/>
            <a:ext cx="4160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5B6677"/>
                </a:solidFill>
                <a:latin typeface="Segoe UI"/>
              </a:rPr>
              <a:t>Routage, retrieval, grading, rewrite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26480" y="2532888"/>
            <a:ext cx="5349240" cy="106070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126480" y="2532888"/>
            <a:ext cx="82296" cy="1060704"/>
          </a:xfrm>
          <a:prstGeom prst="rect">
            <a:avLst/>
          </a:prstGeom>
          <a:solidFill>
            <a:srgbClr val="3A8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82512" y="2642616"/>
            <a:ext cx="822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3A86FF"/>
                </a:solidFill>
                <a:latin typeface="Segoe UI"/>
              </a:rPr>
              <a:t>06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86600" y="2651760"/>
            <a:ext cx="4160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0B1F3A"/>
                </a:solidFill>
                <a:latin typeface="Segoe UI Semibold"/>
              </a:rPr>
              <a:t>Retrieval hybride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86600" y="3008376"/>
            <a:ext cx="4160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5B6677"/>
                </a:solidFill>
                <a:latin typeface="Segoe UI"/>
              </a:rPr>
              <a:t>MMR + BM25 + RRF + re-ranking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26480" y="3739896"/>
            <a:ext cx="5349240" cy="106070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126480" y="3739896"/>
            <a:ext cx="82296" cy="1060704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82512" y="3849624"/>
            <a:ext cx="822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6B35"/>
                </a:solidFill>
                <a:latin typeface="Segoe UI"/>
              </a:rPr>
              <a:t>07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600" y="3858768"/>
            <a:ext cx="4160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0B1F3A"/>
                </a:solidFill>
                <a:latin typeface="Segoe UI Semibold"/>
              </a:rPr>
              <a:t>Évaluation &amp; résultats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086600" y="4215384"/>
            <a:ext cx="4160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5B6677"/>
                </a:solidFill>
                <a:latin typeface="Segoe UI"/>
              </a:rPr>
              <a:t>RAGAS + évaluation par composant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126480" y="4946904"/>
            <a:ext cx="5349240" cy="106070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126480" y="4946904"/>
            <a:ext cx="82296" cy="1060704"/>
          </a:xfrm>
          <a:prstGeom prst="rect">
            <a:avLst/>
          </a:prstGeom>
          <a:solidFill>
            <a:srgbClr val="8A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82512" y="5056632"/>
            <a:ext cx="822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8A5CF6"/>
                </a:solidFill>
                <a:latin typeface="Segoe UI"/>
              </a:rPr>
              <a:t>08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086600" y="5065776"/>
            <a:ext cx="4160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0B1F3A"/>
                </a:solidFill>
                <a:latin typeface="Segoe UI Semibold"/>
              </a:rPr>
              <a:t>Stack technique &amp; déploiement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86600" y="5422392"/>
            <a:ext cx="4160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5B6677"/>
                </a:solidFill>
                <a:latin typeface="Segoe UI"/>
              </a:rPr>
              <a:t>Modèles, infra locale et Colab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2920" y="6547104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RAG Aquila — Système RAG Agentique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972800" y="654710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02/17</a:t>
            </a:r>
          </a:p>
        </p:txBody>
      </p:sp>
      <p:sp>
        <p:nvSpPr>
          <p:cNvPr id="48" name="Rectangle 47"/>
          <p:cNvSpPr/>
          <p:nvPr/>
        </p:nvSpPr>
        <p:spPr>
          <a:xfrm>
            <a:off x="0" y="6492240"/>
            <a:ext cx="12191695" cy="9525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10920"/>
            <a:ext cx="12191695" cy="4064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EC4B6"/>
                </a:solidFill>
                <a:latin typeface="Segoe UI Semibold"/>
              </a:rPr>
              <a:t>CONTEXTE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38404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Segoe UI"/>
              </a:rPr>
              <a:t>Pourquoi un RAG agentique local 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298448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B1F3A"/>
                </a:solidFill>
                <a:latin typeface="Segoe UI Semibold"/>
              </a:rPr>
              <a:t>Le problème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539496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1400"/>
              </a:spcAft>
            </a:pPr>
            <a:r>
              <a:rPr sz="1350" b="1">
                <a:solidFill>
                  <a:srgbClr val="2EC4B6"/>
                </a:solidFill>
                <a:latin typeface="Segoe UI"/>
              </a:rPr>
              <a:t>—  </a:t>
            </a:r>
            <a:r>
              <a:rPr sz="1350">
                <a:solidFill>
                  <a:srgbClr val="1B1F27"/>
                </a:solidFill>
                <a:latin typeface="Segoe UI"/>
              </a:rPr>
              <a:t>Les étudiants doivent fouiller des brochures PDF longues et denses (ENS, Sorbonne) pour trouver une information précise</a:t>
            </a:r>
          </a:p>
          <a:p>
            <a:pPr>
              <a:lnSpc>
                <a:spcPct val="118000"/>
              </a:lnSpc>
              <a:spcAft>
                <a:spcPts val="1400"/>
              </a:spcAft>
            </a:pPr>
            <a:r>
              <a:rPr sz="1350" b="1">
                <a:solidFill>
                  <a:srgbClr val="2EC4B6"/>
                </a:solidFill>
                <a:latin typeface="Segoe UI"/>
              </a:rPr>
              <a:t>—  </a:t>
            </a:r>
            <a:r>
              <a:rPr sz="1350">
                <a:solidFill>
                  <a:srgbClr val="1B1F27"/>
                </a:solidFill>
                <a:latin typeface="Segoe UI"/>
              </a:rPr>
              <a:t>Un chatbot généraliste (ChatGPT) ne connaît pas le contenu exact de ces brochures et peut halluciner</a:t>
            </a:r>
          </a:p>
          <a:p>
            <a:pPr>
              <a:lnSpc>
                <a:spcPct val="118000"/>
              </a:lnSpc>
              <a:spcAft>
                <a:spcPts val="1400"/>
              </a:spcAft>
            </a:pPr>
            <a:r>
              <a:rPr sz="1350" b="1">
                <a:solidFill>
                  <a:srgbClr val="2EC4B6"/>
                </a:solidFill>
                <a:latin typeface="Segoe UI"/>
              </a:rPr>
              <a:t>—  </a:t>
            </a:r>
            <a:r>
              <a:rPr sz="1350">
                <a:solidFill>
                  <a:srgbClr val="1B1F27"/>
                </a:solidFill>
                <a:latin typeface="Segoe UI"/>
              </a:rPr>
              <a:t>Les données académiques ne doivent pas être envoyées à des API externes</a:t>
            </a:r>
          </a:p>
          <a:p>
            <a:pPr>
              <a:lnSpc>
                <a:spcPct val="118000"/>
              </a:lnSpc>
              <a:spcAft>
                <a:spcPts val="1400"/>
              </a:spcAft>
            </a:pPr>
            <a:r>
              <a:rPr sz="1350" b="1">
                <a:solidFill>
                  <a:srgbClr val="2EC4B6"/>
                </a:solidFill>
                <a:latin typeface="Segoe UI"/>
              </a:rPr>
              <a:t>—  </a:t>
            </a:r>
            <a:r>
              <a:rPr sz="1350">
                <a:solidFill>
                  <a:srgbClr val="1B1F27"/>
                </a:solidFill>
                <a:latin typeface="Segoe UI"/>
              </a:rPr>
              <a:t>Une simple recherche par mots-clés échoue sur les questions de synthèse ou de comparaison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63640" y="1298448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B1F3A"/>
                </a:solidFill>
                <a:latin typeface="Segoe UI Semibold"/>
              </a:rPr>
              <a:t>La réponse : RAG agentique local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1691640"/>
            <a:ext cx="539496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1400"/>
              </a:spcAft>
            </a:pPr>
            <a:r>
              <a:rPr sz="1350" b="1">
                <a:solidFill>
                  <a:srgbClr val="FF6B35"/>
                </a:solidFill>
                <a:latin typeface="Segoe UI"/>
              </a:rPr>
              <a:t>—  </a:t>
            </a:r>
            <a:r>
              <a:rPr sz="1350">
                <a:solidFill>
                  <a:srgbClr val="1B1F27"/>
                </a:solidFill>
                <a:latin typeface="Segoe UI"/>
              </a:rPr>
              <a:t>100% local : LLM (Ollama) + base vectorielle (ChromaDB) — aucune donnée ne sort de la machine</a:t>
            </a:r>
          </a:p>
          <a:p>
            <a:pPr>
              <a:lnSpc>
                <a:spcPct val="118000"/>
              </a:lnSpc>
              <a:spcAft>
                <a:spcPts val="1400"/>
              </a:spcAft>
            </a:pPr>
            <a:r>
              <a:rPr sz="1350" b="1">
                <a:solidFill>
                  <a:srgbClr val="FF6B35"/>
                </a:solidFill>
                <a:latin typeface="Segoe UI"/>
              </a:rPr>
              <a:t>—  </a:t>
            </a:r>
            <a:r>
              <a:rPr sz="1350">
                <a:solidFill>
                  <a:srgbClr val="1B1F27"/>
                </a:solidFill>
                <a:latin typeface="Segoe UI"/>
              </a:rPr>
              <a:t>Agentique : un graphe de décision (LangGraph) choisit la source, juge la qualité du contexte et reformule si besoin</a:t>
            </a:r>
          </a:p>
          <a:p>
            <a:pPr>
              <a:lnSpc>
                <a:spcPct val="118000"/>
              </a:lnSpc>
              <a:spcAft>
                <a:spcPts val="1400"/>
              </a:spcAft>
            </a:pPr>
            <a:r>
              <a:rPr sz="1350" b="1">
                <a:solidFill>
                  <a:srgbClr val="FF6B35"/>
                </a:solidFill>
                <a:latin typeface="Segoe UI"/>
              </a:rPr>
              <a:t>—  </a:t>
            </a:r>
            <a:r>
              <a:rPr sz="1350">
                <a:solidFill>
                  <a:srgbClr val="1B1F27"/>
                </a:solidFill>
                <a:latin typeface="Segoe UI"/>
              </a:rPr>
              <a:t>Retrieval hybride avancé : recherche sémantique + lexicale fusionnées et re-classées</a:t>
            </a:r>
          </a:p>
          <a:p>
            <a:pPr>
              <a:lnSpc>
                <a:spcPct val="118000"/>
              </a:lnSpc>
              <a:spcAft>
                <a:spcPts val="1400"/>
              </a:spcAft>
            </a:pPr>
            <a:r>
              <a:rPr sz="1350" b="1">
                <a:solidFill>
                  <a:srgbClr val="FF6B35"/>
                </a:solidFill>
                <a:latin typeface="Segoe UI"/>
              </a:rPr>
              <a:t>—  </a:t>
            </a:r>
            <a:r>
              <a:rPr sz="1350">
                <a:solidFill>
                  <a:srgbClr val="1B1F27"/>
                </a:solidFill>
                <a:latin typeface="Segoe UI"/>
              </a:rPr>
              <a:t>Auto-évalué : pipeline testé sur 50 questions avec métriques RAGAS et évaluation par composant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5806440"/>
            <a:ext cx="11201400" cy="566928"/>
          </a:xfrm>
          <a:prstGeom prst="roundRect">
            <a:avLst>
              <a:gd name="adj" fmla="val 18000"/>
            </a:avLst>
          </a:prstGeom>
          <a:solidFill>
            <a:srgbClr val="12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943600"/>
            <a:ext cx="10698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1">
                <a:solidFill>
                  <a:srgbClr val="FFFFFF"/>
                </a:solidFill>
                <a:latin typeface="Segoe UI"/>
              </a:rPr>
              <a:t>Objectif : remplacer une recherche manuelle dans un PDF par un agent qui retrouve, vérifie et cite la bonne information.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547104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RAG Aquila — Système RAG Agentique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54710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03/17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492240"/>
            <a:ext cx="12191695" cy="9525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10920"/>
            <a:ext cx="12191695" cy="4064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EC4B6"/>
                </a:solidFill>
                <a:latin typeface="Segoe UI Semibold"/>
              </a:rPr>
              <a:t>CAS D'USAGE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38404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Segoe UI"/>
              </a:rPr>
              <a:t>Données et jeu de test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23444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0B1F3A"/>
                </a:solidFill>
                <a:latin typeface="Segoe UI Semibold"/>
              </a:rPr>
              <a:t>Documents sources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27632"/>
            <a:ext cx="2606040" cy="1417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500" b="1">
                <a:solidFill>
                  <a:srgbClr val="0B1F3A"/>
                </a:solidFill>
                <a:latin typeface="Segoe UI Semibold"/>
              </a:rPr>
              <a:t>ENS.pdf</a:t>
            </a:r>
          </a:p>
          <a:p>
            <a:pPr algn="ctr"/>
            <a:r>
              <a:rPr sz="1050">
                <a:solidFill>
                  <a:srgbClr val="5B6677"/>
                </a:solidFill>
                <a:latin typeface="Segoe UI"/>
              </a:rPr>
              <a:t>Brochure DMA 2024-2025
78 pages · ~1.4 Mo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37560" y="1627632"/>
            <a:ext cx="2606040" cy="1417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3A8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500" b="1">
                <a:solidFill>
                  <a:srgbClr val="0B1F3A"/>
                </a:solidFill>
                <a:latin typeface="Segoe UI Semibold"/>
              </a:rPr>
              <a:t>SORBONNE.pdf</a:t>
            </a:r>
          </a:p>
          <a:p>
            <a:pPr algn="ctr"/>
            <a:r>
              <a:rPr sz="1050">
                <a:solidFill>
                  <a:srgbClr val="5B6677"/>
                </a:solidFill>
                <a:latin typeface="Segoe UI"/>
              </a:rPr>
              <a:t>Brochure Master 2025-2026
~764 Ko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24612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0B1F3A"/>
                </a:solidFill>
                <a:latin typeface="Segoe UI Semibold"/>
              </a:rPr>
              <a:t>Dataset de test : 50 questions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657600"/>
            <a:ext cx="1874519" cy="1417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250" b="1">
                <a:solidFill>
                  <a:srgbClr val="0B1F3A"/>
                </a:solidFill>
                <a:latin typeface="Segoe UI Semibold"/>
              </a:rPr>
              <a:t>Niveau 1
Factuel</a:t>
            </a:r>
          </a:p>
          <a:p>
            <a:pPr algn="ctr"/>
            <a:r>
              <a:rPr sz="950">
                <a:solidFill>
                  <a:srgbClr val="5B6677"/>
                </a:solidFill>
                <a:latin typeface="Segoe UI"/>
              </a:rPr>
              <a:t>11 questions
Dates, chiffres, listes courtes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496312" y="3657600"/>
            <a:ext cx="1874519" cy="1417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3A8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250" b="1">
                <a:solidFill>
                  <a:srgbClr val="0B1F3A"/>
                </a:solidFill>
                <a:latin typeface="Segoe UI Semibold"/>
              </a:rPr>
              <a:t>Niveau 2
Synthèse</a:t>
            </a:r>
          </a:p>
          <a:p>
            <a:pPr algn="ctr"/>
            <a:r>
              <a:rPr sz="950">
                <a:solidFill>
                  <a:srgbClr val="5B6677"/>
                </a:solidFill>
                <a:latin typeface="Segoe UI"/>
              </a:rPr>
              <a:t>19 questions
Explication d'un fonctionnement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89704" y="3657600"/>
            <a:ext cx="1874519" cy="1417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FF6B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250" b="1">
                <a:solidFill>
                  <a:srgbClr val="0B1F3A"/>
                </a:solidFill>
                <a:latin typeface="Segoe UI Semibold"/>
              </a:rPr>
              <a:t>Niveau 3
Complexe</a:t>
            </a:r>
          </a:p>
          <a:p>
            <a:pPr algn="ctr"/>
            <a:r>
              <a:rPr sz="950">
                <a:solidFill>
                  <a:srgbClr val="5B6677"/>
                </a:solidFill>
                <a:latin typeface="Segoe UI"/>
              </a:rPr>
              <a:t>20 questions
Comparaison inter-documents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1234440"/>
            <a:ext cx="5120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0B1F3A"/>
                </a:solidFill>
                <a:latin typeface="Segoe UI Semibold"/>
              </a:rPr>
              <a:t>Répartition par source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169164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B1F27"/>
                </a:solidFill>
                <a:latin typeface="Segoe UI"/>
              </a:rPr>
              <a:t>Sorbonne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66760" y="1709928"/>
            <a:ext cx="2743200" cy="256032"/>
          </a:xfrm>
          <a:prstGeom prst="roundRect">
            <a:avLst>
              <a:gd name="adj" fmla="val 30000"/>
            </a:avLst>
          </a:prstGeom>
          <a:solidFill>
            <a:srgbClr val="3A8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201400" y="169164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B1F3A"/>
                </a:solidFill>
                <a:latin typeface="Segoe UI"/>
              </a:rPr>
              <a:t>22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219456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B1F27"/>
                </a:solidFill>
                <a:latin typeface="Segoe UI"/>
              </a:rPr>
              <a:t>ENS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366760" y="2212848"/>
            <a:ext cx="2244436" cy="256032"/>
          </a:xfrm>
          <a:prstGeom prst="roundRect">
            <a:avLst>
              <a:gd name="adj" fmla="val 30000"/>
            </a:avLst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702636" y="219456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B1F3A"/>
                </a:solidFill>
                <a:latin typeface="Segoe UI"/>
              </a:rPr>
              <a:t>18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69748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B1F27"/>
                </a:solidFill>
                <a:latin typeface="Segoe UI"/>
              </a:rPr>
              <a:t>ENS + Sorbonne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366760" y="2715768"/>
            <a:ext cx="1246909" cy="256032"/>
          </a:xfrm>
          <a:prstGeom prst="roundRect">
            <a:avLst>
              <a:gd name="adj" fmla="val 30000"/>
            </a:avLst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05109" y="269748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B1F3A"/>
                </a:solidFill>
                <a:latin typeface="Segoe UI"/>
              </a:rPr>
              <a:t>10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3383280"/>
            <a:ext cx="5120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0B1F3A"/>
                </a:solidFill>
                <a:latin typeface="Segoe UI Semibold"/>
              </a:rPr>
              <a:t>Chaque question référence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3749039"/>
            <a:ext cx="512064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250" b="1">
                <a:solidFill>
                  <a:srgbClr val="2EC4B6"/>
                </a:solidFill>
                <a:latin typeface="Segoe UI"/>
              </a:rPr>
              <a:t>—  </a:t>
            </a:r>
            <a:r>
              <a:rPr sz="1250">
                <a:solidFill>
                  <a:srgbClr val="1B1F27"/>
                </a:solidFill>
                <a:latin typeface="Segoe UI"/>
              </a:rPr>
              <a:t>Une réponse attendue (vérité terrain) pour l'évaluation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250" b="1">
                <a:solidFill>
                  <a:srgbClr val="2EC4B6"/>
                </a:solidFill>
                <a:latin typeface="Segoe UI"/>
              </a:rPr>
              <a:t>—  </a:t>
            </a:r>
            <a:r>
              <a:rPr sz="1250">
                <a:solidFill>
                  <a:srgbClr val="1B1F27"/>
                </a:solidFill>
                <a:latin typeface="Segoe UI"/>
              </a:rPr>
              <a:t>Le(s) document(s) et page(s) sources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250" b="1">
                <a:solidFill>
                  <a:srgbClr val="2EC4B6"/>
                </a:solidFill>
                <a:latin typeface="Segoe UI"/>
              </a:rPr>
              <a:t>—  </a:t>
            </a:r>
            <a:r>
              <a:rPr sz="1250">
                <a:solidFill>
                  <a:srgbClr val="1B1F27"/>
                </a:solidFill>
                <a:latin typeface="Segoe UI"/>
              </a:rPr>
              <a:t>Un niveau de difficulté RAG (1 à 3) utilisé par le routeur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250" b="1">
                <a:solidFill>
                  <a:srgbClr val="2EC4B6"/>
                </a:solidFill>
                <a:latin typeface="Segoe UI"/>
              </a:rPr>
              <a:t>—  </a:t>
            </a:r>
            <a:r>
              <a:rPr sz="1250">
                <a:solidFill>
                  <a:srgbClr val="1B1F27"/>
                </a:solidFill>
                <a:latin typeface="Segoe UI"/>
              </a:rPr>
              <a:t>Une section thématique du document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547104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RAG Aquila — Système RAG Agentique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0" y="654710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04/17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492240"/>
            <a:ext cx="12191695" cy="9525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10920"/>
            <a:ext cx="12191695" cy="4064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EC4B6"/>
                </a:solidFill>
                <a:latin typeface="Segoe UI Semibold"/>
              </a:rPr>
              <a:t>ARCHITECTURE GLOBALE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38404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Segoe UI"/>
              </a:rPr>
              <a:t>Trois phases du pipeline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17320"/>
            <a:ext cx="3419856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417320"/>
            <a:ext cx="3419856" cy="777240"/>
          </a:xfrm>
          <a:prstGeom prst="roundRect">
            <a:avLst>
              <a:gd name="adj" fmla="val 6000"/>
            </a:avLst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783080"/>
            <a:ext cx="3419856" cy="41148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508760"/>
            <a:ext cx="296265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FFFFFF"/>
                </a:solidFill>
                <a:latin typeface="Segoe UI Semibold"/>
              </a:rPr>
              <a:t>PHASE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783080"/>
            <a:ext cx="2962656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FFFFFF"/>
                </a:solidFill>
                <a:latin typeface="Segoe UI"/>
              </a:rPr>
              <a:t>Ingestion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331720"/>
            <a:ext cx="296265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1">
                <a:solidFill>
                  <a:srgbClr val="5B6677"/>
                </a:solidFill>
                <a:latin typeface="Segoe UI"/>
              </a:rPr>
              <a:t>Une seule fois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697480"/>
            <a:ext cx="2962656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1B1F27"/>
                </a:solidFill>
                <a:latin typeface="Segoe UI"/>
              </a:rPr>
              <a:t>PDF / DOCX / TXT</a:t>
            </a:r>
          </a:p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1B1F27"/>
                </a:solidFill>
                <a:latin typeface="Segoe UI"/>
              </a:rPr>
              <a:t>→ chunks contextualisés</a:t>
            </a:r>
          </a:p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1B1F27"/>
                </a:solidFill>
                <a:latin typeface="Segoe UI"/>
              </a:rPr>
              <a:t>→ ChromaDB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4983480"/>
            <a:ext cx="2962656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5102352"/>
            <a:ext cx="2962656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2EC4B6"/>
                </a:solidFill>
                <a:latin typeface="Segoe UI Semibold"/>
              </a:rPr>
              <a:t>documents/  →  vector_db/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941064" y="3474720"/>
            <a:ext cx="374904" cy="0"/>
          </a:xfrm>
          <a:prstGeom prst="line">
            <a:avLst/>
          </a:prstGeom>
          <a:ln w="38100">
            <a:solidFill>
              <a:srgbClr val="0B1F3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4379976" y="1417320"/>
            <a:ext cx="3419856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379976" y="1417320"/>
            <a:ext cx="3419856" cy="777240"/>
          </a:xfrm>
          <a:prstGeom prst="roundRect">
            <a:avLst>
              <a:gd name="adj" fmla="val 6000"/>
            </a:avLst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79976" y="1783080"/>
            <a:ext cx="3419856" cy="41148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08576" y="1508760"/>
            <a:ext cx="296265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FFFFFF"/>
                </a:solidFill>
                <a:latin typeface="Segoe UI Semibold"/>
              </a:rPr>
              <a:t>PHASE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08576" y="1783080"/>
            <a:ext cx="2962656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FFFFFF"/>
                </a:solidFill>
                <a:latin typeface="Segoe UI"/>
              </a:rPr>
              <a:t>Question / Réponse agentique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08576" y="2331720"/>
            <a:ext cx="296265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1">
                <a:solidFill>
                  <a:srgbClr val="5B6677"/>
                </a:solidFill>
                <a:latin typeface="Segoe UI"/>
              </a:rPr>
              <a:t>À chaque question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08576" y="2697480"/>
            <a:ext cx="2962656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1B1F27"/>
                </a:solidFill>
                <a:latin typeface="Segoe UI"/>
              </a:rPr>
              <a:t>Routage → Retrieval hybride</a:t>
            </a:r>
          </a:p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1B1F27"/>
                </a:solidFill>
                <a:latin typeface="Segoe UI"/>
              </a:rPr>
              <a:t>→ Grading → Génération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608576" y="4983480"/>
            <a:ext cx="2962656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08576" y="5102352"/>
            <a:ext cx="2962656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FF6B35"/>
                </a:solidFill>
                <a:latin typeface="Segoe UI Semibold"/>
              </a:rPr>
              <a:t>agent.py (LangGraph)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818120" y="3474720"/>
            <a:ext cx="374904" cy="0"/>
          </a:xfrm>
          <a:prstGeom prst="line">
            <a:avLst/>
          </a:prstGeom>
          <a:ln w="38100">
            <a:solidFill>
              <a:srgbClr val="0B1F3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8257032" y="1417320"/>
            <a:ext cx="3419856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257032" y="1417320"/>
            <a:ext cx="3419856" cy="777240"/>
          </a:xfrm>
          <a:prstGeom prst="roundRect">
            <a:avLst>
              <a:gd name="adj" fmla="val 6000"/>
            </a:avLst>
          </a:prstGeom>
          <a:solidFill>
            <a:srgbClr val="8A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257032" y="1783080"/>
            <a:ext cx="3419856" cy="411480"/>
          </a:xfrm>
          <a:prstGeom prst="rect">
            <a:avLst/>
          </a:prstGeom>
          <a:solidFill>
            <a:srgbClr val="8A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485632" y="1508760"/>
            <a:ext cx="296265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FFFFFF"/>
                </a:solidFill>
                <a:latin typeface="Segoe UI Semibold"/>
              </a:rPr>
              <a:t>PHASE 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85632" y="1783080"/>
            <a:ext cx="2962656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FFFFFF"/>
                </a:solidFill>
                <a:latin typeface="Segoe UI"/>
              </a:rPr>
              <a:t>Évaluation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85632" y="2331720"/>
            <a:ext cx="296265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1">
                <a:solidFill>
                  <a:srgbClr val="5B6677"/>
                </a:solidFill>
                <a:latin typeface="Segoe UI"/>
              </a:rPr>
              <a:t>Sur tout le dataset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85632" y="2697480"/>
            <a:ext cx="2962656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1B1F27"/>
                </a:solidFill>
                <a:latin typeface="Segoe UI"/>
              </a:rPr>
              <a:t>RAGAS (5 métriques)</a:t>
            </a:r>
          </a:p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1B1F27"/>
                </a:solidFill>
                <a:latin typeface="Segoe UI"/>
              </a:rPr>
              <a:t>+ évaluation par composant (6 briques)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485632" y="4983480"/>
            <a:ext cx="2962656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85632" y="5102352"/>
            <a:ext cx="2962656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8A5CF6"/>
                </a:solidFill>
                <a:latin typeface="Segoe UI Semibold"/>
              </a:rPr>
              <a:t>evaluate_ragas.py / evaluate_components.py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5897880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1">
                <a:solidFill>
                  <a:srgbClr val="5B6677"/>
                </a:solidFill>
                <a:latin typeface="Segoe UI"/>
              </a:rPr>
              <a:t>Le cœur agentique (Phase 2) est un graphe d'états LangGraph capable de boucler sur lui-même : il évalue ses propres résultats et se corrige avant de répondre.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6547104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RAG Aquila — Système RAG Agentique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0" y="654710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05/17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492240"/>
            <a:ext cx="12191695" cy="9525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10920"/>
            <a:ext cx="12191695" cy="4064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EC4B6"/>
                </a:solidFill>
                <a:latin typeface="Segoe UI Semibold"/>
              </a:rPr>
              <a:t>PHASE 1 — INGESTION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38404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Segoe UI"/>
              </a:rPr>
              <a:t>Du PDF brut à la base vectorielle</a:t>
            </a:r>
          </a:p>
        </p:txBody>
      </p:sp>
      <p:sp>
        <p:nvSpPr>
          <p:cNvPr id="6" name="Oval 5"/>
          <p:cNvSpPr/>
          <p:nvPr/>
        </p:nvSpPr>
        <p:spPr>
          <a:xfrm>
            <a:off x="502920" y="1298448"/>
            <a:ext cx="384048" cy="384048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 Semibold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682244" y="1682496"/>
            <a:ext cx="25400" cy="242316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97280" y="1280160"/>
            <a:ext cx="10561320" cy="553212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97280" y="1280160"/>
            <a:ext cx="54864" cy="553212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25880" y="1335024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0B1F3A"/>
                </a:solidFill>
                <a:latin typeface="Segoe UI Semibold"/>
              </a:rPr>
              <a:t>Extraction Markdown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1353312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80" b="0" i="0">
                <a:solidFill>
                  <a:srgbClr val="5B6677"/>
                </a:solidFill>
                <a:latin typeface="Segoe UI"/>
              </a:rPr>
              <a:t>pymupdf4llm.to_markdown() — chaque page extraite indépendamment</a:t>
            </a:r>
          </a:p>
        </p:txBody>
      </p:sp>
      <p:sp>
        <p:nvSpPr>
          <p:cNvPr id="12" name="Oval 11"/>
          <p:cNvSpPr/>
          <p:nvPr/>
        </p:nvSpPr>
        <p:spPr>
          <a:xfrm>
            <a:off x="502920" y="1924812"/>
            <a:ext cx="384048" cy="384048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 Semibold"/>
              </a:rPr>
              <a:t>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2244" y="2308860"/>
            <a:ext cx="25400" cy="242316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097280" y="1906524"/>
            <a:ext cx="10561320" cy="553212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97280" y="1906524"/>
            <a:ext cx="54864" cy="553212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25880" y="1961388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0B1F3A"/>
                </a:solidFill>
                <a:latin typeface="Segoe UI Semibold"/>
              </a:rPr>
              <a:t>Réparation &amp; nettoyage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1979676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80" b="0" i="0">
                <a:solidFill>
                  <a:srgbClr val="5B6677"/>
                </a:solidFill>
                <a:latin typeface="Segoe UI"/>
              </a:rPr>
              <a:t>ftfy.fix_text() + suppression table des matières (ratio de points &gt; 30%)</a:t>
            </a:r>
          </a:p>
        </p:txBody>
      </p:sp>
      <p:sp>
        <p:nvSpPr>
          <p:cNvPr id="18" name="Oval 17"/>
          <p:cNvSpPr/>
          <p:nvPr/>
        </p:nvSpPr>
        <p:spPr>
          <a:xfrm>
            <a:off x="502920" y="2551176"/>
            <a:ext cx="384048" cy="384048"/>
          </a:xfrm>
          <a:prstGeom prst="ellipse">
            <a:avLst/>
          </a:prstGeom>
          <a:solidFill>
            <a:srgbClr val="3A8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 Semibold"/>
              </a:rPr>
              <a:t>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2244" y="2935224"/>
            <a:ext cx="25400" cy="242316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097280" y="2532888"/>
            <a:ext cx="10561320" cy="553212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97280" y="2532888"/>
            <a:ext cx="54864" cy="553212"/>
          </a:xfrm>
          <a:prstGeom prst="rect">
            <a:avLst/>
          </a:prstGeom>
          <a:solidFill>
            <a:srgbClr val="3A8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25880" y="2587752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0B1F3A"/>
                </a:solidFill>
                <a:latin typeface="Segoe UI Semibold"/>
              </a:rPr>
              <a:t>Concaténation des pages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2606040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80" b="0" i="0">
                <a:solidFill>
                  <a:srgbClr val="5B6677"/>
                </a:solidFill>
                <a:latin typeface="Segoe UI"/>
              </a:rPr>
              <a:t>Texte continu + marqueurs &lt;!-- PAGE X --&gt; pour garder la traçabilité</a:t>
            </a:r>
          </a:p>
        </p:txBody>
      </p:sp>
      <p:sp>
        <p:nvSpPr>
          <p:cNvPr id="24" name="Oval 23"/>
          <p:cNvSpPr/>
          <p:nvPr/>
        </p:nvSpPr>
        <p:spPr>
          <a:xfrm>
            <a:off x="502920" y="3177540"/>
            <a:ext cx="384048" cy="384048"/>
          </a:xfrm>
          <a:prstGeom prst="ellipse">
            <a:avLst/>
          </a:prstGeom>
          <a:solidFill>
            <a:srgbClr val="3A8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 Semibold"/>
              </a:rPr>
              <a:t>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2244" y="3561588"/>
            <a:ext cx="25400" cy="242316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097280" y="3159252"/>
            <a:ext cx="10561320" cy="553212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97280" y="3159252"/>
            <a:ext cx="54864" cy="553212"/>
          </a:xfrm>
          <a:prstGeom prst="rect">
            <a:avLst/>
          </a:prstGeom>
          <a:solidFill>
            <a:srgbClr val="3A8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325880" y="3214116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0B1F3A"/>
                </a:solidFill>
                <a:latin typeface="Segoe UI Semibold"/>
              </a:rPr>
              <a:t>Pré-découpe par titres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3232404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80" b="0" i="0">
                <a:solidFill>
                  <a:srgbClr val="5B6677"/>
                </a:solidFill>
                <a:latin typeface="Segoe UI"/>
              </a:rPr>
              <a:t>Split sur # / ## Markdown, fusion des blocs &lt; 800 caractères</a:t>
            </a:r>
          </a:p>
        </p:txBody>
      </p:sp>
      <p:sp>
        <p:nvSpPr>
          <p:cNvPr id="30" name="Oval 29"/>
          <p:cNvSpPr/>
          <p:nvPr/>
        </p:nvSpPr>
        <p:spPr>
          <a:xfrm>
            <a:off x="502920" y="3803904"/>
            <a:ext cx="384048" cy="384048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 Semibold"/>
              </a:rPr>
              <a:t>5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82244" y="4187952"/>
            <a:ext cx="25400" cy="242316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097280" y="3785616"/>
            <a:ext cx="10561320" cy="553212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097280" y="3785616"/>
            <a:ext cx="54864" cy="553212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325880" y="384048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0B1F3A"/>
                </a:solidFill>
                <a:latin typeface="Segoe UI Semibold"/>
              </a:rPr>
              <a:t>Split agentique (LLM)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0" y="3858768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80" b="0" i="0">
                <a:solidFill>
                  <a:srgbClr val="5B6677"/>
                </a:solidFill>
                <a:latin typeface="Segoe UI"/>
              </a:rPr>
              <a:t>gemma3:12b insère des marqueurs ===SPLIT=== entre sous-sections logiques</a:t>
            </a:r>
          </a:p>
        </p:txBody>
      </p:sp>
      <p:sp>
        <p:nvSpPr>
          <p:cNvPr id="36" name="Oval 35"/>
          <p:cNvSpPr/>
          <p:nvPr/>
        </p:nvSpPr>
        <p:spPr>
          <a:xfrm>
            <a:off x="502920" y="4430268"/>
            <a:ext cx="384048" cy="384048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 Semibold"/>
              </a:rPr>
              <a:t>6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82244" y="4814316"/>
            <a:ext cx="25400" cy="242316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097280" y="4411980"/>
            <a:ext cx="10561320" cy="553212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97280" y="4411980"/>
            <a:ext cx="54864" cy="553212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325880" y="4466844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0B1F3A"/>
                </a:solidFill>
                <a:latin typeface="Segoe UI Semibold"/>
              </a:rPr>
              <a:t>Garde-fou anti-hallucination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0" y="4485132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80" b="0" i="0">
                <a:solidFill>
                  <a:srgbClr val="5B6677"/>
                </a:solidFill>
                <a:latin typeface="Segoe UI"/>
              </a:rPr>
              <a:t>Validation : ≥60% des mots d'origine présents, sinon fallback</a:t>
            </a:r>
          </a:p>
        </p:txBody>
      </p:sp>
      <p:sp>
        <p:nvSpPr>
          <p:cNvPr id="42" name="Oval 41"/>
          <p:cNvSpPr/>
          <p:nvPr/>
        </p:nvSpPr>
        <p:spPr>
          <a:xfrm>
            <a:off x="502920" y="5056632"/>
            <a:ext cx="384048" cy="384048"/>
          </a:xfrm>
          <a:prstGeom prst="ellipse">
            <a:avLst/>
          </a:prstGeom>
          <a:solidFill>
            <a:srgbClr val="8A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 Semibold"/>
              </a:rPr>
              <a:t>7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82244" y="5440680"/>
            <a:ext cx="25400" cy="242316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1097280" y="5038344"/>
            <a:ext cx="10561320" cy="553212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097280" y="5038344"/>
            <a:ext cx="54864" cy="553212"/>
          </a:xfrm>
          <a:prstGeom prst="rect">
            <a:avLst/>
          </a:prstGeom>
          <a:solidFill>
            <a:srgbClr val="8A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325880" y="5093208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0B1F3A"/>
                </a:solidFill>
                <a:latin typeface="Segoe UI Semibold"/>
              </a:rPr>
              <a:t>Fallback déterministe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72000" y="5111496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80" b="0" i="0">
                <a:solidFill>
                  <a:srgbClr val="5B6677"/>
                </a:solidFill>
                <a:latin typeface="Segoe UI"/>
              </a:rPr>
              <a:t>RecursiveCharacterTextSplitter (1500/0) si un bloc dépasse encore la taille max</a:t>
            </a:r>
          </a:p>
        </p:txBody>
      </p:sp>
      <p:sp>
        <p:nvSpPr>
          <p:cNvPr id="48" name="Oval 47"/>
          <p:cNvSpPr/>
          <p:nvPr/>
        </p:nvSpPr>
        <p:spPr>
          <a:xfrm>
            <a:off x="502920" y="5682996"/>
            <a:ext cx="384048" cy="384048"/>
          </a:xfrm>
          <a:prstGeom prst="ellipse">
            <a:avLst/>
          </a:prstGeom>
          <a:solidFill>
            <a:srgbClr val="1B8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 Semibold"/>
              </a:rPr>
              <a:t>8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097280" y="5664708"/>
            <a:ext cx="10561320" cy="553212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097280" y="5664708"/>
            <a:ext cx="54864" cy="553212"/>
          </a:xfrm>
          <a:prstGeom prst="rect">
            <a:avLst/>
          </a:prstGeom>
          <a:solidFill>
            <a:srgbClr val="1B8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325880" y="5719572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0B1F3A"/>
                </a:solidFill>
                <a:latin typeface="Segoe UI Semibold"/>
              </a:rPr>
              <a:t>Contextualisation &amp; vectorisation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0" y="5737860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80" b="0" i="0">
                <a:solidFill>
                  <a:srgbClr val="5B6677"/>
                </a:solidFill>
                <a:latin typeface="Segoe UI"/>
              </a:rPr>
              <a:t>Préfixe [source | page | titres | mots-clés] + embeddings bge-m3 → ChromaDB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02920" y="6547104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RAG Aquila — Système RAG Agentique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972800" y="654710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06/17</a:t>
            </a:r>
          </a:p>
        </p:txBody>
      </p:sp>
      <p:sp>
        <p:nvSpPr>
          <p:cNvPr id="55" name="Rectangle 54"/>
          <p:cNvSpPr/>
          <p:nvPr/>
        </p:nvSpPr>
        <p:spPr>
          <a:xfrm>
            <a:off x="0" y="6492240"/>
            <a:ext cx="12191695" cy="9525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10920"/>
            <a:ext cx="12191695" cy="4064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6B35"/>
                </a:solidFill>
                <a:latin typeface="Segoe UI Semibold"/>
              </a:rPr>
              <a:t>ZOOM — INGESTION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38404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Segoe UI"/>
              </a:rPr>
              <a:t>Le split agentique anti-hallucination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234440"/>
            <a:ext cx="1115568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5B6677"/>
                </a:solidFill>
                <a:latin typeface="Segoe UI"/>
              </a:rPr>
              <a:t>Un LLM (gemma3:12b) découpe les longues sections en sous-parties cohérentes, sans jamais réécrire le texte.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874519"/>
            <a:ext cx="2286000" cy="11887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5B66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250" b="1">
                <a:solidFill>
                  <a:srgbClr val="0B1F3A"/>
                </a:solidFill>
                <a:latin typeface="Segoe UI Semibold"/>
              </a:rPr>
              <a:t>Bloc de section</a:t>
            </a:r>
          </a:p>
          <a:p>
            <a:pPr algn="ctr"/>
            <a:r>
              <a:rPr sz="1000">
                <a:solidFill>
                  <a:srgbClr val="5B6677"/>
                </a:solidFill>
                <a:latin typeface="Segoe UI"/>
              </a:rPr>
              <a:t>Texte brut Markdown
(&gt; 800 caractères)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834640" y="2468880"/>
            <a:ext cx="411480" cy="0"/>
          </a:xfrm>
          <a:prstGeom prst="line">
            <a:avLst/>
          </a:prstGeom>
          <a:ln w="28575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3291840" y="1874519"/>
            <a:ext cx="2743200" cy="11887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FF6B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250" b="1">
                <a:solidFill>
                  <a:srgbClr val="0B1F3A"/>
                </a:solidFill>
                <a:latin typeface="Segoe UI Semibold"/>
              </a:rPr>
              <a:t>LLM gemma3:12b</a:t>
            </a:r>
          </a:p>
          <a:p>
            <a:pPr algn="ctr"/>
            <a:r>
              <a:rPr sz="1000">
                <a:solidFill>
                  <a:srgbClr val="5B6677"/>
                </a:solidFill>
                <a:latin typeface="Segoe UI"/>
              </a:rPr>
              <a:t>Insère uniquement des
marqueurs ===SPLIT===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080760" y="2468880"/>
            <a:ext cx="411480" cy="0"/>
          </a:xfrm>
          <a:prstGeom prst="line">
            <a:avLst/>
          </a:prstGeom>
          <a:ln w="28575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Diamond 10"/>
          <p:cNvSpPr/>
          <p:nvPr/>
        </p:nvSpPr>
        <p:spPr>
          <a:xfrm>
            <a:off x="6492240" y="1691640"/>
            <a:ext cx="2286000" cy="1554480"/>
          </a:xfrm>
          <a:prstGeom prst="diamond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0" bIns="0"/>
          <a:lstStyle/>
          <a:p>
            <a:pPr algn="ctr"/>
            <a:r>
              <a:rPr sz="1150" b="1">
                <a:solidFill>
                  <a:srgbClr val="FFFFFF"/>
                </a:solidFill>
                <a:latin typeface="Segoe UI Semibold"/>
              </a:rPr>
              <a:t>≥ 60% des mots
d'origine présents ?</a:t>
            </a:r>
          </a:p>
        </p:txBody>
      </p:sp>
      <p:cxnSp>
        <p:nvCxnSpPr>
          <p:cNvPr id="12" name="Connector 11"/>
          <p:cNvCxnSpPr/>
          <p:nvPr/>
        </p:nvCxnSpPr>
        <p:spPr>
          <a:xfrm flipV="1">
            <a:off x="8778240" y="2011680"/>
            <a:ext cx="502920" cy="91440"/>
          </a:xfrm>
          <a:prstGeom prst="line">
            <a:avLst/>
          </a:prstGeom>
          <a:ln w="28575">
            <a:solidFill>
              <a:srgbClr val="2EA86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9281160" y="1691640"/>
            <a:ext cx="2423160" cy="685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2EA8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250" b="1">
                <a:solidFill>
                  <a:srgbClr val="0B1F3A"/>
                </a:solidFill>
                <a:latin typeface="Segoe UI Semibold"/>
              </a:rPr>
              <a:t>Validé</a:t>
            </a:r>
          </a:p>
          <a:p>
            <a:pPr algn="ctr"/>
            <a:r>
              <a:rPr sz="1000">
                <a:solidFill>
                  <a:srgbClr val="5B6677"/>
                </a:solidFill>
                <a:latin typeface="Segoe UI"/>
              </a:rPr>
              <a:t>Sous-chunks conservés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778240" y="2834640"/>
            <a:ext cx="502920" cy="91440"/>
          </a:xfrm>
          <a:prstGeom prst="line">
            <a:avLst/>
          </a:prstGeom>
          <a:ln w="28575">
            <a:solidFill>
              <a:srgbClr val="E64A4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9281160" y="2606040"/>
            <a:ext cx="2423160" cy="685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E64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250" b="1">
                <a:solidFill>
                  <a:srgbClr val="0B1F3A"/>
                </a:solidFill>
                <a:latin typeface="Segoe UI Semibold"/>
              </a:rPr>
              <a:t>Rejeté</a:t>
            </a:r>
          </a:p>
          <a:p>
            <a:pPr algn="ctr"/>
            <a:r>
              <a:rPr sz="950">
                <a:solidFill>
                  <a:srgbClr val="5B6677"/>
                </a:solidFill>
                <a:latin typeface="Segoe UI"/>
              </a:rPr>
              <a:t>Fallback : bloc original conservé intact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3383280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B1F3A"/>
                </a:solidFill>
                <a:latin typeface="Segoe UI Semibold"/>
              </a:rPr>
              <a:t>Règles absolues respectées par le LLM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794760"/>
            <a:ext cx="2697480" cy="1417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3794760"/>
            <a:ext cx="2697480" cy="54864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7512" y="3977639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0B1F3A"/>
                </a:solidFill>
                <a:latin typeface="Segoe UI Semibold"/>
              </a:rPr>
              <a:t>Ne jamais couper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" y="4370832"/>
            <a:ext cx="23774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80" b="0" i="0">
                <a:solidFill>
                  <a:srgbClr val="5B6677"/>
                </a:solidFill>
                <a:latin typeface="Segoe UI"/>
              </a:rPr>
              <a:t>un tableau Markdown au milieu d'une ligne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319272" y="3794760"/>
            <a:ext cx="2697480" cy="1417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319272" y="3794760"/>
            <a:ext cx="2697480" cy="54864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483864" y="3977639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0B1F3A"/>
                </a:solidFill>
                <a:latin typeface="Segoe UI Semibold"/>
              </a:rPr>
              <a:t>Ne jamais couper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83864" y="4370832"/>
            <a:ext cx="23774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80" b="0" i="0">
                <a:solidFill>
                  <a:srgbClr val="5B6677"/>
                </a:solidFill>
                <a:latin typeface="Segoe UI"/>
              </a:rPr>
              <a:t>une liste à puces ou numérotée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35624" y="3794760"/>
            <a:ext cx="2697480" cy="1417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35624" y="3794760"/>
            <a:ext cx="2697480" cy="54864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00216" y="3977639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0B1F3A"/>
                </a:solidFill>
                <a:latin typeface="Segoe UI Semibold"/>
              </a:rPr>
              <a:t>Ne jamais résumer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4370832"/>
            <a:ext cx="23774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80" b="0" i="0">
                <a:solidFill>
                  <a:srgbClr val="5B6677"/>
                </a:solidFill>
                <a:latin typeface="Segoe UI"/>
              </a:rPr>
              <a:t>ou reformuler — uniquement insérer des marqueurs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951976" y="3794760"/>
            <a:ext cx="2697480" cy="1417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951976" y="3794760"/>
            <a:ext cx="2697480" cy="54864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16567" y="3977639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0B1F3A"/>
                </a:solidFill>
                <a:latin typeface="Segoe UI Semibold"/>
              </a:rPr>
              <a:t>Toujours garder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16567" y="4370832"/>
            <a:ext cx="23774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80" b="0" i="0">
                <a:solidFill>
                  <a:srgbClr val="5B6677"/>
                </a:solidFill>
                <a:latin typeface="Segoe UI"/>
              </a:rPr>
              <a:t>le texte source identique caractère pour caractère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2920" y="5486400"/>
            <a:ext cx="11201400" cy="822960"/>
          </a:xfrm>
          <a:prstGeom prst="roundRect">
            <a:avLst>
              <a:gd name="adj" fmla="val 15000"/>
            </a:avLst>
          </a:prstGeom>
          <a:solidFill>
            <a:srgbClr val="12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7240" y="5605272"/>
            <a:ext cx="106984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FFFFFF"/>
                </a:solidFill>
                <a:latin typeface="Segoe UI"/>
              </a:rPr>
              <a:t>Garde-fou final : si le split agentique échoue ou produit un bloc encore trop long, un RecursiveCharacterTextSplitter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FFFFFF"/>
                </a:solidFill>
                <a:latin typeface="Segoe UI"/>
              </a:rPr>
              <a:t>déterministe (1500 car., séparateurs protégeant titres et tableaux) prend le relais. Zéro appel LLM = zéro hallucination possible à cette étape.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6547104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RAG Aquila — Système RAG Agentique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72800" y="654710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07/17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6492240"/>
            <a:ext cx="12191695" cy="9525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10920"/>
            <a:ext cx="12191695" cy="4064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6B35"/>
                </a:solidFill>
                <a:latin typeface="Segoe UI Semibold"/>
              </a:rPr>
              <a:t>PHASE 2 — CŒUR AGENTIQUE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38404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Segoe UI"/>
              </a:rPr>
              <a:t>Le graphe de décision LangGraph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80160"/>
            <a:ext cx="2468880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3A8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200" b="1">
                <a:solidFill>
                  <a:srgbClr val="0B1F3A"/>
                </a:solidFill>
                <a:latin typeface="Segoe UI Semibold"/>
              </a:rPr>
              <a:t>① identify_sources</a:t>
            </a:r>
          </a:p>
          <a:p>
            <a:pPr algn="ctr"/>
            <a:r>
              <a:rPr sz="950">
                <a:solidFill>
                  <a:srgbClr val="5B6677"/>
                </a:solidFill>
                <a:latin typeface="Segoe UI"/>
              </a:rPr>
              <a:t>Choix source(s) + difficulté (1-3)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737360" y="2057400"/>
            <a:ext cx="0" cy="274320"/>
          </a:xfrm>
          <a:prstGeom prst="line">
            <a:avLst/>
          </a:prstGeom>
          <a:ln w="28575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02920" y="2377440"/>
            <a:ext cx="2468880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200" b="1">
                <a:solidFill>
                  <a:srgbClr val="0B1F3A"/>
                </a:solidFill>
                <a:latin typeface="Segoe UI Semibold"/>
              </a:rPr>
              <a:t>② retrieve</a:t>
            </a:r>
          </a:p>
          <a:p>
            <a:pPr algn="ctr"/>
            <a:r>
              <a:rPr sz="950">
                <a:solidFill>
                  <a:srgbClr val="5B6677"/>
                </a:solidFill>
                <a:latin typeface="Segoe UI"/>
              </a:rPr>
              <a:t>Retrieval hybride
(MMR + BM25 + RRF + rerank)</a:t>
            </a:r>
          </a:p>
        </p:txBody>
      </p:sp>
      <p:cxnSp>
        <p:nvCxnSpPr>
          <p:cNvPr id="9" name="Connector 8"/>
          <p:cNvCxnSpPr/>
          <p:nvPr/>
        </p:nvCxnSpPr>
        <p:spPr>
          <a:xfrm flipV="1">
            <a:off x="2971800" y="1691640"/>
            <a:ext cx="548640" cy="914400"/>
          </a:xfrm>
          <a:prstGeom prst="line">
            <a:avLst/>
          </a:prstGeom>
          <a:ln w="28575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2606040" y="960120"/>
            <a:ext cx="914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1">
                <a:solidFill>
                  <a:srgbClr val="5B6677"/>
                </a:solidFill>
                <a:latin typeface="Segoe UI"/>
              </a:rPr>
              <a:t>Difficulté 1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971800" y="2834640"/>
            <a:ext cx="548640" cy="411480"/>
          </a:xfrm>
          <a:prstGeom prst="line">
            <a:avLst/>
          </a:prstGeom>
          <a:ln w="28575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2606040" y="3977639"/>
            <a:ext cx="9601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1">
                <a:solidFill>
                  <a:srgbClr val="5B6677"/>
                </a:solidFill>
                <a:latin typeface="Segoe UI"/>
              </a:rPr>
              <a:t>Difficulté 2/3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66160" y="1280160"/>
            <a:ext cx="246888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2EA8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200" b="1">
                <a:solidFill>
                  <a:srgbClr val="0B1F3A"/>
                </a:solidFill>
                <a:latin typeface="Segoe UI Semibold"/>
              </a:rPr>
              <a:t>⑥ generate</a:t>
            </a:r>
          </a:p>
          <a:p>
            <a:pPr algn="ctr"/>
            <a:r>
              <a:rPr sz="950">
                <a:solidFill>
                  <a:srgbClr val="5B6677"/>
                </a:solidFill>
                <a:latin typeface="Segoe UI"/>
              </a:rPr>
              <a:t>Génération de la réponse
(temperature = 0)</a:t>
            </a:r>
          </a:p>
        </p:txBody>
      </p:sp>
      <p:sp>
        <p:nvSpPr>
          <p:cNvPr id="14" name="Diamond 13"/>
          <p:cNvSpPr/>
          <p:nvPr/>
        </p:nvSpPr>
        <p:spPr>
          <a:xfrm>
            <a:off x="3611880" y="2880360"/>
            <a:ext cx="2331720" cy="1417320"/>
          </a:xfrm>
          <a:prstGeom prst="diamond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 Semibold"/>
              </a:rPr>
              <a:t>③ grade_documents
Chunks suffisants ?</a:t>
            </a:r>
          </a:p>
        </p:txBody>
      </p:sp>
      <p:cxnSp>
        <p:nvCxnSpPr>
          <p:cNvPr id="15" name="Connector 14"/>
          <p:cNvCxnSpPr/>
          <p:nvPr/>
        </p:nvCxnSpPr>
        <p:spPr>
          <a:xfrm flipV="1">
            <a:off x="5989320" y="1828800"/>
            <a:ext cx="411480" cy="1463040"/>
          </a:xfrm>
          <a:prstGeom prst="line">
            <a:avLst/>
          </a:prstGeom>
          <a:ln w="28575">
            <a:solidFill>
              <a:srgbClr val="2EA86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897880" y="23317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2EA86A"/>
                </a:solidFill>
                <a:latin typeface="Segoe UI"/>
              </a:rPr>
              <a:t>OUI</a:t>
            </a:r>
          </a:p>
        </p:txBody>
      </p:sp>
      <p:cxnSp>
        <p:nvCxnSpPr>
          <p:cNvPr id="17" name="Connector 16"/>
          <p:cNvCxnSpPr/>
          <p:nvPr/>
        </p:nvCxnSpPr>
        <p:spPr>
          <a:xfrm flipH="1" flipV="1">
            <a:off x="6035040" y="1645920"/>
            <a:ext cx="91440" cy="182880"/>
          </a:xfrm>
          <a:prstGeom prst="line">
            <a:avLst/>
          </a:prstGeom>
          <a:ln w="28575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486400" y="4069080"/>
            <a:ext cx="0" cy="365760"/>
          </a:xfrm>
          <a:prstGeom prst="line">
            <a:avLst/>
          </a:prstGeom>
          <a:ln w="28575">
            <a:solidFill>
              <a:srgbClr val="E64A4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577840" y="4160520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E64A4A"/>
                </a:solidFill>
                <a:latin typeface="Segoe UI"/>
              </a:rPr>
              <a:t>NON — contexte manquant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97680" y="4480560"/>
            <a:ext cx="2468880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8A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100" b="1">
                <a:solidFill>
                  <a:srgbClr val="0B1F3A"/>
                </a:solidFill>
                <a:latin typeface="Segoe UI Semibold"/>
              </a:rPr>
              <a:t>④ upgrade_difficulty</a:t>
            </a:r>
          </a:p>
          <a:p>
            <a:pPr algn="ctr"/>
            <a:r>
              <a:rPr sz="900">
                <a:solidFill>
                  <a:srgbClr val="5B6677"/>
                </a:solidFill>
                <a:latin typeface="Segoe UI"/>
              </a:rPr>
              <a:t>Remonte la difficulté à 3
pour débloquer la reformulation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766560" y="4864608"/>
            <a:ext cx="411480" cy="0"/>
          </a:xfrm>
          <a:prstGeom prst="line">
            <a:avLst/>
          </a:prstGeom>
          <a:ln w="28575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223760" y="4480560"/>
            <a:ext cx="2468880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FF6B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100" b="1">
                <a:solidFill>
                  <a:srgbClr val="0B1F3A"/>
                </a:solidFill>
                <a:latin typeface="Segoe UI Semibold"/>
              </a:rPr>
              <a:t>⑤ rewrite_query</a:t>
            </a:r>
          </a:p>
          <a:p>
            <a:pPr algn="ctr"/>
            <a:r>
              <a:rPr sz="900">
                <a:solidFill>
                  <a:srgbClr val="5B6677"/>
                </a:solidFill>
                <a:latin typeface="Segoe UI"/>
              </a:rPr>
              <a:t>LLM reformule la requête
ciblée sur le manque détecté</a:t>
            </a:r>
          </a:p>
        </p:txBody>
      </p:sp>
      <p:cxnSp>
        <p:nvCxnSpPr>
          <p:cNvPr id="23" name="Connector 22"/>
          <p:cNvCxnSpPr/>
          <p:nvPr/>
        </p:nvCxnSpPr>
        <p:spPr>
          <a:xfrm flipV="1">
            <a:off x="8458200" y="2743200"/>
            <a:ext cx="0" cy="1691640"/>
          </a:xfrm>
          <a:prstGeom prst="line">
            <a:avLst/>
          </a:prstGeom>
          <a:ln w="28575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H="1">
            <a:off x="2971800" y="2743200"/>
            <a:ext cx="5486400" cy="0"/>
          </a:xfrm>
          <a:prstGeom prst="line">
            <a:avLst/>
          </a:prstGeom>
          <a:ln w="28575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766560" y="2788920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5B6677"/>
                </a:solidFill>
                <a:latin typeface="Segoe UI"/>
              </a:rPr>
              <a:t>2ᵉ retrieval (max 1 reformulation)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137160"/>
            <a:ext cx="0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00800" y="1371600"/>
            <a:ext cx="1280160" cy="502920"/>
          </a:xfrm>
          <a:prstGeom prst="roundRect">
            <a:avLst>
              <a:gd name="adj" fmla="val 50000"/>
            </a:avLst>
          </a:prstGeom>
          <a:solidFill>
            <a:srgbClr val="2EA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 Semibold"/>
              </a:rPr>
              <a:t>END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035040" y="1627632"/>
            <a:ext cx="320040" cy="0"/>
          </a:xfrm>
          <a:prstGeom prst="line">
            <a:avLst/>
          </a:prstGeom>
          <a:ln w="28575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502920" y="5440680"/>
            <a:ext cx="11155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B1F3A"/>
                </a:solidFill>
                <a:latin typeface="Segoe UI Semibold"/>
              </a:rPr>
              <a:t>Logique d'optimisation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5742432"/>
            <a:ext cx="111556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030" b="1">
                <a:solidFill>
                  <a:srgbClr val="2EC4B6"/>
                </a:solidFill>
                <a:latin typeface="Segoe UI"/>
              </a:rPr>
              <a:t>—  </a:t>
            </a:r>
            <a:r>
              <a:rPr sz="1030">
                <a:solidFill>
                  <a:srgbClr val="1B1F27"/>
                </a:solidFill>
                <a:latin typeface="Segoe UI"/>
              </a:rPr>
              <a:t>Difficulté 1 (factuel) : aucun grading, réponse directe après le 1er retrieval — économise des appels LLM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030" b="1">
                <a:solidFill>
                  <a:srgbClr val="2EC4B6"/>
                </a:solidFill>
                <a:latin typeface="Segoe UI"/>
              </a:rPr>
              <a:t>—  </a:t>
            </a:r>
            <a:r>
              <a:rPr sz="1030">
                <a:solidFill>
                  <a:srgbClr val="1B1F27"/>
                </a:solidFill>
                <a:latin typeface="Segoe UI"/>
              </a:rPr>
              <a:t>Difficulté 3 : la requête est décomposée en sous-questions dès identify_sources, sans HyDE au 1er passage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547104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RAG Aquila — Système RAG Agentique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72800" y="654710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08/17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492240"/>
            <a:ext cx="12191695" cy="9525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10920"/>
            <a:ext cx="12191695" cy="40640"/>
          </a:xfrm>
          <a:prstGeom prst="rect">
            <a:avLst/>
          </a:prstGeom>
          <a:solidFill>
            <a:srgbClr val="3A8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3A86FF"/>
                </a:solidFill>
                <a:latin typeface="Segoe UI Semibold"/>
              </a:rPr>
              <a:t>ZOOM — RETRIEVAL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38404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Segoe UI"/>
              </a:rPr>
              <a:t>Retrieval hybride : sémantique + lexical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09160" y="1234440"/>
            <a:ext cx="2743200" cy="5943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0B1F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150" b="1">
                <a:solidFill>
                  <a:srgbClr val="0B1F3A"/>
                </a:solidFill>
                <a:latin typeface="Segoe UI Semibold"/>
              </a:rPr>
              <a:t>Question (+ HyDE si difficulté 2)</a:t>
            </a:r>
          </a:p>
        </p:txBody>
      </p:sp>
      <p:cxnSp>
        <p:nvCxnSpPr>
          <p:cNvPr id="7" name="Connector 6"/>
          <p:cNvCxnSpPr/>
          <p:nvPr/>
        </p:nvCxnSpPr>
        <p:spPr>
          <a:xfrm flipH="1">
            <a:off x="3291840" y="1828800"/>
            <a:ext cx="2103120" cy="411480"/>
          </a:xfrm>
          <a:prstGeom prst="line">
            <a:avLst/>
          </a:prstGeom>
          <a:ln w="28575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7680960" y="1828800"/>
            <a:ext cx="1097280" cy="411480"/>
          </a:xfrm>
          <a:prstGeom prst="line">
            <a:avLst/>
          </a:prstGeom>
          <a:ln w="28575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1463040" y="2286000"/>
            <a:ext cx="2743200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250" b="1">
                <a:solidFill>
                  <a:srgbClr val="0B1F3A"/>
                </a:solidFill>
                <a:latin typeface="Segoe UI Semibold"/>
              </a:rPr>
              <a:t>Recherche sémantique</a:t>
            </a:r>
          </a:p>
          <a:p>
            <a:pPr algn="ctr"/>
            <a:r>
              <a:rPr sz="1000">
                <a:solidFill>
                  <a:srgbClr val="5B6677"/>
                </a:solidFill>
                <a:latin typeface="Segoe UI"/>
              </a:rPr>
              <a:t>bge-m3 + MMR
25 chunks parmi 100 (λ=0.5)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63840" y="2286000"/>
            <a:ext cx="2743200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FF6B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250" b="1">
                <a:solidFill>
                  <a:srgbClr val="0B1F3A"/>
                </a:solidFill>
                <a:latin typeface="Segoe UI Semibold"/>
              </a:rPr>
              <a:t>Recherche lexicale</a:t>
            </a:r>
          </a:p>
          <a:p>
            <a:pPr algn="ctr"/>
            <a:r>
              <a:rPr sz="1000">
                <a:solidFill>
                  <a:srgbClr val="5B6677"/>
                </a:solidFill>
                <a:latin typeface="Segoe UI"/>
              </a:rPr>
              <a:t>BM25 normalisé (sans accents)
25 chunks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834640" y="3291840"/>
            <a:ext cx="2560320" cy="411480"/>
          </a:xfrm>
          <a:prstGeom prst="line">
            <a:avLst/>
          </a:prstGeom>
          <a:ln w="28575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6766560" y="3291840"/>
            <a:ext cx="1554480" cy="411480"/>
          </a:xfrm>
          <a:prstGeom prst="line">
            <a:avLst/>
          </a:prstGeom>
          <a:ln w="28575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4709160" y="3749039"/>
            <a:ext cx="2743200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3A8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250" b="1">
                <a:solidFill>
                  <a:srgbClr val="0B1F3A"/>
                </a:solidFill>
                <a:latin typeface="Segoe UI Semibold"/>
              </a:rPr>
              <a:t>Fusion RRF</a:t>
            </a:r>
          </a:p>
          <a:p>
            <a:pPr algn="ctr"/>
            <a:r>
              <a:rPr sz="1000">
                <a:solidFill>
                  <a:srgbClr val="5B6677"/>
                </a:solidFill>
                <a:latin typeface="Segoe UI"/>
              </a:rPr>
              <a:t>score = Σ 1 / (60 + rang)
→ 15 candidats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080760" y="4526280"/>
            <a:ext cx="0" cy="320040"/>
          </a:xfrm>
          <a:prstGeom prst="line">
            <a:avLst/>
          </a:prstGeom>
          <a:ln w="28575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4709160" y="4892040"/>
            <a:ext cx="274320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8A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150" b="1">
                <a:solidFill>
                  <a:srgbClr val="0B1F3A"/>
                </a:solidFill>
                <a:latin typeface="Segoe UI Semibold"/>
              </a:rPr>
              <a:t>Déduplication Jaccard</a:t>
            </a:r>
          </a:p>
          <a:p>
            <a:pPr algn="ctr"/>
            <a:r>
              <a:rPr sz="950">
                <a:solidFill>
                  <a:srgbClr val="5B6677"/>
                </a:solidFill>
                <a:latin typeface="Segoe UI"/>
              </a:rPr>
              <a:t>seuil 80% de tokens communs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749039"/>
            <a:ext cx="356616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5B66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100" b="1">
                <a:solidFill>
                  <a:srgbClr val="0B1F3A"/>
                </a:solidFill>
                <a:latin typeface="Segoe UI Semibold"/>
              </a:rPr>
              <a:t>Filtrage multi-source</a:t>
            </a:r>
          </a:p>
          <a:p>
            <a:pPr algn="ctr"/>
            <a:r>
              <a:rPr sz="900">
                <a:solidFill>
                  <a:srgbClr val="5B6677"/>
                </a:solidFill>
                <a:latin typeface="Segoe UI"/>
              </a:rPr>
              <a:t>max. 3 chunks par document
(désactivé si 1 seule source)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069080" y="4069080"/>
            <a:ext cx="594360" cy="0"/>
          </a:xfrm>
          <a:prstGeom prst="line">
            <a:avLst/>
          </a:prstGeom>
          <a:ln w="28575">
            <a:solidFill>
              <a:srgbClr val="5B6677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452360" y="5212080"/>
            <a:ext cx="731519" cy="0"/>
          </a:xfrm>
          <a:prstGeom prst="line">
            <a:avLst/>
          </a:prstGeom>
          <a:ln w="28575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8229600" y="4846320"/>
            <a:ext cx="3383280" cy="685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1B8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150" b="1">
                <a:solidFill>
                  <a:srgbClr val="0B1F3A"/>
                </a:solidFill>
                <a:latin typeface="Segoe UI Semibold"/>
              </a:rPr>
              <a:t>Re-ranking CrossEncoder</a:t>
            </a:r>
          </a:p>
          <a:p>
            <a:pPr algn="ctr"/>
            <a:r>
              <a:rPr sz="950">
                <a:solidFill>
                  <a:srgbClr val="5B6677"/>
                </a:solidFill>
                <a:latin typeface="Segoe UI"/>
              </a:rPr>
              <a:t>BAAI/bge-reranker-v2-m3 — seuil 0.5
→ Top 5 chunks finaux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547104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RAG Aquila — Système RAG Agentique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54710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09/17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492240"/>
            <a:ext cx="12191695" cy="9525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10920"/>
            <a:ext cx="12191695" cy="40640"/>
          </a:xfrm>
          <a:prstGeom prst="rect">
            <a:avLst/>
          </a:prstGeom>
          <a:solidFill>
            <a:srgbClr val="8A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8A5CF6"/>
                </a:solidFill>
                <a:latin typeface="Segoe UI Semibold"/>
              </a:rPr>
              <a:t>ZOOM — BOUCLE DE CONTRÔLE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38404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Segoe UI"/>
              </a:rPr>
              <a:t>Grading et reformulation automatique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5B6677"/>
                </a:solidFill>
                <a:latin typeface="Segoe UI"/>
              </a:rPr>
              <a:t>Avant de répondre, l'agent vérifie lui-même la qualité de son contexte — et se corrige s'il est insuffisant.</a:t>
            </a:r>
          </a:p>
        </p:txBody>
      </p:sp>
      <p:sp>
        <p:nvSpPr>
          <p:cNvPr id="7" name="Oval 6"/>
          <p:cNvSpPr/>
          <p:nvPr/>
        </p:nvSpPr>
        <p:spPr>
          <a:xfrm>
            <a:off x="822960" y="2331720"/>
            <a:ext cx="365760" cy="36576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 Semibold"/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1188720" y="2496312"/>
            <a:ext cx="1417319" cy="279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834639"/>
            <a:ext cx="1645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0B1F3A"/>
                </a:solidFill>
                <a:latin typeface="Segoe UI Semibold"/>
              </a:rPr>
              <a:t>1ᵉʳ retrieval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172968"/>
            <a:ext cx="1737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5 chunks récupérés</a:t>
            </a:r>
          </a:p>
        </p:txBody>
      </p:sp>
      <p:sp>
        <p:nvSpPr>
          <p:cNvPr id="11" name="Oval 10"/>
          <p:cNvSpPr/>
          <p:nvPr/>
        </p:nvSpPr>
        <p:spPr>
          <a:xfrm>
            <a:off x="2606040" y="2331720"/>
            <a:ext cx="365760" cy="36576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 Semibold"/>
              </a:rPr>
              <a:t>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71800" y="2496312"/>
            <a:ext cx="1417319" cy="279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60320" y="2834639"/>
            <a:ext cx="1645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0B1F3A"/>
                </a:solidFill>
                <a:latin typeface="Segoe UI Semibold"/>
              </a:rPr>
              <a:t>Grading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14600" y="3172968"/>
            <a:ext cx="1737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LLM juge : suffisant ?</a:t>
            </a:r>
          </a:p>
        </p:txBody>
      </p:sp>
      <p:sp>
        <p:nvSpPr>
          <p:cNvPr id="15" name="Oval 14"/>
          <p:cNvSpPr/>
          <p:nvPr/>
        </p:nvSpPr>
        <p:spPr>
          <a:xfrm>
            <a:off x="4389120" y="2331720"/>
            <a:ext cx="365760" cy="365760"/>
          </a:xfrm>
          <a:prstGeom prst="ellipse">
            <a:avLst/>
          </a:prstGeom>
          <a:solidFill>
            <a:srgbClr val="E6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 Semibold"/>
              </a:rPr>
              <a:t>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54880" y="2496312"/>
            <a:ext cx="1417319" cy="279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43400" y="2834639"/>
            <a:ext cx="1645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0B1F3A"/>
                </a:solidFill>
                <a:latin typeface="Segoe UI Semibold"/>
              </a:rPr>
              <a:t>Verdict NON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0" y="3172968"/>
            <a:ext cx="1737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« manque le détail X »</a:t>
            </a:r>
          </a:p>
        </p:txBody>
      </p:sp>
      <p:sp>
        <p:nvSpPr>
          <p:cNvPr id="19" name="Oval 18"/>
          <p:cNvSpPr/>
          <p:nvPr/>
        </p:nvSpPr>
        <p:spPr>
          <a:xfrm>
            <a:off x="6172200" y="2331720"/>
            <a:ext cx="365760" cy="365760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 Semibold"/>
              </a:rPr>
              <a:t>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37960" y="2496312"/>
            <a:ext cx="1417319" cy="279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26480" y="2834639"/>
            <a:ext cx="1645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0B1F3A"/>
                </a:solidFill>
                <a:latin typeface="Segoe UI Semibold"/>
              </a:rPr>
              <a:t>Rewrite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80760" y="3172968"/>
            <a:ext cx="1737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requête reformulée</a:t>
            </a:r>
          </a:p>
        </p:txBody>
      </p:sp>
      <p:sp>
        <p:nvSpPr>
          <p:cNvPr id="23" name="Oval 22"/>
          <p:cNvSpPr/>
          <p:nvPr/>
        </p:nvSpPr>
        <p:spPr>
          <a:xfrm>
            <a:off x="7955279" y="2331720"/>
            <a:ext cx="365760" cy="36576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 Semibold"/>
              </a:rPr>
              <a:t>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321039" y="2496312"/>
            <a:ext cx="1417319" cy="279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09559" y="2834639"/>
            <a:ext cx="1645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0B1F3A"/>
                </a:solidFill>
                <a:latin typeface="Segoe UI Semibold"/>
              </a:rPr>
              <a:t>2ᵉ retrieval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63839" y="3172968"/>
            <a:ext cx="1737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3 anciens + 2 nouveaux chunks</a:t>
            </a:r>
          </a:p>
        </p:txBody>
      </p:sp>
      <p:sp>
        <p:nvSpPr>
          <p:cNvPr id="27" name="Oval 26"/>
          <p:cNvSpPr/>
          <p:nvPr/>
        </p:nvSpPr>
        <p:spPr>
          <a:xfrm>
            <a:off x="9738360" y="2331720"/>
            <a:ext cx="365760" cy="365760"/>
          </a:xfrm>
          <a:prstGeom prst="ellipse">
            <a:avLst/>
          </a:prstGeom>
          <a:solidFill>
            <a:srgbClr val="2EA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 Semibold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92640" y="2834639"/>
            <a:ext cx="1645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0B1F3A"/>
                </a:solidFill>
                <a:latin typeface="Segoe UI Semibold"/>
              </a:rPr>
              <a:t>Génération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46920" y="3172968"/>
            <a:ext cx="1737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réponse finale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4160520"/>
            <a:ext cx="5440680" cy="1874519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502920" y="4160520"/>
            <a:ext cx="5440680" cy="411480"/>
          </a:xfrm>
          <a:prstGeom prst="roundRect">
            <a:avLst>
              <a:gd name="adj" fmla="val 16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1520" y="425196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Segoe UI Semibold"/>
              </a:rPr>
              <a:t>Ce que vérifie le grading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4663440"/>
            <a:ext cx="49377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080" b="1">
                <a:solidFill>
                  <a:srgbClr val="2EC4B6"/>
                </a:solidFill>
                <a:latin typeface="Segoe UI"/>
              </a:rPr>
              <a:t>—  </a:t>
            </a:r>
            <a:r>
              <a:rPr sz="1080">
                <a:solidFill>
                  <a:srgbClr val="1B1F27"/>
                </a:solidFill>
                <a:latin typeface="Segoe UI"/>
              </a:rPr>
              <a:t>Les chunks tronqués sont marqués [⚠ TRONQUÉ] pour le juge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080" b="1">
                <a:solidFill>
                  <a:srgbClr val="2EC4B6"/>
                </a:solidFill>
                <a:latin typeface="Segoe UI"/>
              </a:rPr>
              <a:t>—  </a:t>
            </a:r>
            <a:r>
              <a:rPr sz="1080">
                <a:solidFill>
                  <a:srgbClr val="1B1F27"/>
                </a:solidFill>
                <a:latin typeface="Segoe UI"/>
              </a:rPr>
              <a:t>Verdict binaire : OUI (suffisant) → génération directe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080" b="1">
                <a:solidFill>
                  <a:srgbClr val="2EC4B6"/>
                </a:solidFill>
                <a:latin typeface="Segoe UI"/>
              </a:rPr>
              <a:t>—  </a:t>
            </a:r>
            <a:r>
              <a:rPr sz="1080">
                <a:solidFill>
                  <a:srgbClr val="1B1F27"/>
                </a:solidFill>
                <a:latin typeface="Segoe UI"/>
              </a:rPr>
              <a:t>NON — [explication du manque] → reformulation ciblée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17920" y="4160520"/>
            <a:ext cx="5486400" cy="1874519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217920" y="4160520"/>
            <a:ext cx="5486400" cy="411480"/>
          </a:xfrm>
          <a:prstGeom prst="roundRect">
            <a:avLst>
              <a:gd name="adj" fmla="val 16000"/>
            </a:avLst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46520" y="425196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Segoe UI Semibold"/>
              </a:rPr>
              <a:t>Garde-fous de la boucle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46520" y="4663440"/>
            <a:ext cx="50292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080" b="1">
                <a:solidFill>
                  <a:srgbClr val="FF6B35"/>
                </a:solidFill>
                <a:latin typeface="Segoe UI"/>
              </a:rPr>
              <a:t>—  </a:t>
            </a:r>
            <a:r>
              <a:rPr sz="1080">
                <a:solidFill>
                  <a:srgbClr val="1B1F27"/>
                </a:solidFill>
                <a:latin typeface="Segoe UI"/>
              </a:rPr>
              <a:t>Maximum 1 reformulation (MAX_ATTEMPTS = 1) — pas de boucle infinie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080" b="1">
                <a:solidFill>
                  <a:srgbClr val="FF6B35"/>
                </a:solidFill>
                <a:latin typeface="Segoe UI"/>
              </a:rPr>
              <a:t>—  </a:t>
            </a:r>
            <a:r>
              <a:rPr sz="1080">
                <a:solidFill>
                  <a:srgbClr val="1B1F27"/>
                </a:solidFill>
                <a:latin typeface="Segoe UI"/>
              </a:rPr>
              <a:t>Difficulté &lt; 3 → upgrade_difficulty avant rewrite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080" b="1">
                <a:solidFill>
                  <a:srgbClr val="FF6B35"/>
                </a:solidFill>
                <a:latin typeface="Segoe UI"/>
              </a:rPr>
              <a:t>—  </a:t>
            </a:r>
            <a:r>
              <a:rPr sz="1080">
                <a:solidFill>
                  <a:srgbClr val="1B1F27"/>
                </a:solidFill>
                <a:latin typeface="Segoe UI"/>
              </a:rPr>
              <a:t>5 emplacements de chunks réservés : 3 anciens + 2 nouveaux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6547104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RAG Aquila — Système RAG Agentique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972800" y="654710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10/17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0" y="6492240"/>
            <a:ext cx="12191695" cy="9525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10920"/>
            <a:ext cx="12191695" cy="40640"/>
          </a:xfrm>
          <a:prstGeom prst="rect">
            <a:avLst/>
          </a:prstGeom>
          <a:solidFill>
            <a:srgbClr val="8A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8A5CF6"/>
                </a:solidFill>
                <a:latin typeface="Segoe UI Semibold"/>
              </a:rPr>
              <a:t>PHASE 3 — ÉVALUATION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38404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Segoe UI"/>
              </a:rPr>
              <a:t>Mesurer la qualité à deux niveaux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23444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0B1F3A"/>
                </a:solidFill>
                <a:latin typeface="Segoe UI Semibold"/>
              </a:rPr>
              <a:t>Évaluation globale — RAGAS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27632"/>
            <a:ext cx="5440680" cy="713232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627632"/>
            <a:ext cx="64008" cy="713232"/>
          </a:xfrm>
          <a:prstGeom prst="rect">
            <a:avLst/>
          </a:prstGeom>
          <a:solidFill>
            <a:srgbClr val="8A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700784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B1F3A"/>
                </a:solidFill>
                <a:latin typeface="Segoe UI Semibold"/>
              </a:rPr>
              <a:t>Faithfulness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1975104"/>
            <a:ext cx="5029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B6677"/>
                </a:solidFill>
                <a:latin typeface="Segoe UI"/>
              </a:rPr>
              <a:t>La réponse est-elle fondée sur le contexte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432304"/>
            <a:ext cx="5440680" cy="713232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2432304"/>
            <a:ext cx="64008" cy="713232"/>
          </a:xfrm>
          <a:prstGeom prst="rect">
            <a:avLst/>
          </a:prstGeom>
          <a:solidFill>
            <a:srgbClr val="8A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3232" y="2505456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B1F3A"/>
                </a:solidFill>
                <a:latin typeface="Segoe UI Semibold"/>
              </a:rPr>
              <a:t>Answer Relevancy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2779776"/>
            <a:ext cx="5029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B6677"/>
                </a:solidFill>
                <a:latin typeface="Segoe UI"/>
              </a:rPr>
              <a:t>La réponse répond-elle à la question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236976"/>
            <a:ext cx="5440680" cy="713232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3236976"/>
            <a:ext cx="64008" cy="713232"/>
          </a:xfrm>
          <a:prstGeom prst="rect">
            <a:avLst/>
          </a:prstGeom>
          <a:solidFill>
            <a:srgbClr val="8A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3232" y="3310128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B1F3A"/>
                </a:solidFill>
                <a:latin typeface="Segoe UI Semibold"/>
              </a:rPr>
              <a:t>Context Precision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" y="3584448"/>
            <a:ext cx="5029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B6677"/>
                </a:solidFill>
                <a:latin typeface="Segoe UI"/>
              </a:rPr>
              <a:t>Les chunks récupérés sont-ils pertinents 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041648"/>
            <a:ext cx="5440680" cy="713232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4041648"/>
            <a:ext cx="64008" cy="713232"/>
          </a:xfrm>
          <a:prstGeom prst="rect">
            <a:avLst/>
          </a:prstGeom>
          <a:solidFill>
            <a:srgbClr val="8A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3232" y="4114800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B1F3A"/>
                </a:solidFill>
                <a:latin typeface="Segoe UI Semibold"/>
              </a:rPr>
              <a:t>Context Recall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" y="4389120"/>
            <a:ext cx="5029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B6677"/>
                </a:solidFill>
                <a:latin typeface="Segoe UI"/>
              </a:rPr>
              <a:t>Le contexte couvre-t-il la réponse attendue ?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846320"/>
            <a:ext cx="5440680" cy="713232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2920" y="4846320"/>
            <a:ext cx="64008" cy="713232"/>
          </a:xfrm>
          <a:prstGeom prst="rect">
            <a:avLst/>
          </a:prstGeom>
          <a:solidFill>
            <a:srgbClr val="8A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13232" y="4919472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B1F3A"/>
                </a:solidFill>
                <a:latin typeface="Segoe UI Semibold"/>
              </a:rPr>
              <a:t>Answer Correctness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5193792"/>
            <a:ext cx="5029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B6677"/>
                </a:solidFill>
                <a:latin typeface="Segoe UI"/>
              </a:rPr>
              <a:t>La réponse est-elle correcte vs référence 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63640" y="123444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0B1F3A"/>
                </a:solidFill>
                <a:latin typeface="Segoe UI Semibold"/>
              </a:rPr>
              <a:t>Évaluation par composant (6 briques)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63640" y="1627632"/>
            <a:ext cx="5440680" cy="56692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63640" y="1627632"/>
            <a:ext cx="64008" cy="566928"/>
          </a:xfrm>
          <a:prstGeom prst="rect">
            <a:avLst/>
          </a:prstGeom>
          <a:solidFill>
            <a:srgbClr val="1B8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73952" y="1682496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B1F3A"/>
                </a:solidFill>
                <a:latin typeface="Segoe UI Semibold"/>
              </a:rPr>
              <a:t>① Router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0" y="1682496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69" b="0" i="0">
                <a:solidFill>
                  <a:srgbClr val="5B6677"/>
                </a:solidFill>
                <a:latin typeface="Segoe UI"/>
              </a:rPr>
              <a:t>Source / difficulté vs vérité terrain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63640" y="2276856"/>
            <a:ext cx="5440680" cy="56692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63640" y="2276856"/>
            <a:ext cx="64008" cy="566928"/>
          </a:xfrm>
          <a:prstGeom prst="rect">
            <a:avLst/>
          </a:prstGeom>
          <a:solidFill>
            <a:srgbClr val="1B8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73952" y="2331720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B1F3A"/>
                </a:solidFill>
                <a:latin typeface="Segoe UI Semibold"/>
              </a:rPr>
              <a:t>② Retrieval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9600" y="2331720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69" b="0" i="0">
                <a:solidFill>
                  <a:srgbClr val="5B6677"/>
                </a:solidFill>
                <a:latin typeface="Segoe UI"/>
              </a:rPr>
              <a:t>Context Precision + Recall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263640" y="2926080"/>
            <a:ext cx="5440680" cy="56692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263640" y="2926080"/>
            <a:ext cx="64008" cy="566928"/>
          </a:xfrm>
          <a:prstGeom prst="rect">
            <a:avLst/>
          </a:prstGeom>
          <a:solidFill>
            <a:srgbClr val="1B8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73952" y="2980944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B1F3A"/>
                </a:solidFill>
                <a:latin typeface="Segoe UI Semibold"/>
              </a:rPr>
              <a:t>③ Re-ranking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9600" y="2980944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69" b="0" i="0">
                <a:solidFill>
                  <a:srgbClr val="5B6677"/>
                </a:solidFill>
                <a:latin typeface="Segoe UI"/>
              </a:rPr>
              <a:t>Gain de précision avant/après CrossEncoder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263640" y="3575304"/>
            <a:ext cx="5440680" cy="56692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263640" y="3575304"/>
            <a:ext cx="64008" cy="566928"/>
          </a:xfrm>
          <a:prstGeom prst="rect">
            <a:avLst/>
          </a:prstGeom>
          <a:solidFill>
            <a:srgbClr val="1B8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73952" y="3630168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B1F3A"/>
                </a:solidFill>
                <a:latin typeface="Segoe UI Semibold"/>
              </a:rPr>
              <a:t>④ Grading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29600" y="3630168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69" b="0" i="0">
                <a:solidFill>
                  <a:srgbClr val="5B6677"/>
                </a:solidFill>
                <a:latin typeface="Segoe UI"/>
              </a:rPr>
              <a:t>Verdict vs juge externe (gemma3:12b)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263640" y="4224528"/>
            <a:ext cx="5440680" cy="56692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263640" y="4224528"/>
            <a:ext cx="64008" cy="566928"/>
          </a:xfrm>
          <a:prstGeom prst="rect">
            <a:avLst/>
          </a:prstGeom>
          <a:solidFill>
            <a:srgbClr val="1B8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73952" y="4279392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B1F3A"/>
                </a:solidFill>
                <a:latin typeface="Segoe UI Semibold"/>
              </a:rPr>
              <a:t>⑤ Rewriting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229600" y="4279392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69" b="0" i="0">
                <a:solidFill>
                  <a:srgbClr val="5B6677"/>
                </a:solidFill>
                <a:latin typeface="Segoe UI"/>
              </a:rPr>
              <a:t>Gain de précision après reformulation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263640" y="4873752"/>
            <a:ext cx="5440680" cy="56692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263640" y="4873752"/>
            <a:ext cx="64008" cy="566928"/>
          </a:xfrm>
          <a:prstGeom prst="rect">
            <a:avLst/>
          </a:prstGeom>
          <a:solidFill>
            <a:srgbClr val="1B8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473952" y="4928616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B1F3A"/>
                </a:solidFill>
                <a:latin typeface="Segoe UI Semibold"/>
              </a:rPr>
              <a:t>⑥ Generation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229600" y="4928616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69" b="0" i="0">
                <a:solidFill>
                  <a:srgbClr val="5B6677"/>
                </a:solidFill>
                <a:latin typeface="Segoe UI"/>
              </a:rPr>
              <a:t>Faithfulness de la réponse finale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263640" y="5486400"/>
            <a:ext cx="5440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80" b="0" i="1">
                <a:solidFill>
                  <a:srgbClr val="5B6677"/>
                </a:solidFill>
                <a:latin typeface="Segoe UI"/>
              </a:rPr>
              <a:t>evaluate_components.py ne relance jamais le pipeline : il relit les états intermédiaires capturés (agentic_results_debug.json).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02920" y="6547104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RAG Aquila — Système RAG Agentique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972800" y="654710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11/17</a:t>
            </a:r>
          </a:p>
        </p:txBody>
      </p:sp>
      <p:sp>
        <p:nvSpPr>
          <p:cNvPr id="55" name="Rectangle 54"/>
          <p:cNvSpPr/>
          <p:nvPr/>
        </p:nvSpPr>
        <p:spPr>
          <a:xfrm>
            <a:off x="0" y="6492240"/>
            <a:ext cx="12191695" cy="9525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10920"/>
            <a:ext cx="12191695" cy="4064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EC4B6"/>
                </a:solidFill>
                <a:latin typeface="Segoe UI Semibold"/>
              </a:rPr>
              <a:t>STACK TECHNIQUE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38404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Segoe UI"/>
              </a:rPr>
              <a:t>Modèles et frameworks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23444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0B1F3A"/>
                </a:solidFill>
                <a:latin typeface="Segoe UI Semibold"/>
              </a:rPr>
              <a:t>Modèles (servis par Ollama)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27632"/>
            <a:ext cx="5440680" cy="8412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627632"/>
            <a:ext cx="64008" cy="841248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719072"/>
            <a:ext cx="2926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0B1F3A"/>
                </a:solidFill>
                <a:latin typeface="Segoe UI Semibold"/>
              </a:rPr>
              <a:t>bge-m3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1737360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Segoe UI Semibold"/>
              </a:rPr>
              <a:t>~570 Mo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048256"/>
            <a:ext cx="50749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B6677"/>
                </a:solidFill>
                <a:latin typeface="Segoe UI"/>
              </a:rPr>
              <a:t>Embeddings multilingues — 1024 dim, fenêtre 8192 tokens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560320"/>
            <a:ext cx="5440680" cy="8412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2560320"/>
            <a:ext cx="64008" cy="841248"/>
          </a:xfrm>
          <a:prstGeom prst="rect">
            <a:avLst/>
          </a:prstGeom>
          <a:solidFill>
            <a:srgbClr val="3A8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651760"/>
            <a:ext cx="2926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0B1F3A"/>
                </a:solidFill>
                <a:latin typeface="Segoe UI Semibold"/>
              </a:rPr>
              <a:t>gemma2:2b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34840" y="2670048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3A8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Segoe UI Semibold"/>
              </a:rPr>
              <a:t>~1.6 Go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2980944"/>
            <a:ext cx="50749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B6677"/>
                </a:solidFill>
                <a:latin typeface="Segoe UI"/>
              </a:rPr>
              <a:t>Contextualisation des chunks · juge RAGAS léger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493008"/>
            <a:ext cx="5440680" cy="8412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3493008"/>
            <a:ext cx="64008" cy="841248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584448"/>
            <a:ext cx="2926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0B1F3A"/>
                </a:solidFill>
                <a:latin typeface="Segoe UI Semibold"/>
              </a:rPr>
              <a:t>gemma3:12b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34840" y="360273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Segoe UI Semibold"/>
              </a:rPr>
              <a:t>~7 Go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3913632"/>
            <a:ext cx="50749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B6677"/>
                </a:solidFill>
                <a:latin typeface="Segoe UI"/>
              </a:rPr>
              <a:t>Split agentique · HyDE · grading · rewrite · génération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425696"/>
            <a:ext cx="5440680" cy="8412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" y="4425696"/>
            <a:ext cx="64008" cy="841248"/>
          </a:xfrm>
          <a:prstGeom prst="rect">
            <a:avLst/>
          </a:prstGeom>
          <a:solidFill>
            <a:srgbClr val="8A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4517136"/>
            <a:ext cx="2926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0B1F3A"/>
                </a:solidFill>
                <a:latin typeface="Segoe UI Semibold"/>
              </a:rPr>
              <a:t>bge-reranker-v2-m3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34840" y="4535424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8A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Segoe UI Semibold"/>
              </a:rPr>
              <a:t>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4846320"/>
            <a:ext cx="50749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B6677"/>
                </a:solidFill>
                <a:latin typeface="Segoe UI"/>
              </a:rPr>
              <a:t>Re-ranking CrossEncoder (sentence-transformers)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63640" y="123444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0B1F3A"/>
                </a:solidFill>
                <a:latin typeface="Segoe UI Semibold"/>
              </a:rPr>
              <a:t>Frameworks &amp; librairies clés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63640" y="1627632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B1F3A"/>
                </a:solidFill>
                <a:latin typeface="Segoe UI Semibold"/>
              </a:rPr>
              <a:t>LangGraph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06840" y="1627632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B6677"/>
                </a:solidFill>
                <a:latin typeface="Segoe UI"/>
              </a:rPr>
              <a:t>Orchestration du graphe agentique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63640" y="2011680"/>
            <a:ext cx="5486400" cy="9525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63640" y="2157984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B1F3A"/>
                </a:solidFill>
                <a:latin typeface="Segoe UI Semibold"/>
              </a:rPr>
              <a:t>LangChain (+ Ollama / Chroma)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06840" y="2157984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B6677"/>
                </a:solidFill>
                <a:latin typeface="Segoe UI"/>
              </a:rPr>
              <a:t>Connecteurs LLM, embeddings, base vectorielle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63640" y="2542032"/>
            <a:ext cx="5486400" cy="9525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63640" y="2688336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B1F3A"/>
                </a:solidFill>
                <a:latin typeface="Segoe UI Semibold"/>
              </a:rPr>
              <a:t>ChromaDB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006840" y="2688336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B6677"/>
                </a:solidFill>
                <a:latin typeface="Segoe UI"/>
              </a:rPr>
              <a:t>Base vectorielle locale persistée sur disque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63640" y="3072384"/>
            <a:ext cx="5486400" cy="9525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63640" y="3218688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B1F3A"/>
                </a:solidFill>
                <a:latin typeface="Segoe UI Semibold"/>
              </a:rPr>
              <a:t>rank_bm25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06840" y="3218688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B6677"/>
                </a:solidFill>
                <a:latin typeface="Segoe UI"/>
              </a:rPr>
              <a:t>Recherche lexicale BM25 normalisée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263640" y="3602736"/>
            <a:ext cx="5486400" cy="9525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63640" y="374903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B1F3A"/>
                </a:solidFill>
                <a:latin typeface="Segoe UI Semibold"/>
              </a:rPr>
              <a:t>pymupdf4llm / ftfy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006840" y="374903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B6677"/>
                </a:solidFill>
                <a:latin typeface="Segoe UI"/>
              </a:rPr>
              <a:t>Extraction PDF → Markdown + réparation encodage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263640" y="4133087"/>
            <a:ext cx="5486400" cy="9525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263640" y="4279392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B1F3A"/>
                </a:solidFill>
                <a:latin typeface="Segoe UI Semibold"/>
              </a:rPr>
              <a:t>RAGAS + datasets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006840" y="4279392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B6677"/>
                </a:solidFill>
                <a:latin typeface="Segoe UI"/>
              </a:rPr>
              <a:t>Évaluation LLM-judge (5 métriques)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263640" y="4663440"/>
            <a:ext cx="5486400" cy="9525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263640" y="4809744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B1F3A"/>
                </a:solidFill>
                <a:latin typeface="Segoe UI Semibold"/>
              </a:rPr>
              <a:t>FastAPI / uvicorn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006840" y="4809744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B6677"/>
                </a:solidFill>
                <a:latin typeface="Segoe UI"/>
              </a:rPr>
              <a:t>Serveur API compatible OpenAI (Open WebUI)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263640" y="5193792"/>
            <a:ext cx="5486400" cy="9525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02920" y="6547104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RAG Aquila — Système RAG Agentique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972800" y="654710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12/17</a:t>
            </a:r>
          </a:p>
        </p:txBody>
      </p:sp>
      <p:sp>
        <p:nvSpPr>
          <p:cNvPr id="51" name="Rectangle 50"/>
          <p:cNvSpPr/>
          <p:nvPr/>
        </p:nvSpPr>
        <p:spPr>
          <a:xfrm>
            <a:off x="0" y="6492240"/>
            <a:ext cx="12191695" cy="9525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10920"/>
            <a:ext cx="12191695" cy="4064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EC4B6"/>
                </a:solidFill>
                <a:latin typeface="Segoe UI Semibold"/>
              </a:rPr>
              <a:t>DÉPLOIEMENT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38404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Segoe UI"/>
              </a:rPr>
              <a:t>Local vs Google Colab — défis d'ingénierie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34440"/>
            <a:ext cx="5440680" cy="15087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500" b="1">
                <a:solidFill>
                  <a:srgbClr val="0B1F3A"/>
                </a:solidFill>
                <a:latin typeface="Segoe UI Semibold"/>
              </a:rPr>
              <a:t>Local (Windows)</a:t>
            </a:r>
          </a:p>
          <a:p>
            <a:pPr algn="ctr"/>
            <a:r>
              <a:rPr sz="1080">
                <a:solidFill>
                  <a:srgbClr val="5B6677"/>
                </a:solidFill>
                <a:latin typeface="Segoe UI"/>
              </a:rPr>
              <a:t>Ollama + ChromaDB sur le poste
Base vectorielle : C:/vector_db_aquila
(hors OneDrive — évite la corruption SQLite)
Interface : Open WebUI / Gradio / terminal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234440"/>
            <a:ext cx="5440680" cy="15087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3A8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500" b="1">
                <a:solidFill>
                  <a:srgbClr val="0B1F3A"/>
                </a:solidFill>
                <a:latin typeface="Segoe UI Semibold"/>
              </a:rPr>
              <a:t>Google Colab (GPU)</a:t>
            </a:r>
          </a:p>
          <a:p>
            <a:pPr algn="ctr"/>
            <a:r>
              <a:rPr sz="1080">
                <a:solidFill>
                  <a:srgbClr val="5B6677"/>
                </a:solidFill>
                <a:latin typeface="Segoe UI"/>
              </a:rPr>
              <a:t>GPU recommandé : L4 (24 Go) — T4 (16 Go) acceptable
vector_db/ versionnée dans le repo Git
Drive monté pour sauvegarder les résultats
Évaluation RAGAS avec gemma2:2b (plus rapide)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017520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0B1F3A"/>
                </a:solidFill>
                <a:latin typeface="Segoe UI Semibold"/>
              </a:rPr>
              <a:t>Problèmes rencontrés et solutions d'ingénierie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429000"/>
            <a:ext cx="548640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3429000"/>
            <a:ext cx="54864" cy="841248"/>
          </a:xfrm>
          <a:prstGeom prst="rect">
            <a:avLst/>
          </a:prstGeom>
          <a:solidFill>
            <a:srgbClr val="E6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3502152"/>
            <a:ext cx="5120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0B1F3A"/>
                </a:solidFill>
                <a:latin typeface="Segoe UI Semibold"/>
              </a:rPr>
              <a:t>llama-server crash sur Colab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3813048"/>
            <a:ext cx="5120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69" b="0" i="0">
                <a:solidFill>
                  <a:srgbClr val="2EA86A"/>
                </a:solidFill>
                <a:latin typeface="Segoe UI"/>
              </a:rPr>
              <a:t>→ Ollama lancé avec cwd="/tmp" (contourne le bug de chemin)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389120"/>
            <a:ext cx="548640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4389120"/>
            <a:ext cx="54864" cy="841248"/>
          </a:xfrm>
          <a:prstGeom prst="rect">
            <a:avLst/>
          </a:prstGeom>
          <a:solidFill>
            <a:srgbClr val="E6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4088" y="4462272"/>
            <a:ext cx="5120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0B1F3A"/>
                </a:solidFill>
                <a:latin typeface="Segoe UI Semibold"/>
              </a:rPr>
              <a:t>Latence croissante (KV-cache)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" y="4773168"/>
            <a:ext cx="5120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69" b="0" i="0">
                <a:solidFill>
                  <a:srgbClr val="2EA86A"/>
                </a:solidFill>
                <a:latin typeface="Segoe UI"/>
              </a:rPr>
              <a:t>→ Redémarrage préventif d'Ollama toutes les 2 questions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349240"/>
            <a:ext cx="548640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5349240"/>
            <a:ext cx="54864" cy="841248"/>
          </a:xfrm>
          <a:prstGeom prst="rect">
            <a:avLst/>
          </a:prstGeom>
          <a:solidFill>
            <a:srgbClr val="E6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4088" y="5422392"/>
            <a:ext cx="5120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0B1F3A"/>
                </a:solidFill>
                <a:latin typeface="Segoe UI Semibold"/>
              </a:rPr>
              <a:t>Crash sur 700+ appels LLM (ingestion)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088" y="5733288"/>
            <a:ext cx="5120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69" b="0" i="0">
                <a:solidFill>
                  <a:srgbClr val="2EA86A"/>
                </a:solidFill>
                <a:latin typeface="Segoe UI"/>
              </a:rPr>
              <a:t>→ 3 tentatives + redémarrage Ollama entre chaque essai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429000"/>
            <a:ext cx="548640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17920" y="3429000"/>
            <a:ext cx="54864" cy="841248"/>
          </a:xfrm>
          <a:prstGeom prst="rect">
            <a:avLst/>
          </a:prstGeom>
          <a:solidFill>
            <a:srgbClr val="E6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19088" y="3502152"/>
            <a:ext cx="5120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0B1F3A"/>
                </a:solidFill>
                <a:latin typeface="Segoe UI Semibold"/>
              </a:rPr>
              <a:t>Session Colab coupée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19088" y="3813048"/>
            <a:ext cx="5120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69" b="0" i="0">
                <a:solidFill>
                  <a:srgbClr val="2EA86A"/>
                </a:solidFill>
                <a:latin typeface="Segoe UI"/>
              </a:rPr>
              <a:t>→ Checkpoint pickle après chaque page + copie Drive → repo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17920" y="4389120"/>
            <a:ext cx="548640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17920" y="4389120"/>
            <a:ext cx="54864" cy="841248"/>
          </a:xfrm>
          <a:prstGeom prst="rect">
            <a:avLst/>
          </a:prstGeom>
          <a:solidFill>
            <a:srgbClr val="E6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19088" y="4462272"/>
            <a:ext cx="5120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0B1F3A"/>
                </a:solidFill>
                <a:latin typeface="Segoe UI Semibold"/>
              </a:rPr>
              <a:t>Cache de modules Python (Colab)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19088" y="4773168"/>
            <a:ext cx="5120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69" b="0" i="0">
                <a:solidFill>
                  <a:srgbClr val="2EA86A"/>
                </a:solidFill>
                <a:latin typeface="Segoe UI"/>
              </a:rPr>
              <a:t>→ importlib.reload() forcé + détection de vieille version en cache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17920" y="5349240"/>
            <a:ext cx="548640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17920" y="5349240"/>
            <a:ext cx="54864" cy="841248"/>
          </a:xfrm>
          <a:prstGeom prst="rect">
            <a:avLst/>
          </a:prstGeom>
          <a:solidFill>
            <a:srgbClr val="E6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19088" y="5422392"/>
            <a:ext cx="5120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0B1F3A"/>
                </a:solidFill>
                <a:latin typeface="Segoe UI Semibold"/>
              </a:rPr>
              <a:t>Gradio 5+ casse le proxy Colab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19088" y="5733288"/>
            <a:ext cx="5120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69" b="0" i="0">
                <a:solidFill>
                  <a:srgbClr val="2EA86A"/>
                </a:solidFill>
                <a:latin typeface="Segoe UI"/>
              </a:rPr>
              <a:t>→ Contrainte de version : gradio &lt; 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6547104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RAG Aquila — Système RAG Agentique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72800" y="654710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13/17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6492240"/>
            <a:ext cx="12191695" cy="9525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10920"/>
            <a:ext cx="12191695" cy="40640"/>
          </a:xfrm>
          <a:prstGeom prst="rect">
            <a:avLst/>
          </a:prstGeom>
          <a:solidFill>
            <a:srgbClr val="2EA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EA86A"/>
                </a:solidFill>
                <a:latin typeface="Segoe UI Semibold"/>
              </a:rPr>
              <a:t>RÉSULTATS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38404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Segoe UI"/>
              </a:rPr>
              <a:t>Mesures réelles sur les 50 questions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25880"/>
            <a:ext cx="2651760" cy="11430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325880"/>
            <a:ext cx="64008" cy="114300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435608"/>
            <a:ext cx="23774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0B1F3A"/>
                </a:solidFill>
                <a:latin typeface="Segoe UI"/>
              </a:rPr>
              <a:t>94.5%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084832"/>
            <a:ext cx="2377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5B6677"/>
                </a:solidFill>
                <a:latin typeface="Segoe UI"/>
              </a:rPr>
              <a:t>Context Precision (retrieval)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91839" y="1325880"/>
            <a:ext cx="2651760" cy="11430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91839" y="1325880"/>
            <a:ext cx="64008" cy="114300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4719" y="1435608"/>
            <a:ext cx="23774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0B1F3A"/>
                </a:solidFill>
                <a:latin typeface="Segoe UI"/>
              </a:rPr>
              <a:t>94.9%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19" y="2084832"/>
            <a:ext cx="2377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5B6677"/>
                </a:solidFill>
                <a:latin typeface="Segoe UI"/>
              </a:rPr>
              <a:t>Context Recall (retrieval)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80759" y="1325880"/>
            <a:ext cx="2651760" cy="11430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080759" y="1325880"/>
            <a:ext cx="64008" cy="1143000"/>
          </a:xfrm>
          <a:prstGeom prst="rect">
            <a:avLst/>
          </a:prstGeom>
          <a:solidFill>
            <a:srgbClr val="2EA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39" y="1435608"/>
            <a:ext cx="23774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0B1F3A"/>
                </a:solidFill>
                <a:latin typeface="Segoe UI"/>
              </a:rPr>
              <a:t>83.5%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63639" y="2084832"/>
            <a:ext cx="2377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5B6677"/>
                </a:solidFill>
                <a:latin typeface="Segoe UI"/>
              </a:rPr>
              <a:t>Faithfulness (génération)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869680" y="1325880"/>
            <a:ext cx="2651760" cy="11430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869680" y="1325880"/>
            <a:ext cx="64008" cy="1143000"/>
          </a:xfrm>
          <a:prstGeom prst="rect">
            <a:avLst/>
          </a:prstGeom>
          <a:solidFill>
            <a:srgbClr val="3A8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0" y="1435608"/>
            <a:ext cx="23774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0B1F3A"/>
                </a:solidFill>
                <a:latin typeface="Segoe UI"/>
              </a:rPr>
              <a:t>41.6s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52560" y="2084832"/>
            <a:ext cx="2377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5B6677"/>
                </a:solidFill>
                <a:latin typeface="Segoe UI"/>
              </a:rPr>
              <a:t>Durée moyenne par question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269748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B1F3A"/>
                </a:solidFill>
                <a:latin typeface="Segoe UI Semibold"/>
              </a:rPr>
              <a:t>Le routeur (identify_sources)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310896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B1F27"/>
                </a:solidFill>
                <a:latin typeface="Segoe UI"/>
              </a:rPr>
              <a:t>Source identifiée correctement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43400" y="3127248"/>
            <a:ext cx="1060704" cy="237744"/>
          </a:xfrm>
          <a:prstGeom prst="roundRect">
            <a:avLst>
              <a:gd name="adj" fmla="val 30000"/>
            </a:avLst>
          </a:prstGeom>
          <a:solidFill>
            <a:srgbClr val="3A8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343400" y="3127248"/>
            <a:ext cx="1828800" cy="237744"/>
          </a:xfrm>
          <a:prstGeom prst="roundRect">
            <a:avLst>
              <a:gd name="adj" fmla="val 30000"/>
            </a:avLst>
          </a:prstGeom>
          <a:noFill/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63640" y="3090672"/>
            <a:ext cx="640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B1F3A"/>
                </a:solidFill>
                <a:latin typeface="Segoe UI"/>
              </a:rPr>
              <a:t>58%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356616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B1F27"/>
                </a:solidFill>
                <a:latin typeface="Segoe UI"/>
              </a:rPr>
              <a:t>Difficulté identifiée correctement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43400" y="3584448"/>
            <a:ext cx="1170432" cy="237744"/>
          </a:xfrm>
          <a:prstGeom prst="roundRect">
            <a:avLst>
              <a:gd name="adj" fmla="val 30000"/>
            </a:avLst>
          </a:prstGeom>
          <a:solidFill>
            <a:srgbClr val="3A8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343400" y="3584448"/>
            <a:ext cx="1828800" cy="237744"/>
          </a:xfrm>
          <a:prstGeom prst="roundRect">
            <a:avLst>
              <a:gd name="adj" fmla="val 30000"/>
            </a:avLst>
          </a:prstGeom>
          <a:noFill/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63640" y="3547872"/>
            <a:ext cx="640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B1F3A"/>
                </a:solidFill>
                <a:latin typeface="Segoe UI"/>
              </a:rPr>
              <a:t>64%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420624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B1F3A"/>
                </a:solidFill>
                <a:latin typeface="Segoe UI Semibold"/>
              </a:rPr>
              <a:t>Boucle de correction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4572000"/>
            <a:ext cx="54864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150" b="1">
                <a:solidFill>
                  <a:srgbClr val="FF6B35"/>
                </a:solidFill>
                <a:latin typeface="Segoe UI"/>
              </a:rPr>
              <a:t>—  </a:t>
            </a:r>
            <a:r>
              <a:rPr sz="1150">
                <a:solidFill>
                  <a:srgbClr val="1B1F27"/>
                </a:solidFill>
                <a:latin typeface="Segoe UI"/>
              </a:rPr>
              <a:t>Grading déclenché sur 82% des questions (non factuelles)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150" b="1">
                <a:solidFill>
                  <a:srgbClr val="FF6B35"/>
                </a:solidFill>
                <a:latin typeface="Segoe UI"/>
              </a:rPr>
              <a:t>—  </a:t>
            </a:r>
            <a:r>
              <a:rPr sz="1150">
                <a:solidFill>
                  <a:srgbClr val="1B1F27"/>
                </a:solidFill>
                <a:latin typeface="Segoe UI"/>
              </a:rPr>
              <a:t>Reformulation effectivement lancée sur 28% des questions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150" b="1">
                <a:solidFill>
                  <a:srgbClr val="FF6B35"/>
                </a:solidFill>
                <a:latin typeface="Segoe UI"/>
              </a:rPr>
              <a:t>—  </a:t>
            </a:r>
            <a:r>
              <a:rPr sz="1150">
                <a:solidFill>
                  <a:srgbClr val="1B1F27"/>
                </a:solidFill>
                <a:latin typeface="Segoe UI"/>
              </a:rPr>
              <a:t>Re-ranking : précision améliorée de +1.3 point en moyenne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92240" y="2697480"/>
            <a:ext cx="5212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B1F3A"/>
                </a:solidFill>
                <a:latin typeface="Segoe UI Semibold"/>
              </a:rPr>
              <a:t>Exemples — questions factuelles (Niveau 1)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92240" y="3108960"/>
            <a:ext cx="5212080" cy="713232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75120" y="3172968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1B8A80"/>
                </a:solidFill>
                <a:latin typeface="Segoe UI Semibold"/>
              </a:rPr>
              <a:t>L1_ENS_001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75120" y="3438144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1B1F27"/>
                </a:solidFill>
                <a:latin typeface="Segoe UI"/>
              </a:rPr>
              <a:t>Combien d'étudiant·e·s/an le DMA sélectionne-t-il ?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012680" y="3182112"/>
            <a:ext cx="1463040" cy="256032"/>
          </a:xfrm>
          <a:prstGeom prst="roundRect">
            <a:avLst>
              <a:gd name="adj" fmla="val 50000"/>
            </a:avLst>
          </a:prstGeom>
          <a:solidFill>
            <a:srgbClr val="3A8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Segoe UI Semibold"/>
              </a:rPr>
              <a:t>32.2s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012680" y="3493008"/>
            <a:ext cx="1463040" cy="256032"/>
          </a:xfrm>
          <a:prstGeom prst="roundRect">
            <a:avLst>
              <a:gd name="adj" fmla="val 50000"/>
            </a:avLst>
          </a:prstGeom>
          <a:solidFill>
            <a:srgbClr val="2EA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Segoe UI Semibold"/>
              </a:rPr>
              <a:t>score 0.992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492240" y="3931920"/>
            <a:ext cx="5212080" cy="713232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675120" y="3995928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1B8A80"/>
                </a:solidFill>
                <a:latin typeface="Segoe UI Semibold"/>
              </a:rPr>
              <a:t>L1_ENS_002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75120" y="4261104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1B1F27"/>
                </a:solidFill>
                <a:latin typeface="Segoe UI"/>
              </a:rPr>
              <a:t>Question factuelle sur l'ENS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012680" y="4005072"/>
            <a:ext cx="1463040" cy="256032"/>
          </a:xfrm>
          <a:prstGeom prst="roundRect">
            <a:avLst>
              <a:gd name="adj" fmla="val 50000"/>
            </a:avLst>
          </a:prstGeom>
          <a:solidFill>
            <a:srgbClr val="3A8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Segoe UI Semibold"/>
              </a:rPr>
              <a:t>39.2s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0012680" y="4315968"/>
            <a:ext cx="1463040" cy="256032"/>
          </a:xfrm>
          <a:prstGeom prst="roundRect">
            <a:avLst>
              <a:gd name="adj" fmla="val 50000"/>
            </a:avLst>
          </a:prstGeom>
          <a:solidFill>
            <a:srgbClr val="2EA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Segoe UI Semibold"/>
              </a:rPr>
              <a:t>score 0.996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492240" y="4754880"/>
            <a:ext cx="5212080" cy="713232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675120" y="4818888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1B8A80"/>
                </a:solidFill>
                <a:latin typeface="Segoe UI Semibold"/>
              </a:rPr>
              <a:t>L1_ENS_003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75120" y="5084064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1B1F27"/>
                </a:solidFill>
                <a:latin typeface="Segoe UI"/>
              </a:rPr>
              <a:t>Question factuelle sur l'ENS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0012680" y="4828032"/>
            <a:ext cx="1463040" cy="256032"/>
          </a:xfrm>
          <a:prstGeom prst="roundRect">
            <a:avLst>
              <a:gd name="adj" fmla="val 50000"/>
            </a:avLst>
          </a:prstGeom>
          <a:solidFill>
            <a:srgbClr val="3A8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Segoe UI Semibold"/>
              </a:rPr>
              <a:t>23.4s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0012680" y="5138928"/>
            <a:ext cx="1463040" cy="256032"/>
          </a:xfrm>
          <a:prstGeom prst="roundRect">
            <a:avLst>
              <a:gd name="adj" fmla="val 50000"/>
            </a:avLst>
          </a:prstGeom>
          <a:solidFill>
            <a:srgbClr val="2EA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Segoe UI Semibold"/>
              </a:rPr>
              <a:t>score 0.949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02920" y="6547104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RAG Aquila — Système RAG Agentique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972800" y="654710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14/17</a:t>
            </a:r>
          </a:p>
        </p:txBody>
      </p:sp>
      <p:sp>
        <p:nvSpPr>
          <p:cNvPr id="51" name="Rectangle 50"/>
          <p:cNvSpPr/>
          <p:nvPr/>
        </p:nvSpPr>
        <p:spPr>
          <a:xfrm>
            <a:off x="0" y="6492240"/>
            <a:ext cx="12191695" cy="9525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10920"/>
            <a:ext cx="12191695" cy="4064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EC4B6"/>
                </a:solidFill>
                <a:latin typeface="Segoe UI Semibold"/>
              </a:rPr>
              <a:t>SYNTHÈSE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38404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Segoe UI"/>
              </a:rPr>
              <a:t>Ce qui rend Aquila différent d'un RAG classique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1120140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371600"/>
            <a:ext cx="82296" cy="841248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481328"/>
            <a:ext cx="329184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0B1F3A"/>
                </a:solidFill>
                <a:latin typeface="Segoe UI Semibold"/>
              </a:rPr>
              <a:t>Agentique, pas linéaire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6240" y="1536192"/>
            <a:ext cx="7315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B6677"/>
                </a:solidFill>
                <a:latin typeface="Segoe UI"/>
              </a:rPr>
              <a:t>Le système décide, juge sa propre qualité et se corrige — au lieu d'un retrieve→generate figé.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331720"/>
            <a:ext cx="1120140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2331720"/>
            <a:ext cx="82296" cy="841248"/>
          </a:xfrm>
          <a:prstGeom prst="rect">
            <a:avLst/>
          </a:prstGeom>
          <a:solidFill>
            <a:srgbClr val="3A8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441448"/>
            <a:ext cx="329184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0B1F3A"/>
                </a:solidFill>
                <a:latin typeface="Segoe UI Semibold"/>
              </a:rPr>
              <a:t>Hybride et robuste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6240" y="2496312"/>
            <a:ext cx="7315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B6677"/>
                </a:solidFill>
                <a:latin typeface="Segoe UI"/>
              </a:rPr>
              <a:t>Sémantique + lexical + re-ranking + déduplication : moins de chunks hors-sujet ou redondants.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291839"/>
            <a:ext cx="1120140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3291839"/>
            <a:ext cx="82296" cy="841248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3401568"/>
            <a:ext cx="329184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0B1F3A"/>
                </a:solidFill>
                <a:latin typeface="Segoe UI Semibold"/>
              </a:rPr>
              <a:t>Anti-hallucination dès l'ingestion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06240" y="3456432"/>
            <a:ext cx="7315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B6677"/>
                </a:solidFill>
                <a:latin typeface="Segoe UI"/>
              </a:rPr>
              <a:t>Le split par LLM est validé mot à mot ; en cas de doute, un découpage déterministe prend le relais.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251959"/>
            <a:ext cx="1120140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4251959"/>
            <a:ext cx="82296" cy="841248"/>
          </a:xfrm>
          <a:prstGeom prst="rect">
            <a:avLst/>
          </a:prstGeom>
          <a:solidFill>
            <a:srgbClr val="8A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361688"/>
            <a:ext cx="329184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0B1F3A"/>
                </a:solidFill>
                <a:latin typeface="Segoe UI Semibold"/>
              </a:rPr>
              <a:t>Auto-évalué en continu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06240" y="4416551"/>
            <a:ext cx="7315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B6677"/>
                </a:solidFill>
                <a:latin typeface="Segoe UI"/>
              </a:rPr>
              <a:t>RAGAS + évaluation par composant permettent de savoir précisément quelle brique sous-performe.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5212079"/>
            <a:ext cx="1120140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" y="5212079"/>
            <a:ext cx="82296" cy="841248"/>
          </a:xfrm>
          <a:prstGeom prst="rect">
            <a:avLst/>
          </a:prstGeom>
          <a:solidFill>
            <a:srgbClr val="1B8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5321807"/>
            <a:ext cx="329184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0B1F3A"/>
                </a:solidFill>
                <a:latin typeface="Segoe UI Semibold"/>
              </a:rPr>
              <a:t>100% local et reproductible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06240" y="5376671"/>
            <a:ext cx="7315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B6677"/>
                </a:solidFill>
                <a:latin typeface="Segoe UI"/>
              </a:rPr>
              <a:t>Ollama + ChromaDB : aucune dépendance à une API externe, déployable en local ou sur Colab.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547104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RAG Aquila — Système RAG Agentique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0" y="654710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15/17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492240"/>
            <a:ext cx="12191695" cy="9525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10920"/>
            <a:ext cx="12191695" cy="4064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6B35"/>
                </a:solidFill>
                <a:latin typeface="Segoe UI Semibold"/>
              </a:rPr>
              <a:t>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38404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Segoe UI"/>
              </a:rPr>
              <a:t>Bilan et pistes d'amélioration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280160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B1F3A"/>
                </a:solidFill>
                <a:latin typeface="Segoe UI Semibold"/>
              </a:rPr>
              <a:t>Bilan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539496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300" b="1">
                <a:solidFill>
                  <a:srgbClr val="2EC4B6"/>
                </a:solidFill>
                <a:latin typeface="Segoe UI"/>
              </a:rPr>
              <a:t>—  </a:t>
            </a:r>
            <a:r>
              <a:rPr sz="1300">
                <a:solidFill>
                  <a:srgbClr val="1B1F27"/>
                </a:solidFill>
                <a:latin typeface="Segoe UI"/>
              </a:rPr>
              <a:t>Pipeline complet et opérationnel : ingestion → agent → évaluation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300" b="1">
                <a:solidFill>
                  <a:srgbClr val="2EC4B6"/>
                </a:solidFill>
                <a:latin typeface="Segoe UI"/>
              </a:rPr>
              <a:t>—  </a:t>
            </a:r>
            <a:r>
              <a:rPr sz="1300">
                <a:solidFill>
                  <a:srgbClr val="1B1F27"/>
                </a:solidFill>
                <a:latin typeface="Segoe UI"/>
              </a:rPr>
              <a:t>Retrieval très solide : ~95% de précision et de rappel de contexte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300" b="1">
                <a:solidFill>
                  <a:srgbClr val="2EC4B6"/>
                </a:solidFill>
                <a:latin typeface="Segoe UI"/>
              </a:rPr>
              <a:t>—  </a:t>
            </a:r>
            <a:r>
              <a:rPr sz="1300">
                <a:solidFill>
                  <a:srgbClr val="1B1F27"/>
                </a:solidFill>
                <a:latin typeface="Segoe UI"/>
              </a:rPr>
              <a:t>Génération fidèle au contexte dans 83.5% des cas (Faithfulness)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300" b="1">
                <a:solidFill>
                  <a:srgbClr val="2EC4B6"/>
                </a:solidFill>
                <a:latin typeface="Segoe UI"/>
              </a:rPr>
              <a:t>—  </a:t>
            </a:r>
            <a:r>
              <a:rPr sz="1300">
                <a:solidFill>
                  <a:srgbClr val="1B1F27"/>
                </a:solidFill>
                <a:latin typeface="Segoe UI"/>
              </a:rPr>
              <a:t>Architecture modulaire : chaque brique est testable et remplaçable indépendamment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63640" y="1280160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B1F3A"/>
                </a:solidFill>
                <a:latin typeface="Segoe UI Semibold"/>
              </a:rPr>
              <a:t>Pistes d'amélioration identifiées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1691640"/>
            <a:ext cx="539496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300" b="1">
                <a:solidFill>
                  <a:srgbClr val="FF6B35"/>
                </a:solidFill>
                <a:latin typeface="Segoe UI"/>
              </a:rPr>
              <a:t>—  </a:t>
            </a:r>
            <a:r>
              <a:rPr sz="1300">
                <a:solidFill>
                  <a:srgbClr val="1B1F27"/>
                </a:solidFill>
                <a:latin typeface="Segoe UI"/>
              </a:rPr>
              <a:t>Routeur (identify_sources) à fiabiliser : 58% de précision sur la source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300" b="1">
                <a:solidFill>
                  <a:srgbClr val="FF6B35"/>
                </a:solidFill>
                <a:latin typeface="Segoe UI"/>
              </a:rPr>
              <a:t>—  </a:t>
            </a:r>
            <a:r>
              <a:rPr sz="1300">
                <a:solidFill>
                  <a:srgbClr val="1B1F27"/>
                </a:solidFill>
                <a:latin typeface="Segoe UI"/>
              </a:rPr>
              <a:t>Grading parfois trop laxiste vs le juge externe (17% d'écart) — affiner le prompt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300" b="1">
                <a:solidFill>
                  <a:srgbClr val="FF6B35"/>
                </a:solidFill>
                <a:latin typeface="Segoe UI"/>
              </a:rPr>
              <a:t>—  </a:t>
            </a:r>
            <a:r>
              <a:rPr sz="1300">
                <a:solidFill>
                  <a:srgbClr val="1B1F27"/>
                </a:solidFill>
                <a:latin typeface="Segoe UI"/>
              </a:rPr>
              <a:t>Étendre le corpus à d'autres brochures pour généraliser le pipeline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300" b="1">
                <a:solidFill>
                  <a:srgbClr val="FF6B35"/>
                </a:solidFill>
                <a:latin typeface="Segoe UI"/>
              </a:rPr>
              <a:t>—  </a:t>
            </a:r>
            <a:r>
              <a:rPr sz="1300">
                <a:solidFill>
                  <a:srgbClr val="1B1F27"/>
                </a:solidFill>
                <a:latin typeface="Segoe UI"/>
              </a:rPr>
              <a:t>Explorer un re-ranking adaptatif selon la difficulté de la question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47104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RAG Aquila — Système RAG Agentique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54710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16/17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492240"/>
            <a:ext cx="12191695" cy="9525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144000" y="-1188720"/>
            <a:ext cx="5029200" cy="5029200"/>
          </a:xfrm>
          <a:prstGeom prst="ellipse">
            <a:avLst/>
          </a:prstGeom>
          <a:solidFill>
            <a:srgbClr val="12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371600" y="4572000"/>
            <a:ext cx="4114800" cy="4114800"/>
          </a:xfrm>
          <a:prstGeom prst="ellipse">
            <a:avLst/>
          </a:prstGeom>
          <a:solidFill>
            <a:srgbClr val="1B8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65176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 i="0">
                <a:solidFill>
                  <a:srgbClr val="FFFFFF"/>
                </a:solidFill>
                <a:latin typeface="Segoe UI"/>
              </a:rPr>
              <a:t>Merci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611880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2EC4B6"/>
                </a:solidFill>
                <a:latin typeface="Segoe UI"/>
              </a:rPr>
              <a:t>Questions sur le projet RAG Aquila 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1264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1">
                <a:solidFill>
                  <a:srgbClr val="5B6677"/>
                </a:solidFill>
                <a:latin typeface="Segoe UI"/>
              </a:rPr>
              <a:t>Projet Aquila — RAG Agentique sur documents académiques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RAG Aquila — Système RAG Agentique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54710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17/17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92240"/>
            <a:ext cx="12191695" cy="9525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