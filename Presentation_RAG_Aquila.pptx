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371600"/>
            <a:ext cx="5486400" cy="548640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206240"/>
            <a:ext cx="3657600" cy="3657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548640"/>
            <a:ext cx="164592" cy="16459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548640"/>
            <a:ext cx="164592" cy="164592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548640"/>
            <a:ext cx="164592" cy="164592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548640"/>
            <a:ext cx="164592" cy="164592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19072" y="548640"/>
            <a:ext cx="164592" cy="16459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C4B6"/>
                </a:solidFill>
                <a:latin typeface="Segoe UI Semibold"/>
              </a:rPr>
              <a:t>PROJET AQUILA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43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Segoe UI"/>
              </a:rPr>
              <a:t>RAG Agentique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6E6"/>
                </a:solidFill>
                <a:latin typeface="Segoe UI"/>
              </a:rPr>
              <a:t>Un système de question-réponse local, agentique et auto-évalué</a:t>
            </a:r>
          </a:p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6E6"/>
                </a:solidFill>
                <a:latin typeface="Segoe UI"/>
              </a:rPr>
              <a:t>sur des documents académiques (ENS · Sorbonne)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613916" cy="384048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LangGraph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63724" y="4892040"/>
            <a:ext cx="3959352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Ollama / bge-m3 / gemma4:12b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4244" y="489204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ChromaDB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5883" y="4892040"/>
            <a:ext cx="1120140" cy="384048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RAGAS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677"/>
                </a:solidFill>
                <a:latin typeface="Segoe UI"/>
              </a:rPr>
              <a:t>Présentation technique complète du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01/30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Plan de la présentation — 2 parties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8A80"/>
                </a:solidFill>
                <a:latin typeface="Segoe UI Semibold"/>
              </a:rPr>
              <a:t>PARTIE 1 — PRÉSENTATION DU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07008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PARTIE 2 — ÉVALUATION BRIQUE PAR BRIQUE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36192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36192"/>
            <a:ext cx="73152" cy="7772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1848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EC4B6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1609344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Contexte, cas d'usage &amp; 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1911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Pourquoi un RAG agentique local ? 50 questions ENS/Sorbonne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536192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536192"/>
            <a:ext cx="73152" cy="7772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61848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86FF"/>
                </a:solidFill>
                <a:latin typeface="Segoe UI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1609344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Vue d'ensemble &amp; capture des états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1911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Séparer exécution (run_agentic_all) et scoring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432304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32304"/>
            <a:ext cx="73152" cy="7772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5146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86FF"/>
                </a:solidFill>
                <a:latin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2505456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Architecture &amp; pipeline d'ingestion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280720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 phases du système, du PDF à la base vectorielle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2432304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2432304"/>
            <a:ext cx="73152" cy="7772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5146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EC4B6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7728" y="2505456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Briques ①②③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280720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Router, Retrieval, Re-ranking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328416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328416"/>
            <a:ext cx="73152" cy="7772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4107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6B35"/>
                </a:solidFill>
                <a:latin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3401568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Cœur agentique (LangGraph)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44168" y="370332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Le Routeur, le graphe de décision et ses boucles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3328416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3328416"/>
            <a:ext cx="73152" cy="7772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34107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6B35"/>
                </a:solidFill>
                <a:latin typeface="Segoe UI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3401568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Briques ④⑤⑥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728" y="370332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Grading (matrice de confusion), Rewriting, Generation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224528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4224528"/>
            <a:ext cx="73152" cy="7772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306824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8A5CF6"/>
                </a:solidFill>
                <a:latin typeface="Segoe U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44168" y="4297680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Les 3 niveaux de difficulté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4168" y="459943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Factuel, synthèse, complexe : un schéma dédié à chacun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4224528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26480" y="4224528"/>
            <a:ext cx="73152" cy="7772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4306824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8A5CF6"/>
                </a:solidFill>
                <a:latin typeface="Segoe UI"/>
              </a:rPr>
              <a:t>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7728" y="4297680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Flux complet &amp; récapitulatif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7728" y="459943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Exemple détaillé + tableau outil par brique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120640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5120640"/>
            <a:ext cx="73152" cy="777240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20293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B8A80"/>
                </a:solidFill>
                <a:latin typeface="Segoe UI"/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44168" y="5193792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Retrieval, stack &amp; déploiement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44168" y="549554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MMR+BM25+RRF+rerank, modèles, local vs Colab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26480" y="5120640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120640"/>
            <a:ext cx="73152" cy="77724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55080" y="520293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64A4A"/>
                </a:solidFill>
                <a:latin typeface="Segoe U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67728" y="5193792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Résultats &amp; limites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549554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Chiffres mesurés et biais connus de l'évaluation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02/30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Pourquoi un RAG agentique local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Les étudiants doivent fouiller des brochures PDF longues et denses (ENS, Sorbonne) pour trouver une information précise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Un chatbot généraliste (ChatGPT) ne connaît pas le contenu exact de ces brochures et peut halluciner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Les données académiques ne doivent pas être envoyées à des API externes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Une simple recherche par mots-clés échoue sur les questions de synthèse ou de comparaison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29844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La réponse : RAG agentique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916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100% local : LLM (Ollama) + base vectorielle (ChromaDB) — aucune donnée ne sort de la machine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Agentique : un graphe de décision (LangGraph) choisit la source, juge la qualité du contexte et reformule si besoin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Retrieval hybride avancé : recherche sémantique + lexicale fusionnées et re-classées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Auto-évalué : pipeline testé sur 50 questions avec métriques RAGAS et évaluation par composant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760720"/>
            <a:ext cx="11201400" cy="566928"/>
          </a:xfrm>
          <a:prstGeom prst="roundRect">
            <a:avLst>
              <a:gd name="adj" fmla="val 18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978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Segoe UI"/>
              </a:rPr>
              <a:t>Objectif : remplacer une recherche manuelle dans un PDF par un agent qui retrouve, vérifie et cite la bonne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03/30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CAS D'USAGE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Données et jeu de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Documents 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500" b="1">
                <a:solidFill>
                  <a:srgbClr val="0B1F3A"/>
                </a:solidFill>
                <a:latin typeface="Segoe UI Semibold"/>
              </a:rPr>
              <a:t>ENS.pdf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Brochure DMA 2024-2025
78 pages · ~1.4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627632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500" b="1">
                <a:solidFill>
                  <a:srgbClr val="0B1F3A"/>
                </a:solidFill>
                <a:latin typeface="Segoe UI Semibold"/>
              </a:rPr>
              <a:t>SORBONNE.pdf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Brochure Master 2025-2026
~764 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Dataset de test : 50 questions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1
Factuel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11 questions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6312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2
Synthèse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19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9704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3
Complexe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20 questions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2344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Répartition par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9164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Sorbonne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71907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171907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169164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945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ENS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222199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58200" y="2221992"/>
            <a:ext cx="1496290" cy="237744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0" y="219456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82%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9748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ENS + Sorbonne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272491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58200" y="2724912"/>
            <a:ext cx="831272" cy="237744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0" y="269748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45%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3832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Chaque question référence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749039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Une réponse attendue (vérité terrain) pour l'évaluation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Le(s) document(s) et page(s) sources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 niveau de difficulté RAG (1 à 3) fixé au départ — utilisé comme référence d'évaluation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Une section thématique du document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04/30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ARCHITECTURE GLOBALE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Trois phases du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423513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423513" cy="960120"/>
          </a:xfrm>
          <a:prstGeom prst="roundRect">
            <a:avLst>
              <a:gd name="adj" fmla="val 5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3423513" cy="5943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18488"/>
            <a:ext cx="30211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13432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Une seule fois, par document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2606040"/>
            <a:ext cx="3021177" cy="292608"/>
          </a:xfrm>
          <a:prstGeom prst="roundRect">
            <a:avLst>
              <a:gd name="adj" fmla="val 25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2633472"/>
            <a:ext cx="287487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1" i="0">
                <a:solidFill>
                  <a:srgbClr val="2EC4B6"/>
                </a:solidFill>
                <a:latin typeface="Segoe UI Semibold"/>
              </a:rPr>
              <a:t>ingest.py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99923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_load_pdf() — extraction PDF → Markdown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64991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_concat_pages() — recollement + repères de 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73075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_presplit_by_headers() — découpe par titres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09651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_agentic_split_section() — LLM (gemma4:12b)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46227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_fallback_split_large() — sécurité déterministe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5897880"/>
            <a:ext cx="3021177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989320"/>
            <a:ext cx="302117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2EC4B6"/>
                </a:solidFill>
                <a:latin typeface="Segoe UI Semibold"/>
              </a:rPr>
              <a:t>→ produit : vector_db/ (ChromaDB)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44721" y="3703320"/>
            <a:ext cx="374904" cy="0"/>
          </a:xfrm>
          <a:prstGeom prst="line">
            <a:avLst/>
          </a:prstGeom>
          <a:ln w="3810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83633" y="1298448"/>
            <a:ext cx="3423513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83633" y="1298448"/>
            <a:ext cx="3423513" cy="960120"/>
          </a:xfrm>
          <a:prstGeom prst="roundRect">
            <a:avLst>
              <a:gd name="adj" fmla="val 5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3633" y="1664208"/>
            <a:ext cx="3423513" cy="59436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4801" y="1371600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PHASE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4801" y="1618488"/>
            <a:ext cx="30211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Question / Réponse agentique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4801" y="2313432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À chaque question posée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84801" y="2606040"/>
            <a:ext cx="3021177" cy="292608"/>
          </a:xfrm>
          <a:prstGeom prst="roundRect">
            <a:avLst>
              <a:gd name="adj" fmla="val 25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4529" y="2633472"/>
            <a:ext cx="287487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1" i="0">
                <a:solidFill>
                  <a:srgbClr val="FF6B35"/>
                </a:solidFill>
                <a:latin typeface="Segoe UI Semibold"/>
              </a:rPr>
              <a:t>agent.py (graphe LangGraph)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4801" y="299923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identify_sources — le Routeur (source + difficulté)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4801" y="3364991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retrieve_node — retrieval hybride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801" y="373075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grade_documents — juge la suffisance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4801" y="409651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rewrite_query — reformule si besoin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4801" y="446227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generate_node — génère la réponse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84801" y="5897880"/>
            <a:ext cx="3021177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84801" y="5989320"/>
            <a:ext cx="302117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F6B35"/>
                </a:solidFill>
                <a:latin typeface="Segoe UI Semibold"/>
              </a:rPr>
              <a:t>→ produit : une réponse + un historique d'exécution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825434" y="3703320"/>
            <a:ext cx="374904" cy="0"/>
          </a:xfrm>
          <a:prstGeom prst="line">
            <a:avLst/>
          </a:prstGeom>
          <a:ln w="3810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264347" y="1298448"/>
            <a:ext cx="3423513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64347" y="1298448"/>
            <a:ext cx="3423513" cy="960120"/>
          </a:xfrm>
          <a:prstGeom prst="roundRect">
            <a:avLst>
              <a:gd name="adj" fmla="val 5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64347" y="1664208"/>
            <a:ext cx="3423513" cy="59436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65515" y="1371600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PHASE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5515" y="1618488"/>
            <a:ext cx="30211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Évaluation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65515" y="2313432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Sur l'ensemble du dataset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65515" y="2606040"/>
            <a:ext cx="3021177" cy="292608"/>
          </a:xfrm>
          <a:prstGeom prst="roundRect">
            <a:avLst>
              <a:gd name="adj" fmla="val 25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75243" y="2633472"/>
            <a:ext cx="287487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1" i="0">
                <a:solidFill>
                  <a:srgbClr val="8A5CF6"/>
                </a:solidFill>
                <a:latin typeface="Segoe UI Semibold"/>
              </a:rPr>
              <a:t>run_agentic_all.py / evaluate_*.py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5515" y="299923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run_agentic_all.py — exécute les 50 questions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65515" y="3364991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→ agentic_results_debug.json (états détaillés)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5515" y="373075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evaluate_ragas.py — 5 métriques RAGAS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65515" y="409651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evaluate_components.py — 6 briques (relit le debug)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65515" y="5897880"/>
            <a:ext cx="3021177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65515" y="5989320"/>
            <a:ext cx="302117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8A5CF6"/>
                </a:solidFill>
                <a:latin typeface="Segoe UI Semibold"/>
              </a:rPr>
              <a:t>→ produit : ragas_evaluation.csv / component_evaluation.csv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05/30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PHASE 1 —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Du PDF brut à la base vectorielle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316736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73100" y="1682496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280160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280160"/>
            <a:ext cx="54864" cy="566927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1321308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Extraction page par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321308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Chaque page du PDF est convertie en texte Markdown séparément (pymupdf4llm).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1947671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100" y="2313431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1911095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51560" y="1911095"/>
            <a:ext cx="54864" cy="566927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1952243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Nettoyage du texte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952243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Réparation des problèmes d'encodage et suppression automatique des sommaires détectés.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2578608"/>
            <a:ext cx="365760" cy="365760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3100" y="2944368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51560" y="2542032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2542032"/>
            <a:ext cx="54864" cy="566927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258318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Recollement en un seul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583180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Les pages sont mises bout à bout ; un repère discret garde juste en mémoire le numéro de page d'origine, pour pouvoir citer la source plus tard.</a:t>
            </a:r>
          </a:p>
        </p:txBody>
      </p:sp>
      <p:sp>
        <p:nvSpPr>
          <p:cNvPr id="24" name="Oval 23"/>
          <p:cNvSpPr/>
          <p:nvPr/>
        </p:nvSpPr>
        <p:spPr>
          <a:xfrm>
            <a:off x="502920" y="3209544"/>
            <a:ext cx="365760" cy="365760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3100" y="3575304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1560" y="3172968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" y="3172968"/>
            <a:ext cx="54864" cy="566927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61872" y="3214116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Découpage par titres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3214116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Le document est coupé selon ses titres et sous-titres — ce découpage ignore volontairement les frontières de page.</a:t>
            </a:r>
          </a:p>
        </p:txBody>
      </p:sp>
      <p:sp>
        <p:nvSpPr>
          <p:cNvPr id="30" name="Oval 29"/>
          <p:cNvSpPr/>
          <p:nvPr/>
        </p:nvSpPr>
        <p:spPr>
          <a:xfrm>
            <a:off x="502920" y="3840480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3100" y="4206240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51560" y="3803904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1560" y="3803904"/>
            <a:ext cx="54864" cy="56692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61872" y="3845052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Affinage par un LLM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3845052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gemma4:12b relit chaque grande section et insère des séparateurs entre sous-parties cohérentes, sans jamais réécrire le texte original.</a:t>
            </a:r>
          </a:p>
        </p:txBody>
      </p:sp>
      <p:sp>
        <p:nvSpPr>
          <p:cNvPr id="36" name="Oval 35"/>
          <p:cNvSpPr/>
          <p:nvPr/>
        </p:nvSpPr>
        <p:spPr>
          <a:xfrm>
            <a:off x="502920" y="4471416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3100" y="4837176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51560" y="4434840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1560" y="4434840"/>
            <a:ext cx="54864" cy="56692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1872" y="4475988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Vérification anti-hallucination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4475988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On vérifie qu'au moins 60% des mots du texte d'origine sont toujours présents ; sinon, le découpage du LLM est ignoré.</a:t>
            </a:r>
          </a:p>
        </p:txBody>
      </p:sp>
      <p:sp>
        <p:nvSpPr>
          <p:cNvPr id="42" name="Oval 41"/>
          <p:cNvSpPr/>
          <p:nvPr/>
        </p:nvSpPr>
        <p:spPr>
          <a:xfrm>
            <a:off x="502920" y="5102351"/>
            <a:ext cx="365760" cy="365760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3100" y="5468111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51560" y="5065775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51560" y="5065775"/>
            <a:ext cx="54864" cy="566927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61872" y="5106923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Sécurité finale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5106923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Si un morceau reste trop long malgré tout, un découpage automatique (sans LLM) prend le relais.</a:t>
            </a:r>
          </a:p>
        </p:txBody>
      </p:sp>
      <p:sp>
        <p:nvSpPr>
          <p:cNvPr id="48" name="Oval 47"/>
          <p:cNvSpPr/>
          <p:nvPr/>
        </p:nvSpPr>
        <p:spPr>
          <a:xfrm>
            <a:off x="502920" y="5733288"/>
            <a:ext cx="365760" cy="36576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51560" y="5696712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1560" y="5696712"/>
            <a:ext cx="54864" cy="566927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61872" y="573786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Mise en contexte et vectorisation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5737860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Chaque chunk reçoit un en-tête (document, page, titres, mots-clés), puis est transformé en vecteur (bge-m3) et stocké dans ChromaDB.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06/30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ZOOM —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Le split agentique anti-hallucination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7"/>
                </a:solidFill>
                <a:latin typeface="Segoe UI"/>
              </a:rPr>
              <a:t>Un LLM (gemma4:12b) découpe les longues sections en sous-parties cohérentes, sans jamais réécrire le texte.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286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Bloc de section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Texte brut Markdown
(&gt; 800 caractères)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468880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291840" y="1874519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LLM gemma4:12b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Insère uniquement des
marqueurs ===SPLIT===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468880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6492240" y="1691640"/>
            <a:ext cx="2286000" cy="15544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≥ 60% des mots
d'origine présents ?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778240" y="2011680"/>
            <a:ext cx="502920" cy="9144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281160" y="1691640"/>
            <a:ext cx="24231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Validé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Sous-chunks conservés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0" y="2834640"/>
            <a:ext cx="50292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281160" y="2606040"/>
            <a:ext cx="24231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Rejeté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Fallback : bloc original conservé intact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Règles absolues respectées par le 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couper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un tableau Markdown au milieu d'une ligne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19272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3864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couper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une liste à puces ou numérotée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35624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0216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résumer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ou reformuler — uniquement insérer des marqueurs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51976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51976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7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Toujours garder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7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le texte source identique caractère pour caractère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86400"/>
            <a:ext cx="11201400" cy="822960"/>
          </a:xfrm>
          <a:prstGeom prst="roundRect">
            <a:avLst>
              <a:gd name="adj" fmla="val 1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60527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Garde-fou final : si le split agentique échoue ou produit un bloc encore trop long, un découpage déterministe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(sans LLM, basé sur la taille et la structure du texte) prend le relais. Zéro appel LLM à cette étape = zéro hallucination possible.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07/30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PHASE 2 — CŒUR AGENTIQUE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Le graphe de décision LangGraph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identify_sources
source(s) + difficulté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41732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② Retrieval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retrieve_node
MMR + BM25 + RRF + rerank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41732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generate_node
temperature =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554480"/>
            <a:ext cx="1005840" cy="50292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06040" y="1805940"/>
            <a:ext cx="2743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83480" y="1805940"/>
            <a:ext cx="2743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434840" y="1188720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5B6677"/>
                </a:solidFill>
                <a:latin typeface="Segoe UI"/>
              </a:rPr>
              <a:t>Difficulté 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60920" y="1805940"/>
            <a:ext cx="246888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2743200" y="2606040"/>
            <a:ext cx="2377440" cy="118872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③ Grading
(grade_documents)
Chunks suffisants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4069080"/>
            <a:ext cx="237744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④ upgrade_difficulty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passe la difficulté à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4069080"/>
            <a:ext cx="237744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reformule la requête ciblée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1920" y="2194560"/>
            <a:ext cx="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023360" y="2249424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5B6677"/>
                </a:solidFill>
                <a:latin typeface="Segoe UI"/>
              </a:rPr>
              <a:t>Difficulté 2/3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074920" y="2212848"/>
            <a:ext cx="914400" cy="667512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166360" y="2514600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31920" y="3794760"/>
            <a:ext cx="0" cy="27432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041648" y="3822191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E64A4A"/>
                </a:solidFill>
                <a:latin typeface="Segoe UI"/>
              </a:rPr>
              <a:t>NON (diff&lt;3)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46320" y="3657600"/>
            <a:ext cx="777240" cy="41148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715000" y="3520440"/>
            <a:ext cx="1508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" b="0" i="1">
                <a:solidFill>
                  <a:srgbClr val="E64A4A"/>
                </a:solidFill>
                <a:latin typeface="Segoe UI"/>
              </a:rPr>
              <a:t>NON (diff=3)</a:t>
            </a:r>
          </a:p>
          <a:p>
            <a:pPr algn="l">
              <a:lnSpc>
                <a:spcPct val="100000"/>
              </a:lnSpc>
            </a:pPr>
            <a:r>
              <a:rPr sz="770" b="0" i="1">
                <a:solidFill>
                  <a:srgbClr val="E64A4A"/>
                </a:solidFill>
                <a:latin typeface="Segoe UI"/>
              </a:rPr>
              <a:t>direct, sans upgrade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4366260"/>
            <a:ext cx="2743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772400" y="4366260"/>
            <a:ext cx="237744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0149840" y="1143000"/>
            <a:ext cx="0" cy="320040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3931920" y="1143000"/>
            <a:ext cx="61722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931920" y="114300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80760" y="1161288"/>
            <a:ext cx="4023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1">
                <a:solidFill>
                  <a:srgbClr val="5B6677"/>
                </a:solidFill>
                <a:latin typeface="Segoe UI"/>
              </a:rPr>
              <a:t>2ᵉ tentative reformulée — maximum 1 fois (MAX_ATTEMPTS = 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44068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Logique d'optimisation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Difficulté 1 (factuel) : aucun grading, réponse directe après le 1er retrieval — économise des appels LLM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Difficulté 3 : la requête est décomposée en sous-questions dès le Routeur, sans HyDE au 1er passage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08/30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NIVEAU 1 — FACTUEL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Question factuelle : une information directe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11201400" cy="502920"/>
          </a:xfrm>
          <a:prstGeom prst="roundRect">
            <a:avLst>
              <a:gd name="adj" fmla="val 2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2529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FFFF"/>
                </a:solidFill>
                <a:latin typeface="Segoe UI"/>
              </a:rPr>
              <a:t>⚖  Ce niveau est jugé par le Routeur LLM (gemma4:12b) à chaque question — il peut différer du niveau réel fixé dans le dataset de test, et même être réévalué en cours de route si le contexte récupéré est insuffisant.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52044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Une date, un nombre, un nom, une liste courte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Une seule information suffit à répondre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Ex. : "Combien d'étudiant·e·s/an le DMA sélectionne-t-il 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9456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difficulté = 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29400" y="2578608"/>
            <a:ext cx="36576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0" y="219456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② Retrieval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HyDE désactivé
1 seul passage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3063239"/>
            <a:ext cx="0" cy="365761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06640" y="3081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B6677"/>
                </a:solidFill>
                <a:latin typeface="Segoe UI"/>
              </a:rPr>
              <a:t>pas de grading — réponse directe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47472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3858768"/>
            <a:ext cx="36576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0" y="3639312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40680" y="2971800"/>
            <a:ext cx="0" cy="502920"/>
          </a:xfrm>
          <a:prstGeom prst="line">
            <a:avLst/>
          </a:prstGeom>
          <a:ln w="28575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44348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Pourquoi cette logique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EC4B6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Inutile de générer une réponse hypothétique (HyDE) ou de faire juger le contexte par un LLM pour une information unique et explicite — cela économise 2 à 3 appels LLM par question.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64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352044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63270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11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05332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questions de ce niveau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dans le dataset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54864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548640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563270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≈ 2.6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605332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chunks récupérés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en moyenne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59" y="54864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9559" y="5486400"/>
            <a:ext cx="3520440" cy="548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19" y="563270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0999" y="605332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reformulations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déclenchées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09/30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86FF"/>
                </a:solidFill>
                <a:latin typeface="Segoe UI Semibold"/>
              </a:rPr>
              <a:t>NIVEAU 2 — 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Question de synthèse : combiner plusieurs informations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11201400" cy="502920"/>
          </a:xfrm>
          <a:prstGeom prst="roundRect">
            <a:avLst>
              <a:gd name="adj" fmla="val 2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2529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FFFF"/>
                </a:solidFill>
                <a:latin typeface="Segoe UI"/>
              </a:rPr>
              <a:t>⚖  Ce niveau est jugé par le Routeur LLM (gemma4:12b) à chaque question — il peut différer du niveau réel fixé dans le dataset de test, et même être réévalué en cours de route si le contexte récupéré est insuffisant.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52044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Nécessite de combiner plusieurs informations d'un même document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Demande d'expliquer un fonctionnement, pas juste un fait isolé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Ex. : "Comment fonctionne le tutorat à l'ENS 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78308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difficulté =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3172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297680" y="242316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② Retrieval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HyDE activé — réponse fictive générée puis vectorisée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63640" y="297180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4800600" y="3063240"/>
            <a:ext cx="2926080" cy="8686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③ Grading
Chunks suffisants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178308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3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1874519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515600" y="2057400"/>
            <a:ext cx="21031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726679" y="2331720"/>
            <a:ext cx="1051561" cy="91440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818120" y="2880360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263640" y="3931920"/>
            <a:ext cx="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183879" y="40690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E64A4A"/>
                </a:solidFill>
                <a:latin typeface="Segoe UI"/>
              </a:rPr>
              <a:t>NON → remonte à difficulté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402336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④ upgrade_difficulty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263640" y="448056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434840" y="457200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92440" y="4800600"/>
            <a:ext cx="34290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1521440" y="2697480"/>
            <a:ext cx="0" cy="2084832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229600" y="2697480"/>
            <a:ext cx="327355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21040" y="4572000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2ᵉ retrieval — pool = 3 anciens</a:t>
            </a:r>
          </a:p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chunks + 2 nouveaux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1937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Le HyDE rapproche la recherche vectorielle de l'espace des réponses attendues, utile quand l'information est diffuse dans le document.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532120"/>
            <a:ext cx="352044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19 / 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questions de ce niveau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dans le dataset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6240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06240" y="553212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43400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≈ 2.8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chunks récupérés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en moyenne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59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59" y="5532120"/>
            <a:ext cx="3520440" cy="548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19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21%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0999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reformulations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déclenchées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10/30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NIVEAU 3 — COMPLEXE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Question complexe : comparaison ou raisonnement croisé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11201400" cy="502920"/>
          </a:xfrm>
          <a:prstGeom prst="roundRect">
            <a:avLst>
              <a:gd name="adj" fmla="val 2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2529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FFFF"/>
                </a:solidFill>
                <a:latin typeface="Segoe UI"/>
              </a:rPr>
              <a:t>⚖  Ce niveau est jugé par le Routeur LLM (gemma4:12b) à chaque question — il peut différer du niveau réel fixé dans le dataset de test, et même être réévalué en cours de route si le contexte récupéré est insuffisant.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Nécessite de croiser plusieurs sources ou sections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Comparaisons, raisonnement multi-documents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Ex. : "Compare les ECTS L3 et M1 à l'ENS"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78308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difficulté = 3 — jusqu'à 2 sous-requêtes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5212080" y="2331720"/>
            <a:ext cx="2743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040880" y="2331720"/>
            <a:ext cx="2743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97680" y="2423160"/>
            <a:ext cx="1874519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950" b="1">
                <a:solidFill>
                  <a:srgbClr val="0B1F3A"/>
                </a:solidFill>
                <a:latin typeface="Segoe UI Semibold"/>
              </a:rPr>
              <a:t>Retrieval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sous-requête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423160"/>
            <a:ext cx="1874519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950" b="1">
                <a:solidFill>
                  <a:srgbClr val="0B1F3A"/>
                </a:solidFill>
                <a:latin typeface="Segoe UI Semibold"/>
              </a:rPr>
              <a:t>Retrieval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sous-requête 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12080" y="2926080"/>
            <a:ext cx="7315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583680" y="2926080"/>
            <a:ext cx="7315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297680" y="3017520"/>
            <a:ext cx="39319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Fusion + rerank global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sur la question originale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63640" y="352044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iamond 20"/>
          <p:cNvSpPr/>
          <p:nvPr/>
        </p:nvSpPr>
        <p:spPr>
          <a:xfrm>
            <a:off x="4800600" y="3611880"/>
            <a:ext cx="2926080" cy="8686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③ Grading
Chunks suffisants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178308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3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44200" y="1874519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515600" y="2057400"/>
            <a:ext cx="21031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726679" y="2331720"/>
            <a:ext cx="1051561" cy="146304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818120" y="3429000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63640" y="4480560"/>
            <a:ext cx="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183879" y="46177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E64A4A"/>
                </a:solidFill>
                <a:latin typeface="Segoe UI"/>
              </a:rPr>
              <a:t>NON → rewrite direct</a:t>
            </a:r>
          </a:p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E64A4A"/>
                </a:solidFill>
                <a:latin typeface="Segoe UI"/>
              </a:rPr>
              <a:t>(déjà diff. 3)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457200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92440" y="4800600"/>
            <a:ext cx="34290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1521440" y="3268980"/>
            <a:ext cx="0" cy="1513332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8229600" y="3268980"/>
            <a:ext cx="327355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21040" y="33101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2ᵉ retrieval — pool = 3 anciens</a:t>
            </a:r>
          </a:p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chunks + 2 nouveaux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1937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Le Routeur peut générer jusqu'à 2 sous-requêtes lorsque la question compare deux entités ; chacune est cherchée séparément avant fusion.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53212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20 / 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questions de ce niveau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dans le dataset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06240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06240" y="5532120"/>
            <a:ext cx="352044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≈ 3.2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chunks récupérés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en moyenne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09559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09559" y="5532120"/>
            <a:ext cx="3520440" cy="548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19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50%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0999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reformulations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déclenchées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11/30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86FF"/>
                </a:solidFill>
                <a:latin typeface="Segoe UI Semibold"/>
              </a:rPr>
              <a:t>ZOOM —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Retrieval hybride : sémantique + lexical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34440"/>
            <a:ext cx="27432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Question (+ HyDE si niveau 2)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3291840" y="1828800"/>
            <a:ext cx="210312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0960" y="1828800"/>
            <a:ext cx="109728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463040" y="228600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Recherche sémantique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bge-m3 + MMR
25 chunks parmi 100 (λ=0.5)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Recherche lexicale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BM25 normalisé (sans accents)
25 chunks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3291840"/>
            <a:ext cx="256032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766560" y="3291840"/>
            <a:ext cx="155448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09160" y="3749039"/>
            <a:ext cx="27432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Fusion RRF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score = Σ 1 / (60 + rang)
→ 15 candidats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0760" y="4526280"/>
            <a:ext cx="0" cy="3200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709160" y="4892040"/>
            <a:ext cx="27432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Déduplication Jaccard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seuil 80% de tokens communs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49039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00" b="1">
                <a:solidFill>
                  <a:srgbClr val="0B1F3A"/>
                </a:solidFill>
                <a:latin typeface="Segoe UI Semibold"/>
              </a:rPr>
              <a:t>Filtrage multi-source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max. 3 chunks par document
(désactivé si 1 seule source)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9080" y="4069080"/>
            <a:ext cx="594360" cy="0"/>
          </a:xfrm>
          <a:prstGeom prst="line">
            <a:avLst/>
          </a:prstGeom>
          <a:ln w="28575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52360" y="5212080"/>
            <a:ext cx="731519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0" y="4846320"/>
            <a:ext cx="33832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1B8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Re-ranking CrossEncoder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BAAI/bge-reranker-v2-m3 — seuil 0.5
→ Top 5 chunks finaux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B6677"/>
                </a:solidFill>
                <a:latin typeface="Segoe UI"/>
              </a:rPr>
              <a:t>Ce retrieval hybride est partagé par les 3 niveaux de difficulté — seules les options HyDE et sous-requêtes varient selon le niveau jugé par le Routeur.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12/30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ZOOM — BOUCLE DE CONTRÔLE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Grading, reformulation et sous-requêtes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7"/>
                </a:solidFill>
                <a:latin typeface="Segoe UI"/>
              </a:rPr>
              <a:t>Avant de répondre, l'agent vérifie lui-même la qualité de son contexte — et se corrige s'il est insuffisant.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331720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1ᵉʳ 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5 chunks récupérés</a:t>
            </a:r>
          </a:p>
        </p:txBody>
      </p:sp>
      <p:sp>
        <p:nvSpPr>
          <p:cNvPr id="11" name="Oval 10"/>
          <p:cNvSpPr/>
          <p:nvPr/>
        </p:nvSpPr>
        <p:spPr>
          <a:xfrm>
            <a:off x="2606040" y="2331720"/>
            <a:ext cx="365760" cy="36576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Grading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LLM juge : suffisant ?</a:t>
            </a:r>
          </a:p>
        </p:txBody>
      </p:sp>
      <p:sp>
        <p:nvSpPr>
          <p:cNvPr id="15" name="Oval 14"/>
          <p:cNvSpPr/>
          <p:nvPr/>
        </p:nvSpPr>
        <p:spPr>
          <a:xfrm>
            <a:off x="4389120" y="2331720"/>
            <a:ext cx="365760" cy="365760"/>
          </a:xfrm>
          <a:prstGeom prst="ellipse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Verdict 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ce qui manque est précisé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331720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Rewrite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requête reformulée</a:t>
            </a:r>
          </a:p>
        </p:txBody>
      </p:sp>
      <p:sp>
        <p:nvSpPr>
          <p:cNvPr id="23" name="Oval 22"/>
          <p:cNvSpPr/>
          <p:nvPr/>
        </p:nvSpPr>
        <p:spPr>
          <a:xfrm>
            <a:off x="7955279" y="2331720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39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59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2ᵉ retrieval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39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 anciens + 2 nouveaux chunks</a:t>
            </a:r>
          </a:p>
        </p:txBody>
      </p:sp>
      <p:sp>
        <p:nvSpPr>
          <p:cNvPr id="27" name="Oval 26"/>
          <p:cNvSpPr/>
          <p:nvPr/>
        </p:nvSpPr>
        <p:spPr>
          <a:xfrm>
            <a:off x="9738360" y="2331720"/>
            <a:ext cx="365760" cy="365760"/>
          </a:xfrm>
          <a:prstGeom prst="ellipse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Génération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160520"/>
            <a:ext cx="544068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160520"/>
            <a:ext cx="5440680" cy="411480"/>
          </a:xfrm>
          <a:prstGeom prst="roundRect">
            <a:avLst>
              <a:gd name="adj" fmla="val 1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Ce que vérifie le grading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66344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 LLM reçoit l'ensemble des chunks récupérés et juge s'ils couvrent entièrement la question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Verdict binaire : OUI (suffisant) → génération directe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NON — le LLM précise ce qui manque → reformulation ciblée sur ce manque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160520"/>
            <a:ext cx="548640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0" y="4160520"/>
            <a:ext cx="5486400" cy="411480"/>
          </a:xfrm>
          <a:prstGeom prst="roundRect">
            <a:avLst>
              <a:gd name="adj" fmla="val 1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Décomposition en sous-requêtes (niveau 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663440"/>
            <a:ext cx="50292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 Routeur peut générer jusqu'à 2 sous-requêtes pour une question de comparaison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Chaque sous-requête lance son propre retrieval, en parallèle conceptuel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Les résultats sont fusionnés puis re-classés sur la question originale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199632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13/30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STACK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Modèles et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Modèles (servis par Ollama)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64008" cy="84124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bge-m3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~570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48256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Embeddings multilingues — 1024 dim, fenêtre 8192 tokens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60320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60320"/>
            <a:ext cx="64008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51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gemma4:12b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267004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~7 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80944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Split agentique · HyDE · grading · rewrite · génération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93008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93008"/>
            <a:ext cx="64008" cy="84124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8444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gemma2:2b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602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~1.6 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13632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Juge RAGAS léger pour accélérer l'évaluation (Colab)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25696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425696"/>
            <a:ext cx="64008" cy="84124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5171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bge-reranker-v2-m3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5354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46320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Re-ranking CrossEncoder (sentence-transformers)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Frameworks &amp; librairies clés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LangGraph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Orchestration du graphe agentique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011680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15798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LangChain (+ Ollama / Chroma)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15798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Connecteurs LLM, embeddings, base vectorielle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542032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26883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ChromaDB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26883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Base vectorielle locale persistée sur disque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072384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rank_bm25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Recherche lexicale BM25 normalisée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602736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74903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pymupdf4llm / ftfy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374903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Extraction PDF → Markdown + réparation encodage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4133087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27939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RAGAS + datasets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27939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Évaluation LLM-judge (5 métriques)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663440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097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FastAPI / uvicorn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48097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Serveur API compatible OpenAI (Open WebUI)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5193792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14/30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DÉPLOIEMENT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Local vs Google Colab — défis d'ingénierie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400" b="1">
                <a:solidFill>
                  <a:srgbClr val="0B1F3A"/>
                </a:solidFill>
                <a:latin typeface="Segoe UI Semibold"/>
              </a:rPr>
              <a:t>Local (Windows)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Ollama + ChromaDB sur le poste
Base vectorielle : C:/vector_db_aquila
(hors OneDrive — évite la corruption SQLite)
Interface : Open WebUI / Gradio / 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887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400" b="1">
                <a:solidFill>
                  <a:srgbClr val="0B1F3A"/>
                </a:solidFill>
                <a:latin typeface="Segoe UI Semibold"/>
              </a:rPr>
              <a:t>Google Colab (GPU)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GPU recommandé : L4 (24 Go) — T4 (16 Go) acceptable
vector_db/ versionnée dans le repo Git
Drive monté pour sauvegarder les résultats
Évaluation RAGAS avec gemma2:2b (plus rapide)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Problèmes rencontrés et solutions d'ingénierie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27248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127248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2004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llama-server crash sur Colab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493008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Notebook alternatif (colab_run_vllm.ipynb) : la génération tourne sur un serveur vLLM (gemma4:12b quantifié) plutôt que sur Ollama, qui reste stable ; Ollama garde uniquement les embeddings.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88536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288536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436168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Latence croissante (KV-cache)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654296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Redémarrage préventif d'Ollama toutes les 2 questions.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49824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449824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55229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Crash sur 700+ appels LLM (ingestion)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5815584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3 tentatives, avec redémarrage d'Ollama entre chaque essai.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127248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127248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32004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Session Colab coupée en cours de route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493008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Sauvegarde après chaque page + copie automatique du Drive vers le dépôt Git.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288536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288536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436168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Le code modifié n'était pas pris en compte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4654296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Colab garde l'ancien code en mémoire d'une cellule à l'autre : on force la relecture des fichiers à jour avant chaque lancement, avec une vérification qui bloque si une vieille version est détectée.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5449824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5449824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55229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Les PDF surlignés ne s'ouvraient 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815584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Gradio 5 a changé sa façon de servir les fichiers derrière le proxy web de Colab (erreur 404 à l'ouverture) ; on reste donc sur Gradio 4, qui fonctionne correctement.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15/30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18320" y="-1097280"/>
            <a:ext cx="4754880" cy="475488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5120640"/>
            <a:ext cx="3840480" cy="384048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C4B6"/>
                </a:solidFill>
                <a:latin typeface="Segoe UI Semibold"/>
              </a:rPr>
              <a:t>PARTIE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Segoe UI"/>
              </a:rPr>
              <a:t>Évaluation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Segoe UI"/>
              </a:rPr>
              <a:t>brique par brique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C9D6E6"/>
                </a:solidFill>
                <a:latin typeface="Segoe UI"/>
              </a:rPr>
              <a:t>evaluate_components.py — isoler et mesurer chacune des 6 briques du pipeline agentique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4800600"/>
            <a:ext cx="2020824" cy="365760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6 Briques Évaluées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98064" y="4800600"/>
            <a:ext cx="1933956" cy="365760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RAGAS (gemma2:2b)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14900" y="4800600"/>
            <a:ext cx="2628900" cy="365760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Juge externe (gemma4:12b)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4800600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50 Questions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09176" y="4800600"/>
            <a:ext cx="1933956" cy="36576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Zéro Ré-exécution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16/30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PARTIE 2 — VUE D'ENSEMBLE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Séparer l'exécution du scoring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40680" cy="3657600"/>
          </a:xfrm>
          <a:prstGeom prst="roundRect">
            <a:avLst>
              <a:gd name="adj" fmla="val 6000"/>
            </a:avLst>
          </a:prstGeom>
          <a:solidFill>
            <a:srgbClr val="ECF8F6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EXÉCUTION (une seule fois)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1B8A80"/>
                </a:solidFill>
                <a:latin typeface="Segoe UI"/>
              </a:rPr>
              <a:t>run_agentic_all.py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questions.json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50 questions + réponses attendues, 3 niveaux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377440"/>
            <a:ext cx="0" cy="82296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1520" y="2459736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run_agent(question)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graph LangGraph complet, agent.py instrumenté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916936"/>
            <a:ext cx="0" cy="82296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2999232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Capture des états intermédiaires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router, chunks pré/post re-ranking, grading, rewrite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3456432"/>
            <a:ext cx="0" cy="82295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" y="3538727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agentic_results.json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résultats légers (question, réponse, chunks)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3995927"/>
            <a:ext cx="0" cy="82297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1520" y="4078224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agentic_results_debug.json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résultats complets + tous les états intermédiaires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188720"/>
            <a:ext cx="5440680" cy="3657600"/>
          </a:xfrm>
          <a:prstGeom prst="roundRect">
            <a:avLst>
              <a:gd name="adj" fmla="val 6000"/>
            </a:avLst>
          </a:prstGeom>
          <a:solidFill>
            <a:srgbClr val="FDF0F6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29844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SCORING (rejouable sans ré-exécuter)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572768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E64A4A"/>
                </a:solidFill>
                <a:latin typeface="Segoe UI"/>
              </a:rPr>
              <a:t>evaluate_components.py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920240"/>
            <a:ext cx="498348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Initialisation RAGAS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gemma2:2b + bge-m3 via Ollama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61120" y="2468880"/>
            <a:ext cx="0" cy="109728"/>
          </a:xfrm>
          <a:prstGeom prst="line">
            <a:avLst/>
          </a:prstGeom>
          <a:ln w="19050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92240" y="2578608"/>
            <a:ext cx="498348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6 briques évaluées indépendamment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① Router ② Retrieval ③ Re-ranking ④ Grading ⑤ Rewriting ⑥ Generation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61120" y="3127248"/>
            <a:ext cx="0" cy="109728"/>
          </a:xfrm>
          <a:prstGeom prst="line">
            <a:avLst/>
          </a:prstGeom>
          <a:ln w="19050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92240" y="3236976"/>
            <a:ext cx="498348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component_evaluation.csv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1 ligne par question × 25+ colonnes, sauvegarde incrémentale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0" y="3785615"/>
            <a:ext cx="0" cy="109729"/>
          </a:xfrm>
          <a:prstGeom prst="line">
            <a:avLst/>
          </a:prstGeom>
          <a:ln w="19050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492240" y="3895344"/>
            <a:ext cx="498348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print_summary()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moyennes par brique + par niveau de difficulté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5715000" y="2240280"/>
            <a:ext cx="731520" cy="2057400"/>
          </a:xfrm>
          <a:prstGeom prst="line">
            <a:avLst/>
          </a:prstGeom>
          <a:ln w="3175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23560" y="3063240"/>
            <a:ext cx="914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i="1">
                <a:solidFill>
                  <a:srgbClr val="0B1F3A"/>
                </a:solidFill>
                <a:latin typeface="Segoe UI"/>
              </a:rPr>
              <a:t>lit les</a:t>
            </a:r>
          </a:p>
          <a:p>
            <a:pPr algn="ctr">
              <a:lnSpc>
                <a:spcPct val="100000"/>
              </a:lnSpc>
            </a:pPr>
            <a:r>
              <a:rPr sz="780" b="1" i="1">
                <a:solidFill>
                  <a:srgbClr val="0B1F3A"/>
                </a:solidFill>
                <a:latin typeface="Segoe UI"/>
              </a:rPr>
              <a:t>états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983480"/>
            <a:ext cx="54406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5440680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1114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Principe clé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440680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2EC4B6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run_agentic_all fait tourner le vrai graph — coûteux en LLM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2EC4B6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evaluate_components ne fait que lire et scorer — rejouable à volonté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2EC4B6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On peut ajuster un prompt de juge sans refaire tourner le pipeline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983480"/>
            <a:ext cx="54406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4983480"/>
            <a:ext cx="5440680" cy="4572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51114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Pourquoi instrumenter agent.py plutôt que dupliquer 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440680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E64A4A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agent.py a des champs debug dédiés dans son état (AgentState)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E64A4A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Garantit que les données d'évaluation reflètent le comportement réel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E64A4A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Aucun risque de divergence entre pipeline réel et logique rejouée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17/30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PARTIE 2 — CAPTURE DES ÉTATS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Ce que chaque question produit dans agentic_results_debug.json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Graph LangGraph (agent.py)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36192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identify_sources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LLM classifie la question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63240" y="2139696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2249424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retrieve_node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1er retrieval : HyDE + sémantique + BM25 + RRF + dédup + rerank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63240" y="2852928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2962656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grade_documents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LLM évalue la suffisance (si difficulté ≥ 2)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3566160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3675888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rewrite_query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reformulation ciblée (si NON au grading)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4279392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" y="4389120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retrieve_node (2ᵉ)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2ᵉ retrieval — fusion 3 anciens + 2 nouveaux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63240" y="4992624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2920" y="5102352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generate_node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génération de la réponse finale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2070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États capturés (run_agentic_all.py)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536192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536192"/>
            <a:ext cx="64008" cy="5120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1581912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router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581912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sources: ['ENS.pdf'], difficulty: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2107691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107691"/>
            <a:ext cx="64008" cy="5120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2153411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pre_rerank_docs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153411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chunks après RRF + dédup, AVANT le cross-encoder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2679191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2679191"/>
            <a:ext cx="64008" cy="512064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2724911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post_rerank_docs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724911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chunks APRÈS re-ranking, AVANT tout rewrite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3250691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3250691"/>
            <a:ext cx="64008" cy="5120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3296411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grading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3296411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performed / sufficient / verdict: 'NON — ...'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822191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3822191"/>
            <a:ext cx="64008" cy="5120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3952" y="3867911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rewrite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867911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triggered / new_query / chunks_loop_1 / chunks_loop_2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4393692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4393692"/>
            <a:ext cx="64008" cy="5120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3952" y="4439412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chunks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439412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pool FINAL utilisé par generate_node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4965192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4965192"/>
            <a:ext cx="64008" cy="512064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3952" y="5010912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reponse_llm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5010912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réponse réellement générée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63640" y="5541264"/>
            <a:ext cx="5440680" cy="868680"/>
          </a:xfrm>
          <a:prstGeom prst="roundRect">
            <a:avLst>
              <a:gd name="adj" fmla="val 10000"/>
            </a:avLst>
          </a:prstGeom>
          <a:solidFill>
            <a:srgbClr val="ECF8F6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520" y="5605272"/>
            <a:ext cx="51206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A"/>
                </a:solidFill>
                <a:latin typeface="Segoe UI Semibold"/>
              </a:rPr>
              <a:t>Déduction sans champ supplémentaire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5852160"/>
            <a:ext cx="51206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30" b="0" i="0">
                <a:solidFill>
                  <a:srgbClr val="5B6677"/>
                </a:solidFill>
                <a:latin typeface="Segoe UI"/>
              </a:rPr>
              <a:t>Rewrite déclenché ? → attempts ≥ 2.  Grading a eu lieu ? → difficulté initiale &gt; 1.</a:t>
            </a:r>
          </a:p>
          <a:p>
            <a:pPr algn="l">
              <a:lnSpc>
                <a:spcPct val="110000"/>
              </a:lnSpc>
            </a:pPr>
            <a:r>
              <a:rPr sz="830" b="0" i="0">
                <a:solidFill>
                  <a:srgbClr val="5B6677"/>
                </a:solidFill>
                <a:latin typeface="Segoe UI"/>
              </a:rPr>
              <a:t>post_rerank_docs = docs_before_rewrite si rewrite, sinon = chunks finaux.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18/30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86FF"/>
                </a:solidFill>
                <a:latin typeface="Segoe UI Semibold"/>
              </a:rPr>
              <a:t>BRIQUE ① — ROUTER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eval_router() — comparaison exacte, aucun appel LLM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383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entry['router']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Prédiction capturée
sources: ['ENS.pdf']
difficulty: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3383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meta (questions.json)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Ground truth
source: 'ENS'
niveau: 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801368"/>
            <a:ext cx="502920" cy="393192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3931920" y="2606040"/>
            <a:ext cx="502920" cy="429768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80560" y="1783080"/>
            <a:ext cx="32918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Résolution ground truth
(eval_common.py)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init_source_map() scanne documents/
ENS → ['ENS.pdf'], Sorbonne → ['SORBONNE.pdf']
expected_sources(meta) / expected_difficulty(meta)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0" y="2606040"/>
            <a:ext cx="5029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321040" y="1783080"/>
            <a:ext cx="333756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Comparaison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Source : set(pred) == set(exp) ?
(ou les deux = None → toutes sources)
Difficulté : pred_diff == exp_diff 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66960" y="3474720"/>
            <a:ext cx="0" cy="36576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321040" y="3840480"/>
            <a:ext cx="3337560" cy="77724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39319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router_source_ok : 0 ou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224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router_diff_ok : 0 ou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92040"/>
            <a:ext cx="1120140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892040"/>
            <a:ext cx="11201400" cy="4572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02005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Points clés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49240"/>
            <a:ext cx="10835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Aucun appel LLM — comparaison pure d'ensembles et d'entiers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Ground truth des sources construite au démarrage par scan du dossier documents/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Appliqué sur les 50 questions sans exception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Résultats mesurés : 58% de source correcte, 64% de difficulté correcte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19/30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BRIQUES ②③ — RETRIEVAL &amp; RE-RANKING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eval_retrieval_and_reranking() — RAGAS ContextPrecision/Recall, gemma2:2b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3832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pre_rerank_docs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Chunks avant le cross-encoder
(après RRF + dédup)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1234440"/>
            <a:ext cx="33832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post_rerank_docs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Chunks après re-ranking
(avant tout rewrite)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123444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reponse_attendue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Ground truth (reference RAGAS)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1488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4709160" y="2423160"/>
            <a:ext cx="2743200" cy="96012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 Semibold"/>
              </a:rPr>
              <a:t>pre == post ?
(pool ≤ K_FINAL)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77440" y="2788920"/>
            <a:ext cx="2240280" cy="667512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926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02152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Un seul scoring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RAGAS Precision+Recall sur post_rerank_docs
pre = post → delta = 0 (économise 2 appels)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43800" y="2788920"/>
            <a:ext cx="1234440" cy="667512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863840" y="2926080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E64A4A"/>
                </a:solidFill>
                <a:latin typeface="Segoe UI"/>
              </a:rPr>
              <a:t>NON → re-ranking a eu lieu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3502152"/>
            <a:ext cx="31089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③ Avant re-ranking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RAGAS Precision+Recall
sur pre_rerank_docs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3502152"/>
            <a:ext cx="3246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② Après re-ranking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RAGAS Precision+Recall
sur post_rerank_docs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32511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Les 4 appels RAGAS (precision/recall × pre/post) sont lancés en parallèle via asyncio.gather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2628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6085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EC4B6"/>
                </a:solidFill>
                <a:latin typeface="Segoe UI Semibold"/>
              </a:rPr>
              <a:t>② Retrieval (résultat)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011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retrieval_ctx_precision = 94.5%  ·  retrieval_ctx_recall = 94.9%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6085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6B35"/>
                </a:solidFill>
                <a:latin typeface="Segoe UI Semibold"/>
              </a:rPr>
              <a:t>③ Re-ranking (résultat)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011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Δ precision = +1.3 pt en moyenne  ·  Δ recall = −0.7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48640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7"/>
                </a:solidFill>
                <a:latin typeface="Segoe UI"/>
              </a:rPr>
              <a:t>ContextPrecision : le LLM juge chaque chunk pertinent vis-à-vis de la réponse, pondéré par rang. ContextRecall : la réponse est découpée en affirmations, chacune doit être attribuable à un chunk.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20/30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BRIQUE ④ — 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eval_grading() — juge externe custom, gemma4:12b — difficulté &gt; 1 seulement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Grader réel (pipeline)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Reçoit : question + chunks récupérés
Ne voit PAS la réponse attendue
Verdict capturé : sufficient + verdict texte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Juge externe (évaluation)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Reçoit : question + chunks + réponse attendue
Voit AUSSI la ground truth
Même gemma4:12b, prompt GRADING_JUDGE différent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6112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697480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Classification (matrice de confusion)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Vrai Positif (TP)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Grader OUI · Juge OUI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D'accord : suffisant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Vrai Négatif (TN)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Grader NON · Juge 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D'accord : insuffisant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Faux Négatif (FN)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4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Grader NON · Juge OUI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Grader trop sévère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1976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Faux Positif (FP)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Grader OUI · Juge NON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Grader trop laxiste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Métriques dérivées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Accuracy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(TP+TN)/total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51.2%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19272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56432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Precision (OUI)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6432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TP/(TP+FP)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56432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35624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4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Recall (OUI)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4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TP/(TP+FN)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2784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1976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89136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F1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89136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2PR/(P+R)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89136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486400"/>
            <a:ext cx="112014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486400"/>
            <a:ext cx="11201400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61441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Pourquoi le même modèle comme juge 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9436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Seule différence : le prompt du juge inclut la réponse attendue — pas de modèle supplémentaire à configurer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Limite : biais de cohérence possible (un modèle qui se juge lui-même) — alternative plus rigoureuse : gemma2:2b en tiers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21/30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BRIQUE ⑤ — QUERY REWRITING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eval_rewriting() — gain RAGAS (Precision+Recall), gemma2:2b — si rewrite déclenché</a:t>
            </a:r>
          </a:p>
        </p:txBody>
      </p:sp>
      <p:sp>
        <p:nvSpPr>
          <p:cNvPr id="6" name="Diamond 5"/>
          <p:cNvSpPr/>
          <p:nvPr/>
        </p:nvSpPr>
        <p:spPr>
          <a:xfrm>
            <a:off x="502920" y="1280160"/>
            <a:ext cx="3108960" cy="100584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rewrite['triggered']
Déclenché pour cette question 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286000"/>
            <a:ext cx="0" cy="3200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103120" y="230428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1">
                <a:solidFill>
                  <a:srgbClr val="E64A4A"/>
                </a:solidFill>
                <a:latin typeface="Segoe UI"/>
              </a:rPr>
              <a:t>NON → grading OUI / diff=1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06040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Résultat : N/A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rewrite_triggered = 0, exclu des moyennes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280160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Mesure du gain apporté par la reformulation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1645920"/>
            <a:ext cx="3657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Baseline (avant rewrite)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Scores réutilisés depuis la brique ②
Pas de 2ᵉ appel LLM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645920"/>
            <a:ext cx="37033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Après rewrite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RAGAS sur entry['chunks']
(pool final fusionné, gemma2:2b juge)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52160" y="251460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784080" y="251460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023360" y="2788920"/>
            <a:ext cx="7635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Le pool final = vrai mécanisme de fusion du pipeline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3 slots → meilleurs chunks du 1er retrieval  +  2 slots → top 2 des nouveaux chunks re-rankés sur la requête reformulée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63840" y="365760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023360" y="3931920"/>
            <a:ext cx="7635240" cy="777240"/>
          </a:xfrm>
          <a:prstGeom prst="roundRect">
            <a:avLst>
              <a:gd name="adj" fmla="val 13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60" y="4023360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rewrite_precision_gain = après − baseline   ·   rewrite_recall_gain = après − 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334256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D6E6"/>
                </a:solidFill>
                <a:latin typeface="Segoe UI"/>
              </a:rPr>
              <a:t>Mesuré : précision 85.4% (+0.7 pt en moyenne)  ·  rappel 90.9% (−4.7 pt en moyenne)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83480"/>
            <a:ext cx="1120140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983480"/>
            <a:ext cx="11201400" cy="4572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1149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Ce que cette brique mesure vraiment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Pas juste « la reformulation sonne mieux » — mais le retrieval a-t-il concrètement rapporté plus d'info pertinente ?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La baseline n'est pas recalculée (0 appel LLM supplémentaire) — réutilisée depuis la brique ②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Le pool « après » est exactement celui produit par le vrai pipeline, pas reconstruit artificiellement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22/30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8A80"/>
                </a:solidFill>
                <a:latin typeface="Segoe UI Semibold"/>
              </a:rPr>
              <a:t>BRIQUE ⑥ —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eval_generation() — RAGAS Faithfulness, gemma2:2b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2004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00" b="1">
                <a:solidFill>
                  <a:srgbClr val="0B1F3A"/>
                </a:solidFill>
                <a:latin typeface="Segoe UI Semibold"/>
              </a:rPr>
              <a:t>Données lues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reponse_llm — réponse réellement générée
chunks — réellement utilisés par generate_node
question posée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49039" y="1965960"/>
            <a:ext cx="411481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06240" y="1280160"/>
            <a:ext cx="429768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B8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41732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RAGAS Faithfulness (gemma2:2b juge)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83080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B8A80"/>
                </a:solidFill>
                <a:latin typeface="Segoe UI Semibold"/>
              </a:rPr>
              <a:t>Étape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178308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Décompose la réponse en affirmations atomiques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404872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B8A80"/>
                </a:solidFill>
                <a:latin typeface="Segoe UI Semibold"/>
              </a:rPr>
              <a:t>Étape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40487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Pour chaque affirmation, vérifie si elle est dérivable du contexte (les chunks)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026664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B8A80"/>
                </a:solidFill>
                <a:latin typeface="Segoe UI Semibold"/>
              </a:rPr>
              <a:t>Étape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026664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Score = proportion d'affirmations vérifiables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03920" y="2578608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961120" y="1280160"/>
            <a:ext cx="2697480" cy="260604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41732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gen_faithfulness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78308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C9D6E6"/>
                </a:solidFill>
                <a:latin typeface="Segoe UI"/>
              </a:rPr>
              <a:t>1.0 = aucune hallucination</a:t>
            </a:r>
          </a:p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C9D6E6"/>
                </a:solidFill>
                <a:latin typeface="Segoe UI"/>
              </a:rPr>
              <a:t>0.5 = moitié inventée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60604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C4B6"/>
                </a:solidFill>
                <a:latin typeface="Segoe UI"/>
              </a:rPr>
              <a:t>Mesuré : 83.5%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200400"/>
            <a:ext cx="2377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1">
                <a:solidFill>
                  <a:srgbClr val="C9D6E6"/>
                </a:solidFill>
                <a:latin typeface="Segoe UI"/>
              </a:rPr>
              <a:t>Ne compare PAS à la réponse attendue — seulement au contexte fourni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14800"/>
            <a:ext cx="544068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114800"/>
            <a:ext cx="5440680" cy="45720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4281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Pourquoi Faithfulness et pas AnswerCorrectness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572000"/>
            <a:ext cx="507492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1B8A80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Faithfulness mesure la fidélité aux chunks — pas si la réponse a raison vs la ground truth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1B8A80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Mesure d'hallucination pure : « le LLM invente-t-il des choses ? »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1B8A80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Chunks bons + réponse qui invente → problème de génération (cette brique le détecte)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1B8A80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Chunks mauvais + réponse fidèle → problème de retrieval (briques ②③ le détectent)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114800"/>
            <a:ext cx="544068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114800"/>
            <a:ext cx="5440680" cy="4572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4281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Chunks utilisés = les vrais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572000"/>
            <a:ext cx="507492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3A86FF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Toujours entry['chunks'] — le pool réellement fourni à generate_node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3A86FF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Si un rewrite a eu lieu : pool post-rewrite (3+2 fusionnés)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3A86FF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Sinon : pool direct du 1er retrieval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3A86FF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La fidélité est mesurée par rapport à ce qui a vraiment servi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23/30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FLUX COMPLET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Exemple : une question niveau 2, avec rewrite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325880"/>
            <a:ext cx="411480" cy="411480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695960" y="1737360"/>
            <a:ext cx="25400" cy="502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12801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280160"/>
            <a:ext cx="54864" cy="804672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645919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set(pred_src)==set(exp_src) ? · pred_diff==exp_diff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14813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router_source_ok=1, router_diff_ok=0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2240279"/>
            <a:ext cx="411480" cy="41148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②③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5960" y="2651760"/>
            <a:ext cx="25400" cy="502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7280" y="21945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2194560"/>
            <a:ext cx="54864" cy="8046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22677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eval_retrieval_and_reranking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56032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RAGAS Precision/Recall sur pre et post (4 appels parallèles)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23957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Δ precision=+0.289 · Δ recall=+0.250</a:t>
            </a:r>
          </a:p>
        </p:txBody>
      </p:sp>
      <p:sp>
        <p:nvSpPr>
          <p:cNvPr id="20" name="Oval 19"/>
          <p:cNvSpPr/>
          <p:nvPr/>
        </p:nvSpPr>
        <p:spPr>
          <a:xfrm>
            <a:off x="502920" y="3154679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5960" y="3566160"/>
            <a:ext cx="25400" cy="502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31089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3108960"/>
            <a:ext cx="54864" cy="80467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31821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eval_grading (diff &gt;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347472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Grader (capturé)=NON · Juge gemma4:12b(question,chunks,ground truth)=NON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3101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vrai négatif ✅</a:t>
            </a:r>
          </a:p>
        </p:txBody>
      </p:sp>
      <p:sp>
        <p:nvSpPr>
          <p:cNvPr id="27" name="Oval 26"/>
          <p:cNvSpPr/>
          <p:nvPr/>
        </p:nvSpPr>
        <p:spPr>
          <a:xfrm>
            <a:off x="502920" y="4069080"/>
            <a:ext cx="411480" cy="411480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5960" y="4480560"/>
            <a:ext cx="25400" cy="502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97280" y="40233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97280" y="4023360"/>
            <a:ext cx="54864" cy="80467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0965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eval_rewriting (déclenché)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38912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RAGAS Precision/Recall sur les chunks finaux post-rewrite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42245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Δ precision=+0.061 · Δ recall=+0.250</a:t>
            </a:r>
          </a:p>
        </p:txBody>
      </p:sp>
      <p:sp>
        <p:nvSpPr>
          <p:cNvPr id="34" name="Oval 33"/>
          <p:cNvSpPr/>
          <p:nvPr/>
        </p:nvSpPr>
        <p:spPr>
          <a:xfrm>
            <a:off x="502920" y="4983480"/>
            <a:ext cx="411480" cy="41148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97280" y="49377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7280" y="4937760"/>
            <a:ext cx="54864" cy="804672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50109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eval_generation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30352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RAGAS Faithfulness(reponse_llm, chunks)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8120" y="51389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score = 0.875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9436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FFFFFF"/>
                </a:solidFill>
                <a:latin typeface="Segoe UI"/>
              </a:rPr>
              <a:t>→ Sauvegarde de la ligne (25+ colonnes) dans component_evaluation.csv — reprise automatique si crash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24/30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8A80"/>
                </a:solidFill>
                <a:latin typeface="Segoe UI Semibold"/>
              </a:rPr>
              <a:t>RÉCAPITULATIF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Ce que chaque brique mesure, avec quel outil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11201400" cy="41148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371600"/>
            <a:ext cx="347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1371600"/>
            <a:ext cx="14447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Brique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7752" y="1371600"/>
            <a:ext cx="2221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Fonction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9472" y="1371600"/>
            <a:ext cx="31363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Outil d'évaluation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65592" y="1371600"/>
            <a:ext cx="1307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Appel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2912" y="1371600"/>
            <a:ext cx="208483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Applicable si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691639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691639"/>
            <a:ext cx="54864" cy="56692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764792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1764792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176479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eval_router()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1764792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Comparaison exacte avec questions.json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64792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Aucun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1764792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Toujours (50 q.)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258568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258568"/>
            <a:ext cx="54864" cy="5669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331720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2331720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Retrieval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331720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eval_retrieval_and_reranking()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59" y="233172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RAGAS ContextPrecision + ContextRecall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331720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31720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Toujours (50 q.)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25496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2825496"/>
            <a:ext cx="54864" cy="56692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2898648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2898648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Re-ranking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289864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eval_retrieval_and_reranking()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59" y="2898648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Delta RAGAS avant vs après re-ranking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2898648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2898648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Δ=0 si pool ≤ K_FINAL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392424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3392424"/>
            <a:ext cx="54864" cy="5669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465576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3465576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Grading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3465576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eval_grading()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59" y="3465576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Juge externe custom (GRADING_JUDGE)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3465576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gemma4:12b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3465576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Difficulté &gt; 1 seulement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959352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3959352"/>
            <a:ext cx="54864" cy="56692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4032504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4032504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Query Rewriting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06040" y="4032504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eval_rewriting()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37759" y="4032504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RAGAS Precision + Recall (gain)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83879" y="4032504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4032504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Rewrite déclenché seulement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4526280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4526280"/>
            <a:ext cx="54864" cy="566928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4599432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" y="4599432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Generation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06040" y="459943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eval_generation()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59" y="4599432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RAGAS Faithfulness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83879" y="4599432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01200" y="4599432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Toujours (50 q.)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25/30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A86A"/>
                </a:solidFill>
                <a:latin typeface="Segoe UI Semibold"/>
              </a:rPr>
              <a:t>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Mesures réelles sur les 50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64008" cy="10972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0817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94.5%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Context Precision (retrieval)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64008" cy="10972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0817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94.9%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385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Context Recall (retrieval)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28016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64008" cy="1097280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40817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83.5%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9385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Faithfulness (génération)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6060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Le Routeur (identify_sources)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063240"/>
            <a:ext cx="2468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Source identifiée correctement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090672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0" y="3090672"/>
            <a:ext cx="1219809" cy="23774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306324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58%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20440"/>
            <a:ext cx="2468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Difficulté identifiée correctement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3547872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0" y="3547872"/>
            <a:ext cx="1345996" cy="23774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9240" y="352044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64%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Boucle de correction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526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Grading déclenché sur 82% des questions (non factuelles)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Reformulation effectivement lancée sur 28% des questions au global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Re-ranking : précision améliorée de +1.3 point en moyenne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6060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Comparaison par niveau de difficulté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3017520"/>
            <a:ext cx="52120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29400" y="3108960"/>
            <a:ext cx="4937760" cy="365760"/>
          </a:xfrm>
          <a:prstGeom prst="roundRect">
            <a:avLst>
              <a:gd name="adj" fmla="val 2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163824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16382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Niveau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316382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Niveau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316382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Niveau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35478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Questions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5478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35478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478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0" y="3931920"/>
            <a:ext cx="49377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40050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Chunks moy.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0050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40050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2.8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40050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3.2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29400" y="4389120"/>
            <a:ext cx="49377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29400" y="44622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Reformulation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44622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5480" y="44622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21%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44622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50%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26/30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64A4A"/>
                </a:solidFill>
                <a:latin typeface="Segoe UI Semibold"/>
              </a:rPr>
              <a:t>LIMITES CONNUES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Biais et compromis de l'évaluation par composant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1120140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1201400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0817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④ Grading — biais de cohérence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10835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 juge externe utilise le même modèle (gemma4:12b) que le grader évalué — seul le prompt diffère (le juge voit la ground truth)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Un modèle indépendant (gemma2:2b ou un tiers) serait un juge plus rigoureux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Compromis accepté : coût d'un appel LLM supplémentaire vers un modèle différent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71800"/>
            <a:ext cx="112014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971800"/>
            <a:ext cx="11201400" cy="4572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9981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③ Re-ranking — granularité limitée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29000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8A5CF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pre_rerank_docs capture le pool fusionné du 1er retrieval uniquement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8A5CF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Pour la difficulté 3 (sous-requêtes), c'est le pool fusionné de toutes les sous-requêtes avant le rerank global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8A5CF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Pas d'état intermédiaire capturé par sous-requête individuelle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80560"/>
            <a:ext cx="112014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480560"/>
            <a:ext cx="11201400" cy="4572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0857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Coût en appels LLM par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937760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run_agentic_all.py (exécution, une fois) reste le plus coûteux : pipeline agentique complet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evaluate_components.py : 2 à 8 appels gemma2:2b (RAGAS) par question + 1 appel gemma4:12b pour le juge de grading (si difficulté &gt; 1)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Total scoring estimé : ~200 à 400 appels LLM pour les 50 questions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27/30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Ce qui rend Aquila différent d'un RAG classique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82296" cy="84124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Agentique, pas linéaire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53619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Le système décide, juge sa propre qualité et se corrige — au lieu d'un retrieve→generate figé.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31720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331720"/>
            <a:ext cx="82296" cy="84124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4144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Hybride et robuste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9631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Sémantique + lexical + re-ranking + déduplication : moins de chunks hors-sujet ou redondants.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9183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291839"/>
            <a:ext cx="82296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0156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Anti-hallucination dès l'ingestion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45643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Le split par LLM est validé mot à mot ; en cas de doute, un découpage déterministe prend le relais.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5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251959"/>
            <a:ext cx="82296" cy="84124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6168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Auto-évalué en continu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416551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RAGAS + évaluation par composant permettent de savoir précisément quelle brique sous-performe.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1207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212079"/>
            <a:ext cx="82296" cy="84124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321807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100% local et reproductible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376671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Ollama + ChromaDB : aucune dépendance à une API externe, déployable en local ou sur Colab.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28/30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Bilan et pistes d'amélioration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40680" cy="2057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5440680" cy="384048"/>
          </a:xfrm>
          <a:prstGeom prst="roundRect">
            <a:avLst>
              <a:gd name="adj" fmla="val 16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✓  Points forts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Retrieval très solide : ~95% de précision et de rappel de contexte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Génération fidèle au contexte dans 83.5% des cas (Faithfulness)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Architecture modulaire, testable composant par composant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Anti-hallucination dès l'ingestion (validation mot à mot)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440680" cy="2057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188720"/>
            <a:ext cx="5440680" cy="384048"/>
          </a:xfrm>
          <a:prstGeom prst="roundRect">
            <a:avLst>
              <a:gd name="adj" fmla="val 16000"/>
            </a:avLst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✗  Points faibles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64208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Routeur peu fiable sur l'identification de la source (58% de précision)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Grading parfois trop laxiste comparé à un juge externe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Re-ranking : gain de précision marginal (+1.3 pt) et léger recul du rappel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Une seule reformulation possible, même pour les questions les plus complexes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Pistes d'amélioration détaillées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7673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673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40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Fiabiliser le Routeur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1330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Enrichir le prompt avec des exemples (few-shot) de classification source/difficulté.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817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6817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7548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Recalibrer le grading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50474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Ajuster les critères de suffisance pour réduire l'écart avec le juge externe.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961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5961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56692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Étendre 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59618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Ajouter d'autres brochures pour généraliser le pipeline hors ENS/Sorbonne.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673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7673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840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Re-ranking adaptatif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41330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Faire varier le seuil de pertinence selon la difficulté plutôt qu'un seuil fixe (0.5).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6817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6817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47548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Plus de reformulations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50474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Autoriser plus d'une reformulation pour les questions niveau 3 les plus complexes.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5961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55961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56692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Sous-requêtes étendues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59618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Gérer plus de 2 sous-requêtes pour les comparaisons entre 3 entités ou plus.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29/30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1188720"/>
            <a:ext cx="5029200" cy="502920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4572000"/>
            <a:ext cx="4114800" cy="41148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Segoe UI"/>
              </a:rPr>
              <a:t>Merci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EC4B6"/>
                </a:solidFill>
                <a:latin typeface="Segoe UI"/>
              </a:rPr>
              <a:t>Questions sur le projet RAG Aquila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B6677"/>
                </a:solidFill>
                <a:latin typeface="Segoe UI"/>
              </a:rPr>
              <a:t>Projet Aquila — RAG Agentique sur documents académiques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30/30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