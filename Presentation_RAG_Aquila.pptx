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86" r:id="rId37"/>
    <p:sldId id="287" r:id="rId38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24.xml"/><Relationship Id="rId38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869680" y="-1371600"/>
            <a:ext cx="5486400" cy="5486400"/>
          </a:xfrm>
          <a:prstGeom prst="ellipse">
            <a:avLst/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4206240"/>
            <a:ext cx="3657600" cy="3657600"/>
          </a:xfrm>
          <a:prstGeom prst="ellipse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548640"/>
            <a:ext cx="164592" cy="16459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7" y="548640"/>
            <a:ext cx="164592" cy="164592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3856" y="548640"/>
            <a:ext cx="164592" cy="164592"/>
          </a:xfrm>
          <a:prstGeom prst="ellipse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26464" y="548640"/>
            <a:ext cx="164592" cy="164592"/>
          </a:xfrm>
          <a:prstGeom prst="ellipse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19072" y="548640"/>
            <a:ext cx="164592" cy="16459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EC4B6"/>
                </a:solidFill>
                <a:latin typeface="Segoe UI Semibold"/>
              </a:rPr>
              <a:t>PROJET AQUILA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432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FFFFFF"/>
                </a:solidFill>
                <a:latin typeface="Segoe UI"/>
              </a:rPr>
              <a:t>RAG Agentique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94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C9D6E6"/>
                </a:solidFill>
                <a:latin typeface="Segoe UI"/>
              </a:rPr>
              <a:t>Un système de question-réponse local, agentique et auto-évalué</a:t>
            </a:r>
          </a:p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C9D6E6"/>
                </a:solidFill>
                <a:latin typeface="Segoe UI"/>
              </a:rPr>
              <a:t>sur des documents académiques (ENS · Sorbonne)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92040"/>
            <a:ext cx="1613916" cy="384048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LangGraph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63724" y="4892040"/>
            <a:ext cx="3959352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Ollama / bge-m3 / gemma4:12b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24244" y="4892040"/>
            <a:ext cx="1490472" cy="384048"/>
          </a:xfrm>
          <a:prstGeom prst="roundRect">
            <a:avLst>
              <a:gd name="adj" fmla="val 5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ChromaDB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5883" y="4892040"/>
            <a:ext cx="1120140" cy="384048"/>
          </a:xfrm>
          <a:prstGeom prst="roundRect">
            <a:avLst>
              <a:gd name="adj" fmla="val 50000"/>
            </a:avLst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RAGAS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5B6677"/>
                </a:solidFill>
                <a:latin typeface="Segoe UI"/>
              </a:rPr>
              <a:t>Présentation technique complète du 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01/32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SOMMAIRE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Plan de la présentation — 2 parties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07008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B8A80"/>
                </a:solidFill>
                <a:latin typeface="Segoe UI Semibold"/>
              </a:rPr>
              <a:t>PARTIE 1 — PRÉSENTATION DU 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207008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8A5CF6"/>
                </a:solidFill>
                <a:latin typeface="Segoe UI Semibold"/>
              </a:rPr>
              <a:t>PARTIE 2 — ÉVALUATION BRIQUE PAR BRIQUE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36192"/>
            <a:ext cx="534924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36192"/>
            <a:ext cx="73152" cy="7772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1848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EC4B6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1609344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Contexte, cas d'usage &amp; dataset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191109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Pourquoi un RAG agentique local ? 50 questions ENS/Sorbonne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536192"/>
            <a:ext cx="534924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536192"/>
            <a:ext cx="73152" cy="777240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61848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3A86FF"/>
                </a:solidFill>
                <a:latin typeface="Segoe UI"/>
              </a:rP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1609344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Vue d'ensemble &amp; capture des états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191109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Séparer exécution (run_agentic_all) et scoring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432304"/>
            <a:ext cx="534924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432304"/>
            <a:ext cx="73152" cy="777240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5146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3A86FF"/>
                </a:solidFill>
                <a:latin typeface="Segoe U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4168" y="2505456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Architecture &amp; pipeline d'ingestion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4168" y="2807208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3 phases du système, du PDF à la base vectorielle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80" y="2432304"/>
            <a:ext cx="534924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6480" y="2432304"/>
            <a:ext cx="73152" cy="7772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25146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EC4B6"/>
                </a:solidFill>
                <a:latin typeface="Segoe UI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67728" y="2505456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Briques ①②③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8" y="2807208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Router, Retrieval, Re-ranking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328416"/>
            <a:ext cx="534924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3328416"/>
            <a:ext cx="73152" cy="7772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341071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FF6B35"/>
                </a:solidFill>
                <a:latin typeface="Segoe U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3401568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Cœur agentique (LangGraph)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44168" y="370332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Le Routeur, le graphe de décision et ses boucles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26480" y="3328416"/>
            <a:ext cx="534924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26480" y="3328416"/>
            <a:ext cx="73152" cy="7772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80" y="341071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FF6B35"/>
                </a:solidFill>
                <a:latin typeface="Segoe UI"/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7728" y="3401568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Briques ④⑤⑥⑦⑧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67728" y="370332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Grading, Rewriting, Generation, Déduplication, Fusion RRF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4224528"/>
            <a:ext cx="534924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4224528"/>
            <a:ext cx="73152" cy="77724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306824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8A5CF6"/>
                </a:solidFill>
                <a:latin typeface="Segoe UI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44168" y="4297680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Les 3 niveaux de difficulté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44168" y="4599432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Factuel, synthèse, complexe : un schéma dédié à chacun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26480" y="4224528"/>
            <a:ext cx="534924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26480" y="4224528"/>
            <a:ext cx="73152" cy="77724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55080" y="4306824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8A5CF6"/>
                </a:solidFill>
                <a:latin typeface="Segoe UI"/>
              </a:rPr>
              <a:t>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67728" y="4297680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Flux complet &amp; récapitulatif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67728" y="4599432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Exemple détaillé + tableau outil par brique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2920" y="5120640"/>
            <a:ext cx="534924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5120640"/>
            <a:ext cx="73152" cy="777240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202936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B8A80"/>
                </a:solidFill>
                <a:latin typeface="Segoe UI"/>
              </a:rPr>
              <a:t>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44168" y="5193792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Retrieval, stack &amp; déploiement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44168" y="5495544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MMR+BM25+RRF+rerank, modèles, local vs Colab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26480" y="5120640"/>
            <a:ext cx="534924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120640"/>
            <a:ext cx="73152" cy="777240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55080" y="5202936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E64A4A"/>
                </a:solidFill>
                <a:latin typeface="Segoe UI"/>
              </a:rP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67728" y="5193792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Résultats &amp; limites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67728" y="5495544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Chiffres mesurés et biais connus de l'évaluation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02/32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CONTEXTE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Pourquoi un RAG agentique local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98448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1F3A"/>
                </a:solidFill>
                <a:latin typeface="Segoe UI Semibold"/>
              </a:rPr>
              <a:t>Le problème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539496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Les étudiants doivent fouiller des brochures PDF longues et denses (ENS, Sorbonne) pour trouver une information précise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Un chatbot généraliste (ChatGPT) ne connaît pas le contenu exact de ces brochures et peut halluciner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Les données académiques ne doivent pas être envoyées à des API externes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Une simple recherche par mots-clés échoue sur les questions de synthèse ou de comparaison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298448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1F3A"/>
                </a:solidFill>
                <a:latin typeface="Segoe UI Semibold"/>
              </a:rPr>
              <a:t>La réponse : RAG agentique local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691640"/>
            <a:ext cx="539496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100% local : LLM (Ollama) + base vectorielle (ChromaDB) — aucune donnée ne sort de la machine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Agentique : un graphe de décision (LangGraph) choisit la source, juge la qualité du contexte et reformule si besoin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Retrieval hybride avancé : recherche sémantique + lexicale fusionnées et re-classées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Auto-évalué : pipeline testé sur 50 questions avec métriques RAGAS et évaluation par composant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760720"/>
            <a:ext cx="11201400" cy="566928"/>
          </a:xfrm>
          <a:prstGeom prst="roundRect">
            <a:avLst>
              <a:gd name="adj" fmla="val 18000"/>
            </a:avLst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89788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FFFFFF"/>
                </a:solidFill>
                <a:latin typeface="Segoe UI"/>
              </a:rPr>
              <a:t>Objectif : remplacer une recherche manuelle dans un PDF par un agent qui retrouve, vérifie et cite la bonne information.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03/32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CAS D'USAGE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Données et jeu de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Documents sources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27632"/>
            <a:ext cx="260604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500" b="1">
                <a:solidFill>
                  <a:srgbClr val="0B1F3A"/>
                </a:solidFill>
                <a:latin typeface="Segoe UI Semibold"/>
              </a:rPr>
              <a:t>ENS.pdf</a:t>
            </a:r>
          </a:p>
          <a:p>
            <a:pPr algn="ctr"/>
            <a:r>
              <a:rPr sz="1050">
                <a:solidFill>
                  <a:srgbClr val="5B6677"/>
                </a:solidFill>
                <a:latin typeface="Segoe UI"/>
              </a:rPr>
              <a:t>Brochure DMA 2024-2025
78 pages · ~1.4 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627632"/>
            <a:ext cx="260604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500" b="1">
                <a:solidFill>
                  <a:srgbClr val="0B1F3A"/>
                </a:solidFill>
                <a:latin typeface="Segoe UI Semibold"/>
              </a:rPr>
              <a:t>SORBONNE.pdf</a:t>
            </a:r>
          </a:p>
          <a:p>
            <a:pPr algn="ctr"/>
            <a:r>
              <a:rPr sz="1050">
                <a:solidFill>
                  <a:srgbClr val="5B6677"/>
                </a:solidFill>
                <a:latin typeface="Segoe UI"/>
              </a:rPr>
              <a:t>Brochure Master 2025-2026
~764 Ko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461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Dataset de test : 50 questions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57600"/>
            <a:ext cx="1874519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Niveau 1
Factuel</a:t>
            </a:r>
          </a:p>
          <a:p>
            <a:pPr algn="ctr"/>
            <a:r>
              <a:rPr sz="1050">
                <a:solidFill>
                  <a:srgbClr val="5B6677"/>
                </a:solidFill>
                <a:latin typeface="Segoe UI"/>
              </a:rPr>
              <a:t>11 questions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96312" y="3657600"/>
            <a:ext cx="1874519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Niveau 2
Synthèse</a:t>
            </a:r>
          </a:p>
          <a:p>
            <a:pPr algn="ctr"/>
            <a:r>
              <a:rPr sz="1050">
                <a:solidFill>
                  <a:srgbClr val="5B6677"/>
                </a:solidFill>
                <a:latin typeface="Segoe UI"/>
              </a:rPr>
              <a:t>19 questions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9704" y="3657600"/>
            <a:ext cx="1874519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Niveau 3
Complexe</a:t>
            </a:r>
          </a:p>
          <a:p>
            <a:pPr algn="ctr"/>
            <a:r>
              <a:rPr sz="1050">
                <a:solidFill>
                  <a:srgbClr val="5B6677"/>
                </a:solidFill>
                <a:latin typeface="Segoe UI"/>
              </a:rPr>
              <a:t>20 questions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23444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Répartition par 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69164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1F27"/>
                </a:solidFill>
                <a:latin typeface="Segoe UI"/>
              </a:rPr>
              <a:t>Sorbonne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719072"/>
            <a:ext cx="1828800" cy="237744"/>
          </a:xfrm>
          <a:prstGeom prst="roundRect">
            <a:avLst>
              <a:gd name="adj" fmla="val 50000"/>
            </a:avLst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58200" y="1719072"/>
            <a:ext cx="1828800" cy="23774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0" y="1691640"/>
            <a:ext cx="777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"/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1945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1F27"/>
                </a:solidFill>
                <a:latin typeface="Segoe UI"/>
              </a:rPr>
              <a:t>ENS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58200" y="2221992"/>
            <a:ext cx="1828800" cy="237744"/>
          </a:xfrm>
          <a:prstGeom prst="roundRect">
            <a:avLst>
              <a:gd name="adj" fmla="val 50000"/>
            </a:avLst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58200" y="2221992"/>
            <a:ext cx="1496290" cy="237744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0" y="2194560"/>
            <a:ext cx="777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"/>
              </a:rPr>
              <a:t>82%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69748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1F27"/>
                </a:solidFill>
                <a:latin typeface="Segoe UI"/>
              </a:rPr>
              <a:t>ENS + Sorbonne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58200" y="2724912"/>
            <a:ext cx="1828800" cy="237744"/>
          </a:xfrm>
          <a:prstGeom prst="roundRect">
            <a:avLst>
              <a:gd name="adj" fmla="val 50000"/>
            </a:avLst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58200" y="2724912"/>
            <a:ext cx="831272" cy="237744"/>
          </a:xfrm>
          <a:prstGeom prst="roundRect">
            <a:avLst>
              <a:gd name="adj" fmla="val 5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60" y="2697480"/>
            <a:ext cx="777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"/>
              </a:rPr>
              <a:t>45%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38328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Chaque question référence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749039"/>
            <a:ext cx="51206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250">
                <a:solidFill>
                  <a:srgbClr val="1B1F27"/>
                </a:solidFill>
                <a:latin typeface="Segoe UI"/>
              </a:rPr>
              <a:t>Une réponse attendue (vérité terrain) pour l'évaluation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250">
                <a:solidFill>
                  <a:srgbClr val="1B1F27"/>
                </a:solidFill>
                <a:latin typeface="Segoe UI"/>
              </a:rPr>
              <a:t>Le(s) document(s) et page(s) sources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250">
                <a:solidFill>
                  <a:srgbClr val="1B1F27"/>
                </a:solidFill>
                <a:latin typeface="Segoe UI"/>
              </a:rPr>
              <a:t>Un niveau de difficulté RAG (1 à 3) fixé au départ — utilisé comme référence d'évaluation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250">
                <a:solidFill>
                  <a:srgbClr val="1B1F27"/>
                </a:solidFill>
                <a:latin typeface="Segoe UI"/>
              </a:rPr>
              <a:t>Une section thématique du document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04/32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ARCHITECTURE GLOBALE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Trois phases du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3423513" cy="4846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298448"/>
            <a:ext cx="3423513" cy="960120"/>
          </a:xfrm>
          <a:prstGeom prst="roundRect">
            <a:avLst>
              <a:gd name="adj" fmla="val 5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64208"/>
            <a:ext cx="3423513" cy="59436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371600"/>
            <a:ext cx="302117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Segoe UI Semibold"/>
              </a:rPr>
              <a:t>PHASE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618488"/>
            <a:ext cx="302117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FFFFFF"/>
                </a:solidFill>
                <a:latin typeface="Segoe UI"/>
              </a:rPr>
              <a:t>Ingestion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313432"/>
            <a:ext cx="302117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B6677"/>
                </a:solidFill>
                <a:latin typeface="Segoe UI"/>
              </a:rPr>
              <a:t>Une seule fois, par document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" y="2606040"/>
            <a:ext cx="3021177" cy="292608"/>
          </a:xfrm>
          <a:prstGeom prst="roundRect">
            <a:avLst>
              <a:gd name="adj" fmla="val 25000"/>
            </a:avLst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2633472"/>
            <a:ext cx="287487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1" i="0">
                <a:solidFill>
                  <a:srgbClr val="2EC4B6"/>
                </a:solidFill>
                <a:latin typeface="Segoe UI Semibold"/>
              </a:rPr>
              <a:t>ingest.py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299923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_load_pdf() — extraction PDF → Markdown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64991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_concat_pages() — recollement + repères de page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73075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_presplit_by_headers() — découpe par titres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409651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_agentic_split_section() — LLM (gemma4:12b)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446227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_fallback_split_large() — sécurité déterministe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" y="5897880"/>
            <a:ext cx="3021177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5989320"/>
            <a:ext cx="302117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2EC4B6"/>
                </a:solidFill>
                <a:latin typeface="Segoe UI Semibold"/>
              </a:rPr>
              <a:t>→ produit : vector_db/ (ChromaDB)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944721" y="3703320"/>
            <a:ext cx="374904" cy="0"/>
          </a:xfrm>
          <a:prstGeom prst="line">
            <a:avLst/>
          </a:prstGeom>
          <a:ln w="38100">
            <a:solidFill>
              <a:srgbClr val="0B1F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383633" y="1298448"/>
            <a:ext cx="3423513" cy="4846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383633" y="1298448"/>
            <a:ext cx="3423513" cy="960120"/>
          </a:xfrm>
          <a:prstGeom prst="roundRect">
            <a:avLst>
              <a:gd name="adj" fmla="val 5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83633" y="1664208"/>
            <a:ext cx="3423513" cy="59436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84801" y="1371600"/>
            <a:ext cx="302117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Segoe UI Semibold"/>
              </a:rPr>
              <a:t>PHASE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4801" y="1618488"/>
            <a:ext cx="302117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FFFFFF"/>
                </a:solidFill>
                <a:latin typeface="Segoe UI"/>
              </a:rPr>
              <a:t>Question / Réponse agentique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84801" y="2313432"/>
            <a:ext cx="302117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B6677"/>
                </a:solidFill>
                <a:latin typeface="Segoe UI"/>
              </a:rPr>
              <a:t>À chaque question posée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84801" y="2606040"/>
            <a:ext cx="3021177" cy="292608"/>
          </a:xfrm>
          <a:prstGeom prst="roundRect">
            <a:avLst>
              <a:gd name="adj" fmla="val 25000"/>
            </a:avLst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94529" y="2633472"/>
            <a:ext cx="287487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1" i="0">
                <a:solidFill>
                  <a:srgbClr val="FF6B35"/>
                </a:solidFill>
                <a:latin typeface="Segoe UI Semibold"/>
              </a:rPr>
              <a:t>agent.py (graphe LangGraph)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84801" y="299923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identify_sources — le Routeur (source + difficulté)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84801" y="3364991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retrieve_node — retrieval hybride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84801" y="373075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grade_documents — juge la suffisance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84801" y="409651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rewrite_query — reformule si besoin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84801" y="446227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generate_node — génère la réponse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84801" y="5897880"/>
            <a:ext cx="3021177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84801" y="5989320"/>
            <a:ext cx="302117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FF6B35"/>
                </a:solidFill>
                <a:latin typeface="Segoe UI Semibold"/>
              </a:rPr>
              <a:t>→ produit : une réponse + un historique d'exécution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825434" y="3703320"/>
            <a:ext cx="374904" cy="0"/>
          </a:xfrm>
          <a:prstGeom prst="line">
            <a:avLst/>
          </a:prstGeom>
          <a:ln w="38100">
            <a:solidFill>
              <a:srgbClr val="0B1F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8264347" y="1298448"/>
            <a:ext cx="3423513" cy="4846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264347" y="1298448"/>
            <a:ext cx="3423513" cy="960120"/>
          </a:xfrm>
          <a:prstGeom prst="roundRect">
            <a:avLst>
              <a:gd name="adj" fmla="val 5000"/>
            </a:avLst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64347" y="1664208"/>
            <a:ext cx="3423513" cy="59436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65515" y="1371600"/>
            <a:ext cx="302117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Segoe UI Semibold"/>
              </a:rPr>
              <a:t>PHASE 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65515" y="1618488"/>
            <a:ext cx="302117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FFFFFF"/>
                </a:solidFill>
                <a:latin typeface="Segoe UI"/>
              </a:rPr>
              <a:t>Évaluation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65515" y="2313432"/>
            <a:ext cx="302117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B6677"/>
                </a:solidFill>
                <a:latin typeface="Segoe UI"/>
              </a:rPr>
              <a:t>Sur l'ensemble du dataset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465515" y="2606040"/>
            <a:ext cx="3021177" cy="292608"/>
          </a:xfrm>
          <a:prstGeom prst="roundRect">
            <a:avLst>
              <a:gd name="adj" fmla="val 25000"/>
            </a:avLst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75243" y="2633472"/>
            <a:ext cx="287487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1" i="0">
                <a:solidFill>
                  <a:srgbClr val="8A5CF6"/>
                </a:solidFill>
                <a:latin typeface="Segoe UI Semibold"/>
              </a:rPr>
              <a:t>run_agentic_all.py / evaluate_*.py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65515" y="299923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run_agentic_all.py — exécute les 50 questions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65515" y="3364991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→ agentic_results_debug.json (états détaillés)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65515" y="373075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evaluate_ragas.py — 5 métriques RAGAS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65515" y="409651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evaluate_components.py — 8 briques (relit le debug)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465515" y="5897880"/>
            <a:ext cx="3021177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65515" y="5989320"/>
            <a:ext cx="302117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8A5CF6"/>
                </a:solidFill>
                <a:latin typeface="Segoe UI Semibold"/>
              </a:rPr>
              <a:t>→ produit : ragas_evaluation.csv / component_evaluation.csv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05/32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PHASE 1 — INGESTION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Du PDF brut à la base vectorielle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316736"/>
            <a:ext cx="365760" cy="36576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73100" y="1682496"/>
            <a:ext cx="25400" cy="22860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1560" y="1280160"/>
            <a:ext cx="10652760" cy="566927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" y="1280160"/>
            <a:ext cx="54864" cy="566927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1321308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Extraction page par page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321308"/>
            <a:ext cx="7406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Chaque page du PDF est convertie en texte Markdown séparément (pymupdf4llm).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1947671"/>
            <a:ext cx="365760" cy="36576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3100" y="2313431"/>
            <a:ext cx="25400" cy="22860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51560" y="1911095"/>
            <a:ext cx="10652760" cy="566927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51560" y="1911095"/>
            <a:ext cx="54864" cy="566927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1952243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Nettoyage du texte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1952243"/>
            <a:ext cx="7406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Réparation des problèmes d'encodage et suppression automatique des sommaires détectés.</a:t>
            </a:r>
          </a:p>
        </p:txBody>
      </p:sp>
      <p:sp>
        <p:nvSpPr>
          <p:cNvPr id="18" name="Oval 17"/>
          <p:cNvSpPr/>
          <p:nvPr/>
        </p:nvSpPr>
        <p:spPr>
          <a:xfrm>
            <a:off x="502920" y="2578608"/>
            <a:ext cx="365760" cy="365760"/>
          </a:xfrm>
          <a:prstGeom prst="ellipse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3100" y="2944368"/>
            <a:ext cx="25400" cy="22860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51560" y="2542032"/>
            <a:ext cx="10652760" cy="566927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51560" y="2542032"/>
            <a:ext cx="54864" cy="566927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61872" y="2583180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Recollement en un seul texte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2583180"/>
            <a:ext cx="7406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Les pages sont mises bout à bout ; un repère discret garde juste en mémoire le numéro de page d'origine, pour pouvoir citer la source plus tard.</a:t>
            </a:r>
          </a:p>
        </p:txBody>
      </p:sp>
      <p:sp>
        <p:nvSpPr>
          <p:cNvPr id="24" name="Oval 23"/>
          <p:cNvSpPr/>
          <p:nvPr/>
        </p:nvSpPr>
        <p:spPr>
          <a:xfrm>
            <a:off x="502920" y="3209544"/>
            <a:ext cx="365760" cy="365760"/>
          </a:xfrm>
          <a:prstGeom prst="ellipse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3100" y="3575304"/>
            <a:ext cx="25400" cy="22860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51560" y="3172968"/>
            <a:ext cx="10652760" cy="566927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" y="3172968"/>
            <a:ext cx="54864" cy="566927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61872" y="3214116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Découpage par titres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3214116"/>
            <a:ext cx="7406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Le document est coupé selon ses titres et sous-titres — ce découpage ignore volontairement les frontières de page.</a:t>
            </a:r>
          </a:p>
        </p:txBody>
      </p:sp>
      <p:sp>
        <p:nvSpPr>
          <p:cNvPr id="30" name="Oval 29"/>
          <p:cNvSpPr/>
          <p:nvPr/>
        </p:nvSpPr>
        <p:spPr>
          <a:xfrm>
            <a:off x="502920" y="3840480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3100" y="4206240"/>
            <a:ext cx="25400" cy="22860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51560" y="3803904"/>
            <a:ext cx="10652760" cy="566927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51560" y="3803904"/>
            <a:ext cx="54864" cy="566927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61872" y="3845052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Affinage par un LLM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0" y="3845052"/>
            <a:ext cx="7406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gemma4:12b relit chaque grande section et insère des séparateurs entre sous-parties cohérentes, sans jamais réécrire le texte original.</a:t>
            </a:r>
          </a:p>
        </p:txBody>
      </p:sp>
      <p:sp>
        <p:nvSpPr>
          <p:cNvPr id="36" name="Oval 35"/>
          <p:cNvSpPr/>
          <p:nvPr/>
        </p:nvSpPr>
        <p:spPr>
          <a:xfrm>
            <a:off x="502920" y="4471416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3100" y="4837176"/>
            <a:ext cx="25400" cy="22860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51560" y="4434840"/>
            <a:ext cx="10652760" cy="566927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1560" y="4434840"/>
            <a:ext cx="54864" cy="566927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61872" y="4475988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Vérification anti-hallucination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0" y="4475988"/>
            <a:ext cx="7406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On vérifie qu'au moins 60% des mots du texte d'origine sont toujours présents ; sinon, le découpage du LLM est ignoré.</a:t>
            </a:r>
          </a:p>
        </p:txBody>
      </p:sp>
      <p:sp>
        <p:nvSpPr>
          <p:cNvPr id="42" name="Oval 41"/>
          <p:cNvSpPr/>
          <p:nvPr/>
        </p:nvSpPr>
        <p:spPr>
          <a:xfrm>
            <a:off x="502920" y="5102351"/>
            <a:ext cx="365760" cy="365760"/>
          </a:xfrm>
          <a:prstGeom prst="ellipse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3100" y="5468111"/>
            <a:ext cx="25400" cy="22860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051560" y="5065775"/>
            <a:ext cx="10652760" cy="566927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51560" y="5065775"/>
            <a:ext cx="54864" cy="566927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61872" y="5106923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Sécurité finale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0" y="5106923"/>
            <a:ext cx="7406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Si un morceau reste trop long malgré tout, un découpage automatique (sans LLM) prend le relais.</a:t>
            </a:r>
          </a:p>
        </p:txBody>
      </p:sp>
      <p:sp>
        <p:nvSpPr>
          <p:cNvPr id="48" name="Oval 47"/>
          <p:cNvSpPr/>
          <p:nvPr/>
        </p:nvSpPr>
        <p:spPr>
          <a:xfrm>
            <a:off x="502920" y="5733288"/>
            <a:ext cx="365760" cy="365760"/>
          </a:xfrm>
          <a:prstGeom prst="ellipse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8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51560" y="5696712"/>
            <a:ext cx="10652760" cy="566927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51560" y="5696712"/>
            <a:ext cx="54864" cy="566927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61872" y="5737860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Mise en contexte et vectorisation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0" y="5737860"/>
            <a:ext cx="7406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Chaque chunk reçoit un en-tête (document, page, titres, mots-clés), puis est transformé en vecteur (bge-m3) et stocké dans ChromaDB.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06/32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6B35"/>
                </a:solidFill>
                <a:latin typeface="Segoe UI Semibold"/>
              </a:rPr>
              <a:t>ZOOM — INGESTION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Le split agentique anti-hallucination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11556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677"/>
                </a:solidFill>
                <a:latin typeface="Segoe UI"/>
              </a:rPr>
              <a:t>Un LLM (gemma4:12b) découpe les longues sections en sous-parties cohérentes, sans jamais réécrire le texte.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22860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5B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Bloc de section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Texte brut Markdown
(&gt; 800 caractères)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2468880"/>
            <a:ext cx="41148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291840" y="1874519"/>
            <a:ext cx="27432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LLM gemma4:12b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Insère uniquement des
marqueurs ===SPLIT===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2468880"/>
            <a:ext cx="41148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iamond 10"/>
          <p:cNvSpPr/>
          <p:nvPr/>
        </p:nvSpPr>
        <p:spPr>
          <a:xfrm>
            <a:off x="6492240" y="1691640"/>
            <a:ext cx="2286000" cy="1554480"/>
          </a:xfrm>
          <a:prstGeom prst="diamond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≥ 60% des mots
d'origine présents ?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8778240" y="2011680"/>
            <a:ext cx="502920" cy="91440"/>
          </a:xfrm>
          <a:prstGeom prst="line">
            <a:avLst/>
          </a:prstGeom>
          <a:ln w="28575">
            <a:solidFill>
              <a:srgbClr val="2EA8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281160" y="1691640"/>
            <a:ext cx="242316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Validé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Sous-chunks conservés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778240" y="2834640"/>
            <a:ext cx="502920" cy="91440"/>
          </a:xfrm>
          <a:prstGeom prst="line">
            <a:avLst/>
          </a:prstGeom>
          <a:ln w="28575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281160" y="2606040"/>
            <a:ext cx="242316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Rejeté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Fallback : bloc original conservé intact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Règles absolues respectées par le LLM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94760"/>
            <a:ext cx="269748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794760"/>
            <a:ext cx="269748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977639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Ne jamais couper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4370832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5B6677"/>
                </a:solidFill>
                <a:latin typeface="Segoe UI"/>
              </a:rPr>
              <a:t>un tableau Markdown au milieu d'une ligne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9272" y="3794760"/>
            <a:ext cx="269748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19272" y="3794760"/>
            <a:ext cx="269748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83864" y="3977639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Ne jamais couper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3864" y="4370832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5B6677"/>
                </a:solidFill>
                <a:latin typeface="Segoe UI"/>
              </a:rPr>
              <a:t>une liste à puces ou numérotée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35624" y="3794760"/>
            <a:ext cx="269748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35624" y="3794760"/>
            <a:ext cx="269748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0216" y="3977639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Ne jamais résumer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4370832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5B6677"/>
                </a:solidFill>
                <a:latin typeface="Segoe UI"/>
              </a:rPr>
              <a:t>ou reformuler — uniquement insérer des marqueurs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51976" y="3794760"/>
            <a:ext cx="269748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51976" y="3794760"/>
            <a:ext cx="269748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16567" y="3977639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Toujours garder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7" y="4370832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5B6677"/>
                </a:solidFill>
                <a:latin typeface="Segoe UI"/>
              </a:rPr>
              <a:t>le texte source identique caractère pour caractère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486400"/>
            <a:ext cx="11201400" cy="822960"/>
          </a:xfrm>
          <a:prstGeom prst="roundRect">
            <a:avLst>
              <a:gd name="adj" fmla="val 15000"/>
            </a:avLst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60527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Segoe UI"/>
              </a:rPr>
              <a:t>Garde-fou final : si le split agentique échoue ou produit un bloc encore trop long, un découpage déterministe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Segoe UI"/>
              </a:rPr>
              <a:t>(sans LLM, basé sur la taille et la structure du texte) prend le relais. Zéro appel LLM à cette étape = zéro hallucination possible.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07/32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6B35"/>
                </a:solidFill>
                <a:latin typeface="Segoe UI Semibold"/>
              </a:rPr>
              <a:t>PHASE 2 — CŒUR AGENTIQUE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Le graphe de décision LangGraph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21031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00" b="1">
                <a:solidFill>
                  <a:srgbClr val="0B1F3A"/>
                </a:solidFill>
                <a:latin typeface="Segoe UI Semibold"/>
              </a:rPr>
              <a:t>① Routeur</a:t>
            </a:r>
          </a:p>
          <a:p>
            <a:pPr algn="ctr"/>
            <a:r>
              <a:rPr sz="869">
                <a:solidFill>
                  <a:srgbClr val="5B6677"/>
                </a:solidFill>
                <a:latin typeface="Segoe UI"/>
              </a:rPr>
              <a:t>identify_sources
source(s) + difficulté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80360" y="1417320"/>
            <a:ext cx="21031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00" b="1">
                <a:solidFill>
                  <a:srgbClr val="0B1F3A"/>
                </a:solidFill>
                <a:latin typeface="Segoe UI Semibold"/>
              </a:rPr>
              <a:t>② Retrieval</a:t>
            </a:r>
          </a:p>
          <a:p>
            <a:pPr algn="ctr"/>
            <a:r>
              <a:rPr sz="869">
                <a:solidFill>
                  <a:srgbClr val="5B6677"/>
                </a:solidFill>
                <a:latin typeface="Segoe UI"/>
              </a:rPr>
              <a:t>retrieve_node
MMR + BM25 + RRF + rerank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417320"/>
            <a:ext cx="21031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00" b="1">
                <a:solidFill>
                  <a:srgbClr val="0B1F3A"/>
                </a:solidFill>
                <a:latin typeface="Segoe UI Semibold"/>
              </a:rPr>
              <a:t>⑥ Génération</a:t>
            </a:r>
          </a:p>
          <a:p>
            <a:pPr algn="ctr"/>
            <a:r>
              <a:rPr sz="869">
                <a:solidFill>
                  <a:srgbClr val="5B6677"/>
                </a:solidFill>
                <a:latin typeface="Segoe UI"/>
              </a:rPr>
              <a:t>generate_node
temperature = 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1554480"/>
            <a:ext cx="1005840" cy="502920"/>
          </a:xfrm>
          <a:prstGeom prst="roundRect">
            <a:avLst>
              <a:gd name="adj" fmla="val 50000"/>
            </a:avLst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END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06040" y="1805940"/>
            <a:ext cx="27432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983480" y="1805940"/>
            <a:ext cx="27432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434840" y="1188720"/>
            <a:ext cx="1554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1">
                <a:solidFill>
                  <a:srgbClr val="5B6677"/>
                </a:solidFill>
                <a:latin typeface="Segoe UI"/>
              </a:rPr>
              <a:t>Difficulté 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60920" y="1805940"/>
            <a:ext cx="246888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iamond 13"/>
          <p:cNvSpPr/>
          <p:nvPr/>
        </p:nvSpPr>
        <p:spPr>
          <a:xfrm>
            <a:off x="2743200" y="2606040"/>
            <a:ext cx="2377440" cy="1188720"/>
          </a:xfrm>
          <a:prstGeom prst="diamond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 Semibold"/>
              </a:rPr>
              <a:t>③ Grading
(grade_documents)
Chunks suffisants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0" y="4069080"/>
            <a:ext cx="237744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8A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④ upgrade_difficulty</a:t>
            </a:r>
          </a:p>
          <a:p>
            <a:pPr algn="ctr"/>
            <a:r>
              <a:rPr sz="830">
                <a:solidFill>
                  <a:srgbClr val="5B6677"/>
                </a:solidFill>
                <a:latin typeface="Segoe UI"/>
              </a:rPr>
              <a:t>passe la difficulté à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94960" y="4069080"/>
            <a:ext cx="237744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⑤ rewrite_query</a:t>
            </a:r>
          </a:p>
          <a:p>
            <a:pPr algn="ctr"/>
            <a:r>
              <a:rPr sz="830">
                <a:solidFill>
                  <a:srgbClr val="5B6677"/>
                </a:solidFill>
                <a:latin typeface="Segoe UI"/>
              </a:rPr>
              <a:t>reformule la requête ciblée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31920" y="2194560"/>
            <a:ext cx="0" cy="41148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023360" y="2249424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1">
                <a:solidFill>
                  <a:srgbClr val="5B6677"/>
                </a:solidFill>
                <a:latin typeface="Segoe UI"/>
              </a:rPr>
              <a:t>Difficulté 2/3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074920" y="2212848"/>
            <a:ext cx="914400" cy="667512"/>
          </a:xfrm>
          <a:prstGeom prst="line">
            <a:avLst/>
          </a:prstGeom>
          <a:ln w="28575">
            <a:solidFill>
              <a:srgbClr val="2EA8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166360" y="2514600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EA86A"/>
                </a:solidFill>
                <a:latin typeface="Segoe UI"/>
              </a:rPr>
              <a:t>OUI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931920" y="3794760"/>
            <a:ext cx="0" cy="274320"/>
          </a:xfrm>
          <a:prstGeom prst="line">
            <a:avLst/>
          </a:prstGeom>
          <a:ln w="28575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041648" y="3822191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E64A4A"/>
                </a:solidFill>
                <a:latin typeface="Segoe UI"/>
              </a:rPr>
              <a:t>NON (diff&lt;3)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846320" y="3657600"/>
            <a:ext cx="777240" cy="411480"/>
          </a:xfrm>
          <a:prstGeom prst="line">
            <a:avLst/>
          </a:prstGeom>
          <a:ln w="28575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715000" y="3520440"/>
            <a:ext cx="15087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" b="0" i="1">
                <a:solidFill>
                  <a:srgbClr val="E64A4A"/>
                </a:solidFill>
                <a:latin typeface="Segoe UI"/>
              </a:rPr>
              <a:t>NON (diff=3)</a:t>
            </a:r>
          </a:p>
          <a:p>
            <a:pPr algn="l">
              <a:lnSpc>
                <a:spcPct val="100000"/>
              </a:lnSpc>
            </a:pPr>
            <a:r>
              <a:rPr sz="770" b="0" i="1">
                <a:solidFill>
                  <a:srgbClr val="E64A4A"/>
                </a:solidFill>
                <a:latin typeface="Segoe UI"/>
              </a:rPr>
              <a:t>direct, sans upgrade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120640" y="4366260"/>
            <a:ext cx="27432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772400" y="4366260"/>
            <a:ext cx="237744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0149840" y="1143000"/>
            <a:ext cx="0" cy="320040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3931920" y="1143000"/>
            <a:ext cx="617220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931920" y="1143000"/>
            <a:ext cx="0" cy="27432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080760" y="1161288"/>
            <a:ext cx="4023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 i="1">
                <a:solidFill>
                  <a:srgbClr val="5B6677"/>
                </a:solidFill>
                <a:latin typeface="Segoe UI"/>
              </a:rPr>
              <a:t>2ᵉ tentative reformulée — maximum 1 fois (MAX_ATTEMPTS = 1)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44068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Logique d'optimisation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742432"/>
            <a:ext cx="111556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3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Difficulté 1 (factuel) : aucun grading, réponse directe après le 1er retrieval — économise des appels LLM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3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Difficulté 3 : la requête est décomposée en sous-questions dès le Routeur, sans HyDE au 1er passage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08/32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NIVEAU 1 — FACTUEL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Question factuelle : une information directe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11201400" cy="502920"/>
          </a:xfrm>
          <a:prstGeom prst="roundRect">
            <a:avLst>
              <a:gd name="adj" fmla="val 25000"/>
            </a:avLst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25296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FFFFFF"/>
                </a:solidFill>
                <a:latin typeface="Segoe UI"/>
              </a:rPr>
              <a:t>⚖  Ce niveau est jugé par le Routeur LLM (gemma4:12b) à chaque question — il peut différer du niveau réel fixé dans le dataset de test, et même être réévalué en cours de route si le contexte récupéré est insuffisant.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3520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3520440" cy="5486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93392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Ce que c'est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59152"/>
            <a:ext cx="310896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Une date, un nombre, un nom, une liste courte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Une seule information suffit à répondre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Ex. : "Combien d'étudiant·e·s/an le DMA sélectionne-t-il ?"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194560"/>
            <a:ext cx="22860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00" b="1">
                <a:solidFill>
                  <a:srgbClr val="0B1F3A"/>
                </a:solidFill>
                <a:latin typeface="Segoe UI Semibold"/>
              </a:rPr>
              <a:t>① Routeur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difficulté = 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629400" y="2578608"/>
            <a:ext cx="36576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040880" y="2194560"/>
            <a:ext cx="22860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00" b="1">
                <a:solidFill>
                  <a:srgbClr val="0B1F3A"/>
                </a:solidFill>
                <a:latin typeface="Segoe UI Semibold"/>
              </a:rPr>
              <a:t>② Retrieval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HyDE désactivé
1 seul passage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69480" y="3063239"/>
            <a:ext cx="0" cy="365761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06640" y="3081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B6677"/>
                </a:solidFill>
                <a:latin typeface="Segoe UI"/>
              </a:rPr>
              <a:t>pas de grading — réponse directe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474720"/>
            <a:ext cx="22860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00" b="1">
                <a:solidFill>
                  <a:srgbClr val="0B1F3A"/>
                </a:solidFill>
                <a:latin typeface="Segoe UI Semibold"/>
              </a:rPr>
              <a:t>⑥ Génération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réponse finale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3858768"/>
            <a:ext cx="36576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040880" y="3639312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 Semibold"/>
              </a:rPr>
              <a:t>END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40680" y="2971800"/>
            <a:ext cx="0" cy="502920"/>
          </a:xfrm>
          <a:prstGeom prst="line">
            <a:avLst/>
          </a:prstGeom>
          <a:ln w="28575">
            <a:solidFill>
              <a:srgbClr val="5B66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44348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Pourquoi cette logique 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800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2EC4B6"/>
                </a:solidFill>
                <a:latin typeface="Segoe UI"/>
              </a:rPr>
              <a:t>—  </a:t>
            </a:r>
            <a:r>
              <a:rPr sz="1100">
                <a:solidFill>
                  <a:srgbClr val="1B1F27"/>
                </a:solidFill>
                <a:latin typeface="Segoe UI"/>
              </a:rPr>
              <a:t>Inutile de générer une réponse hypothétique (HyDE) ou de faire juger le contexte par un LLM pour une information unique et explicite — cela économise 2 à 3 appels LLM par question.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48640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5486400"/>
            <a:ext cx="3520440" cy="5486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63270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11 / 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053328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questions de ce niveau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dans le dataset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06240" y="548640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06240" y="5486400"/>
            <a:ext cx="352044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43400" y="563270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≈ 2.6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6053328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chunks récupérés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en moyenne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9559" y="548640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9559" y="5486400"/>
            <a:ext cx="3520440" cy="54864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19" y="563270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0999" y="6053328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reformulations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déclenchées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09/32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A86FF"/>
                </a:solidFill>
                <a:latin typeface="Segoe UI Semibold"/>
              </a:rPr>
              <a:t>NIVEAU 2 — SYNTHÈSE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Question de synthèse : combiner plusieurs informations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11201400" cy="502920"/>
          </a:xfrm>
          <a:prstGeom prst="roundRect">
            <a:avLst>
              <a:gd name="adj" fmla="val 25000"/>
            </a:avLst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25296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FFFFFF"/>
                </a:solidFill>
                <a:latin typeface="Segoe UI"/>
              </a:rPr>
              <a:t>⚖  Ce niveau est jugé par le Routeur LLM (gemma4:12b) à chaque question — il peut différer du niveau réel fixé dans le dataset de test, et même être réévalué en cours de route si le contexte récupéré est insuffisant.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3520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3520440" cy="54864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93392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Ce que c'est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59152"/>
            <a:ext cx="310896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3A86FF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Nécessite de combiner plusieurs informations d'un même document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3A86FF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Demande d'expliquer un fonctionnement, pas juste un fait isolé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3A86FF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Ex. : "Comment fonctionne le tutorat à l'ENS ?"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783080"/>
            <a:ext cx="39319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① Routeur</a:t>
            </a:r>
          </a:p>
          <a:p>
            <a:pPr algn="ctr"/>
            <a:r>
              <a:rPr sz="900">
                <a:solidFill>
                  <a:srgbClr val="5B6677"/>
                </a:solidFill>
                <a:latin typeface="Segoe UI"/>
              </a:rPr>
              <a:t>difficulté = 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2331720"/>
            <a:ext cx="0" cy="914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297680" y="2423160"/>
            <a:ext cx="39319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② Retrieval</a:t>
            </a:r>
          </a:p>
          <a:p>
            <a:pPr algn="ctr"/>
            <a:r>
              <a:rPr sz="869">
                <a:solidFill>
                  <a:srgbClr val="5B6677"/>
                </a:solidFill>
                <a:latin typeface="Segoe UI"/>
              </a:rPr>
              <a:t>HyDE activé — réponse fictive générée puis vectorisée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263640" y="2971800"/>
            <a:ext cx="0" cy="914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Diamond 15"/>
          <p:cNvSpPr/>
          <p:nvPr/>
        </p:nvSpPr>
        <p:spPr>
          <a:xfrm>
            <a:off x="4800600" y="3063240"/>
            <a:ext cx="2926080" cy="868680"/>
          </a:xfrm>
          <a:prstGeom prst="diamond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 Semibold"/>
              </a:rPr>
              <a:t>③ Grading
Chunks suffisants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20" y="1783080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30" b="1">
                <a:solidFill>
                  <a:srgbClr val="0B1F3A"/>
                </a:solidFill>
                <a:latin typeface="Segoe UI Semibold"/>
              </a:rPr>
              <a:t>⑥ Génération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réponse finale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1874519"/>
            <a:ext cx="777240" cy="365760"/>
          </a:xfrm>
          <a:prstGeom prst="roundRect">
            <a:avLst>
              <a:gd name="adj" fmla="val 50000"/>
            </a:avLst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 Semibold"/>
              </a:rPr>
              <a:t>END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515600" y="2057400"/>
            <a:ext cx="210312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7726679" y="2331720"/>
            <a:ext cx="1051561" cy="914400"/>
          </a:xfrm>
          <a:prstGeom prst="line">
            <a:avLst/>
          </a:prstGeom>
          <a:ln w="28575">
            <a:solidFill>
              <a:srgbClr val="2EA8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818120" y="2880360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EA86A"/>
                </a:solidFill>
                <a:latin typeface="Segoe UI"/>
              </a:rPr>
              <a:t>OUI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263640" y="3931920"/>
            <a:ext cx="0" cy="91440"/>
          </a:xfrm>
          <a:prstGeom prst="line">
            <a:avLst/>
          </a:prstGeom>
          <a:ln w="28575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183879" y="406908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E64A4A"/>
                </a:solidFill>
                <a:latin typeface="Segoe UI"/>
              </a:rPr>
              <a:t>NON → remonte à difficulté 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34840" y="4023360"/>
            <a:ext cx="36576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8A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④ upgrade_difficulty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263640" y="4480560"/>
            <a:ext cx="0" cy="914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434840" y="4572000"/>
            <a:ext cx="36576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⑤ rewrite_query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092440" y="4800600"/>
            <a:ext cx="342900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1521440" y="2697480"/>
            <a:ext cx="0" cy="2084832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8229600" y="2697480"/>
            <a:ext cx="3273552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321040" y="4572000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2ᵉ retrieval — pool = 3 anciens</a:t>
            </a:r>
          </a:p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chunks + 2 nouveaux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19379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B6677"/>
                </a:solidFill>
                <a:latin typeface="Segoe UI"/>
              </a:rPr>
              <a:t>Le HyDE rapproche la recherche vectorielle de l'espace des réponses attendues, utile quand l'information est diffuse dans le document.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53212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532120"/>
            <a:ext cx="3520440" cy="54864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67842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19 / 50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6099048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questions de ce niveau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dans le dataset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06240" y="553212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06240" y="5532120"/>
            <a:ext cx="352044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43400" y="567842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≈ 2.8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6099048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chunks récupérés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en moyenne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09559" y="553212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909559" y="5532120"/>
            <a:ext cx="3520440" cy="54864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19" y="567842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21%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0999" y="6099048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reformulations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déclenchées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10/32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6B35"/>
                </a:solidFill>
                <a:latin typeface="Segoe UI Semibold"/>
              </a:rPr>
              <a:t>NIVEAU 3 — COMPLEXE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Question complexe : comparaison ou raisonnement croisé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11201400" cy="502920"/>
          </a:xfrm>
          <a:prstGeom prst="roundRect">
            <a:avLst>
              <a:gd name="adj" fmla="val 25000"/>
            </a:avLst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25296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FFFFFF"/>
                </a:solidFill>
                <a:latin typeface="Segoe UI"/>
              </a:rPr>
              <a:t>⚖  Ce niveau est jugé par le Routeur LLM (gemma4:12b) à chaque question — il peut différer du niveau réel fixé dans le dataset de test, et même être réévalué en cours de route si le contexte récupéré est insuffisant.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3520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352044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93392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Ce que c'est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59152"/>
            <a:ext cx="310896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Nécessite de croiser plusieurs sources ou sections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Comparaisons, raisonnement multi-documents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Ex. : "Compare les ECTS L3 et M1 à l'ENS"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783080"/>
            <a:ext cx="39319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① Routeur</a:t>
            </a:r>
          </a:p>
          <a:p>
            <a:pPr algn="ctr"/>
            <a:r>
              <a:rPr sz="869">
                <a:solidFill>
                  <a:srgbClr val="5B6677"/>
                </a:solidFill>
                <a:latin typeface="Segoe UI"/>
              </a:rPr>
              <a:t>difficulté = 3 — jusqu'à 2 sous-requêtes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5212080" y="2331720"/>
            <a:ext cx="274320" cy="914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040880" y="2331720"/>
            <a:ext cx="274320" cy="914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297680" y="2423160"/>
            <a:ext cx="1874519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950" b="1">
                <a:solidFill>
                  <a:srgbClr val="0B1F3A"/>
                </a:solidFill>
                <a:latin typeface="Segoe UI Semibold"/>
              </a:rPr>
              <a:t>Retrieval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sous-requête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2423160"/>
            <a:ext cx="1874519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950" b="1">
                <a:solidFill>
                  <a:srgbClr val="0B1F3A"/>
                </a:solidFill>
                <a:latin typeface="Segoe UI Semibold"/>
              </a:rPr>
              <a:t>Retrieval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sous-requête 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212080" y="2926080"/>
            <a:ext cx="731520" cy="914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6583680" y="2926080"/>
            <a:ext cx="731520" cy="914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297680" y="3017520"/>
            <a:ext cx="393192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Fusion + rerank global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sur la question originale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263640" y="3520440"/>
            <a:ext cx="0" cy="914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Diamond 20"/>
          <p:cNvSpPr/>
          <p:nvPr/>
        </p:nvSpPr>
        <p:spPr>
          <a:xfrm>
            <a:off x="4800600" y="3611880"/>
            <a:ext cx="2926080" cy="868680"/>
          </a:xfrm>
          <a:prstGeom prst="diamond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 Semibold"/>
              </a:rPr>
              <a:t>③ Grading
Chunks suffisants 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03920" y="1783080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30" b="1">
                <a:solidFill>
                  <a:srgbClr val="0B1F3A"/>
                </a:solidFill>
                <a:latin typeface="Segoe UI Semibold"/>
              </a:rPr>
              <a:t>⑥ Génération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réponse finale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744200" y="1874519"/>
            <a:ext cx="777240" cy="365760"/>
          </a:xfrm>
          <a:prstGeom prst="roundRect">
            <a:avLst>
              <a:gd name="adj" fmla="val 50000"/>
            </a:avLst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 Semibold"/>
              </a:rPr>
              <a:t>END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515600" y="2057400"/>
            <a:ext cx="210312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7726679" y="2331720"/>
            <a:ext cx="1051561" cy="1463040"/>
          </a:xfrm>
          <a:prstGeom prst="line">
            <a:avLst/>
          </a:prstGeom>
          <a:ln w="28575">
            <a:solidFill>
              <a:srgbClr val="2EA8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818120" y="3429000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EA86A"/>
                </a:solidFill>
                <a:latin typeface="Segoe UI"/>
              </a:rPr>
              <a:t>OUI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263640" y="4480560"/>
            <a:ext cx="0" cy="91440"/>
          </a:xfrm>
          <a:prstGeom prst="line">
            <a:avLst/>
          </a:prstGeom>
          <a:ln w="28575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183879" y="46177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E64A4A"/>
                </a:solidFill>
                <a:latin typeface="Segoe UI"/>
              </a:rPr>
              <a:t>NON → rewrite direct</a:t>
            </a:r>
          </a:p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E64A4A"/>
                </a:solidFill>
                <a:latin typeface="Segoe UI"/>
              </a:rPr>
              <a:t>(déjà diff. 3)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34840" y="4572000"/>
            <a:ext cx="36576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⑤ rewrite_query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092440" y="4800600"/>
            <a:ext cx="342900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1521440" y="3268980"/>
            <a:ext cx="0" cy="1513332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8229600" y="3268980"/>
            <a:ext cx="3273552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321040" y="3310128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2ᵉ retrieval — pool = 3 anciens</a:t>
            </a:r>
          </a:p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chunks + 2 nouveaux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519379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B6677"/>
                </a:solidFill>
                <a:latin typeface="Segoe UI"/>
              </a:rPr>
              <a:t>Le Routeur peut générer jusqu'à 2 sous-requêtes lorsque la question compare deux entités ; chacune est cherchée séparément avant fusion.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53212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5532120"/>
            <a:ext cx="352044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567842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20 / 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" y="6099048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questions de ce niveau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dans le dataset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06240" y="553212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06240" y="5532120"/>
            <a:ext cx="3520440" cy="54864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43400" y="567842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≈ 3.2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97680" y="6099048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chunks récupérés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en moyenne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09559" y="553212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909559" y="5532120"/>
            <a:ext cx="3520440" cy="54864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19" y="567842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50%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00999" y="6099048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reformulations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déclenchées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11/32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A86FF"/>
                </a:solidFill>
                <a:latin typeface="Segoe UI Semibold"/>
              </a:rPr>
              <a:t>ZOOM —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Retrieval hybride : sémantique + lexical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1234440"/>
            <a:ext cx="274320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Question (+ HyDE si niveau 2)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3291840" y="1828800"/>
            <a:ext cx="2103120" cy="41148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680960" y="1828800"/>
            <a:ext cx="1097280" cy="41148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463040" y="2286000"/>
            <a:ext cx="27432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Recherche sémantique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bge-m3 + MMR
25 chunks parmi 100 (λ=0.5)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2286000"/>
            <a:ext cx="27432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Recherche lexicale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BM25 normalisé (sans accents)
25 chunks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834640" y="3291840"/>
            <a:ext cx="2560320" cy="41148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766560" y="3291840"/>
            <a:ext cx="1554480" cy="41148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709160" y="3749039"/>
            <a:ext cx="27432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Fusion RRF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score = Σ 1 / (60 + rang)
→ 15 candidats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80760" y="4526280"/>
            <a:ext cx="0" cy="3200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709160" y="4892040"/>
            <a:ext cx="274320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8A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Déduplication Jaccard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seuil 90% de tokens communs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749039"/>
            <a:ext cx="3566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5B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00" b="1">
                <a:solidFill>
                  <a:srgbClr val="0B1F3A"/>
                </a:solidFill>
                <a:latin typeface="Segoe UI Semibold"/>
              </a:rPr>
              <a:t>Filtrage multi-source</a:t>
            </a:r>
          </a:p>
          <a:p>
            <a:pPr algn="ctr"/>
            <a:r>
              <a:rPr sz="900">
                <a:solidFill>
                  <a:srgbClr val="5B6677"/>
                </a:solidFill>
                <a:latin typeface="Segoe UI"/>
              </a:rPr>
              <a:t>max. 3 chunks par document
(désactivé si 1 seule source)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69080" y="4069080"/>
            <a:ext cx="594360" cy="0"/>
          </a:xfrm>
          <a:prstGeom prst="line">
            <a:avLst/>
          </a:prstGeom>
          <a:ln w="28575">
            <a:solidFill>
              <a:srgbClr val="5B66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452360" y="5212080"/>
            <a:ext cx="731519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0" y="4846320"/>
            <a:ext cx="338328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1B8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Re-ranking CrossEncoder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BAAI/bge-reranker-v2-m3 — seuil 0.5
→ Top 5 chunks finaux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76072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5B6677"/>
                </a:solidFill>
                <a:latin typeface="Segoe UI"/>
              </a:rPr>
              <a:t>Ce retrieval hybride est partagé par les 3 niveaux de difficulté — seules les options HyDE et sous-requêtes varient selon le niveau jugé par le Routeur.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12/32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8A5CF6"/>
                </a:solidFill>
                <a:latin typeface="Segoe UI Semibold"/>
              </a:rPr>
              <a:t>ZOOM — BOUCLE DE CONTRÔLE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Grading, reformulation et sous-requêtes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677"/>
                </a:solidFill>
                <a:latin typeface="Segoe UI"/>
              </a:rPr>
              <a:t>Avant de répondre, l'agent vérifie lui-même la qualité de son contexte — et se corrige s'il est insuffisant.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2331720"/>
            <a:ext cx="365760" cy="36576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2496312"/>
            <a:ext cx="1417319" cy="279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834639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1ᵉʳ retrieval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72968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5 chunks récupérés</a:t>
            </a:r>
          </a:p>
        </p:txBody>
      </p:sp>
      <p:sp>
        <p:nvSpPr>
          <p:cNvPr id="11" name="Oval 10"/>
          <p:cNvSpPr/>
          <p:nvPr/>
        </p:nvSpPr>
        <p:spPr>
          <a:xfrm>
            <a:off x="2606040" y="2331720"/>
            <a:ext cx="365760" cy="36576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71800" y="2496312"/>
            <a:ext cx="1417319" cy="279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0" y="2834639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Grading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3172968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LLM juge : suffisant ?</a:t>
            </a:r>
          </a:p>
        </p:txBody>
      </p:sp>
      <p:sp>
        <p:nvSpPr>
          <p:cNvPr id="15" name="Oval 14"/>
          <p:cNvSpPr/>
          <p:nvPr/>
        </p:nvSpPr>
        <p:spPr>
          <a:xfrm>
            <a:off x="4389120" y="2331720"/>
            <a:ext cx="365760" cy="365760"/>
          </a:xfrm>
          <a:prstGeom prst="ellipse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0" y="2496312"/>
            <a:ext cx="1417319" cy="279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2834639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Verdict NON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172968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ce qui manque est précisé</a:t>
            </a:r>
          </a:p>
        </p:txBody>
      </p:sp>
      <p:sp>
        <p:nvSpPr>
          <p:cNvPr id="19" name="Oval 18"/>
          <p:cNvSpPr/>
          <p:nvPr/>
        </p:nvSpPr>
        <p:spPr>
          <a:xfrm>
            <a:off x="6172200" y="2331720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37960" y="2496312"/>
            <a:ext cx="1417319" cy="279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2834639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Rewrite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3172968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requête reformulée</a:t>
            </a:r>
          </a:p>
        </p:txBody>
      </p:sp>
      <p:sp>
        <p:nvSpPr>
          <p:cNvPr id="23" name="Oval 22"/>
          <p:cNvSpPr/>
          <p:nvPr/>
        </p:nvSpPr>
        <p:spPr>
          <a:xfrm>
            <a:off x="7955279" y="2331720"/>
            <a:ext cx="365760" cy="36576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21039" y="2496312"/>
            <a:ext cx="1417319" cy="279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09559" y="2834639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2ᵉ retrieval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39" y="3172968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3 anciens + 2 nouveaux chunks</a:t>
            </a:r>
          </a:p>
        </p:txBody>
      </p:sp>
      <p:sp>
        <p:nvSpPr>
          <p:cNvPr id="27" name="Oval 26"/>
          <p:cNvSpPr/>
          <p:nvPr/>
        </p:nvSpPr>
        <p:spPr>
          <a:xfrm>
            <a:off x="9738360" y="2331720"/>
            <a:ext cx="365760" cy="365760"/>
          </a:xfrm>
          <a:prstGeom prst="ellipse">
            <a:avLst/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2834639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Génération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6920" y="3172968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réponse finale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160520"/>
            <a:ext cx="5440680" cy="1920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4160520"/>
            <a:ext cx="5440680" cy="411480"/>
          </a:xfrm>
          <a:prstGeom prst="roundRect">
            <a:avLst>
              <a:gd name="adj" fmla="val 1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25196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Ce que vérifie le grading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663440"/>
            <a:ext cx="493776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Le LLM reçoit l'ensemble des chunks récupérés et juge s'ils couvrent entièrement la question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Verdict binaire : OUI (suffisant) → génération directe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NON — le LLM précise ce qui manque → reformulation ciblée sur ce manque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160520"/>
            <a:ext cx="5486400" cy="1920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17920" y="4160520"/>
            <a:ext cx="5486400" cy="411480"/>
          </a:xfrm>
          <a:prstGeom prst="roundRect">
            <a:avLst>
              <a:gd name="adj" fmla="val 16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425196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Décomposition en sous-requêtes (niveau 3)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4663440"/>
            <a:ext cx="50292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Le Routeur peut générer jusqu'à 2 sous-requêtes pour une question de comparaison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Chaque sous-requête lance son propre retrieval, en parallèle conceptuel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Les résultats sont fusionnés puis re-classés sur la question originale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6199632"/>
            <a:ext cx="0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13/32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STACK TECHNIQUE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Modèles et frameworks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Modèles (servis par Ollama)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27632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27632"/>
            <a:ext cx="64008" cy="84124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19072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bge-m3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7373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 Semibold"/>
              </a:rPr>
              <a:t>~570 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48256"/>
            <a:ext cx="5074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Embeddings multilingues — 1024 dim, fenêtre 8192 tokens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560320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560320"/>
            <a:ext cx="64008" cy="8412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51760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gemma4:12b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4840" y="267004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 Semibold"/>
              </a:rPr>
              <a:t>~7 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980944"/>
            <a:ext cx="5074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Split agentique · HyDE · grading · rewrite · génération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93008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493008"/>
            <a:ext cx="64008" cy="841248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584448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gemma2:2b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34840" y="3602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 Semibold"/>
              </a:rPr>
              <a:t>~1.6 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913632"/>
            <a:ext cx="5074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Juge RAGAS léger pour accélérer l'évaluation (Colab)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425696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425696"/>
            <a:ext cx="64008" cy="841248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517136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bge-reranker-v2-m3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453542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 Semibold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846320"/>
            <a:ext cx="5074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Re-ranking CrossEncoder (sentence-transformers)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12344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Frameworks &amp; librairies clés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16276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LangGraph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6840" y="16276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Orchestration du graphe agentique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2011680"/>
            <a:ext cx="548640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215798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LangChain (+ Ollama / Chroma)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215798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Connecteurs LLM, embeddings, base vectorielle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542032"/>
            <a:ext cx="548640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268833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ChromaDB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6840" y="268833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Base vectorielle locale persistée sur disque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3072384"/>
            <a:ext cx="548640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321868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rank_bm25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06840" y="321868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Recherche lexicale BM25 normalisée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63640" y="3602736"/>
            <a:ext cx="548640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374903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pymupdf4llm / ftfy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06840" y="374903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Extraction PDF → Markdown + réparation encodage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4133087"/>
            <a:ext cx="548640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27939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RAGAS + datasets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06840" y="427939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Évaluation LLM-judge (5 métriques)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4663440"/>
            <a:ext cx="548640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0974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FastAPI / uvicorn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06840" y="480974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Serveur API compatible OpenAI (Open WebUI)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5193792"/>
            <a:ext cx="548640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14/32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DÉPLOIEMENT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Local vs Google Colab — défis d'ingénierie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400" b="1">
                <a:solidFill>
                  <a:srgbClr val="0B1F3A"/>
                </a:solidFill>
                <a:latin typeface="Segoe UI Semibold"/>
              </a:rPr>
              <a:t>Local (Windows)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Ollama + ChromaDB sur le poste
Base vectorielle : C:/vector_db_aquila
(hors OneDrive — évite la corruption SQLite)
Interface : Open WebUI / Gradio / terminal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18872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400" b="1">
                <a:solidFill>
                  <a:srgbClr val="0B1F3A"/>
                </a:solidFill>
                <a:latin typeface="Segoe UI Semibold"/>
              </a:rPr>
              <a:t>Google Colab (GPU)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GPU recommandé : L4 (24 Go) — T4 (16 Go) acceptable
vector_db/ versionnée dans le repo Git
Drive monté pour sauvegarder les résultats
Évaluation RAGAS avec gemma2:2b (plus rapide)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88920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Problèmes rencontrés et solutions d'ingénierie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127248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127248"/>
            <a:ext cx="54864" cy="1051560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32004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llama-server crash sur Colab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493008"/>
            <a:ext cx="5102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0" i="0">
                <a:solidFill>
                  <a:srgbClr val="2EA86A"/>
                </a:solidFill>
                <a:latin typeface="Segoe UI"/>
              </a:rPr>
              <a:t>→ Notebook alternatif (colab_run_vllm.ipynb) : la génération tourne sur un serveur vLLM (gemma4:12b quantifié) plutôt que sur Ollama, qui reste stable ; Ollama garde uniquement les embeddings.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288536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288536"/>
            <a:ext cx="54864" cy="1051560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436168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Latence croissante (KV-cache)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4654296"/>
            <a:ext cx="5102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0" i="0">
                <a:solidFill>
                  <a:srgbClr val="2EA86A"/>
                </a:solidFill>
                <a:latin typeface="Segoe UI"/>
              </a:rPr>
              <a:t>→ Redémarrage préventif d'Ollama toutes les 2 questions.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449824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449824"/>
            <a:ext cx="54864" cy="1051560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" y="552297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Crash sur 700+ appels LLM (ingestion)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5815584"/>
            <a:ext cx="5102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0" i="0">
                <a:solidFill>
                  <a:srgbClr val="2EA86A"/>
                </a:solidFill>
                <a:latin typeface="Segoe UI"/>
              </a:rPr>
              <a:t>→ 3 tentatives, avec redémarrage d'Ollama entre chaque essai.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127248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3127248"/>
            <a:ext cx="54864" cy="1051560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32004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Session Colab coupée en cours de route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3493008"/>
            <a:ext cx="5102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0" i="0">
                <a:solidFill>
                  <a:srgbClr val="2EA86A"/>
                </a:solidFill>
                <a:latin typeface="Segoe UI"/>
              </a:rPr>
              <a:t>→ Sauvegarde après chaque page + copie automatique du Drive vers le dépôt Git.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4288536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4288536"/>
            <a:ext cx="54864" cy="1051560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436168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Le code modifié n'était pas pris en compte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4654296"/>
            <a:ext cx="5102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0" i="0">
                <a:solidFill>
                  <a:srgbClr val="2EA86A"/>
                </a:solidFill>
                <a:latin typeface="Segoe UI"/>
              </a:rPr>
              <a:t>→ Colab garde l'ancien code en mémoire d'une cellule à l'autre : on force la relecture des fichiers à jour avant chaque lancement, avec une vérification qui bloque si une vieille version est détectée.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5449824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5449824"/>
            <a:ext cx="54864" cy="1051560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552297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Les PDF surlignés ne s'ouvraient plus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5815584"/>
            <a:ext cx="5102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0" i="0">
                <a:solidFill>
                  <a:srgbClr val="2EA86A"/>
                </a:solidFill>
                <a:latin typeface="Segoe UI"/>
              </a:rPr>
              <a:t>→ Gradio 5 a changé sa façon de servir les fichiers derrière le proxy web de Colab (erreur 404 à l'ouverture) ; on reste donc sur Gradio 4, qui fonctionne correctement.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15/32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418320" y="-1097280"/>
            <a:ext cx="4754880" cy="4754880"/>
          </a:xfrm>
          <a:prstGeom prst="ellipse">
            <a:avLst/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5120640"/>
            <a:ext cx="3840480" cy="3840480"/>
          </a:xfrm>
          <a:prstGeom prst="ellipse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96596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EC4B6"/>
                </a:solidFill>
                <a:latin typeface="Segoe UI Semibold"/>
              </a:rPr>
              <a:t>PARTIE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77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FFFFF"/>
                </a:solidFill>
                <a:latin typeface="Segoe UI"/>
              </a:rPr>
              <a:t>Évaluation</a:t>
            </a:r>
          </a:p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FFFFF"/>
                </a:solidFill>
                <a:latin typeface="Segoe UI"/>
              </a:rPr>
              <a:t>brique par brique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69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C9D6E6"/>
                </a:solidFill>
                <a:latin typeface="Segoe UI"/>
              </a:rPr>
              <a:t>evaluate_components.py — isoler et mesurer chacune des 8 briques du pipeline agentique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4800600"/>
            <a:ext cx="2020824" cy="365760"/>
          </a:xfrm>
          <a:prstGeom prst="roundRect">
            <a:avLst>
              <a:gd name="adj" fmla="val 50000"/>
            </a:avLst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80" b="1">
                <a:solidFill>
                  <a:srgbClr val="FFFFFF"/>
                </a:solidFill>
                <a:latin typeface="Segoe UI Semibold"/>
              </a:rPr>
              <a:t>8 Briques Évaluées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98064" y="4800600"/>
            <a:ext cx="1933956" cy="365760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80" b="1">
                <a:solidFill>
                  <a:srgbClr val="FFFFFF"/>
                </a:solidFill>
                <a:latin typeface="Segoe UI Semibold"/>
              </a:rPr>
              <a:t>RAGAS (gemma2:2b)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14900" y="4800600"/>
            <a:ext cx="2628900" cy="365760"/>
          </a:xfrm>
          <a:prstGeom prst="roundRect">
            <a:avLst>
              <a:gd name="adj" fmla="val 5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80" b="1">
                <a:solidFill>
                  <a:srgbClr val="FFFFFF"/>
                </a:solidFill>
                <a:latin typeface="Segoe UI Semibold"/>
              </a:rPr>
              <a:t>Juge externe (gemma4:12b)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4800600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80" b="1">
                <a:solidFill>
                  <a:srgbClr val="FFFFFF"/>
                </a:solidFill>
                <a:latin typeface="Segoe UI Semibold"/>
              </a:rPr>
              <a:t>50 Questions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09176" y="4800600"/>
            <a:ext cx="1933956" cy="365760"/>
          </a:xfrm>
          <a:prstGeom prst="roundRect">
            <a:avLst>
              <a:gd name="adj" fmla="val 50000"/>
            </a:avLst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80" b="1">
                <a:solidFill>
                  <a:srgbClr val="FFFFFF"/>
                </a:solidFill>
                <a:latin typeface="Segoe UI Semibold"/>
              </a:rPr>
              <a:t>Zéro Ré-exécution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16/32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8A5CF6"/>
                </a:solidFill>
                <a:latin typeface="Segoe UI Semibold"/>
              </a:rPr>
              <a:t>PARTIE 2 — VUE D'ENSEMBLE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Séparer l'exécution du scoring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440680" cy="3657600"/>
          </a:xfrm>
          <a:prstGeom prst="roundRect">
            <a:avLst>
              <a:gd name="adj" fmla="val 6000"/>
            </a:avLst>
          </a:prstGeom>
          <a:solidFill>
            <a:srgbClr val="ECF8F6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98448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EXÉCUTION (une seule fois)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72768"/>
            <a:ext cx="5029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1B8A80"/>
                </a:solidFill>
                <a:latin typeface="Segoe UI"/>
              </a:rPr>
              <a:t>run_agentic_all.py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920240"/>
            <a:ext cx="498348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questions.json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50 questions + réponses attendues, 3 niveaux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00400" y="2377440"/>
            <a:ext cx="0" cy="82296"/>
          </a:xfrm>
          <a:prstGeom prst="line">
            <a:avLst/>
          </a:prstGeom>
          <a:ln w="19050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1520" y="2459736"/>
            <a:ext cx="498348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run_agent(question)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graph LangGraph complet, agent.py instrumenté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00400" y="2916936"/>
            <a:ext cx="0" cy="82296"/>
          </a:xfrm>
          <a:prstGeom prst="line">
            <a:avLst/>
          </a:prstGeom>
          <a:ln w="19050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" y="2999232"/>
            <a:ext cx="498348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Capture des états intermédiaires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router, chunks pré/post re-ranking, grading, rewrite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00400" y="3456432"/>
            <a:ext cx="0" cy="82295"/>
          </a:xfrm>
          <a:prstGeom prst="line">
            <a:avLst/>
          </a:prstGeom>
          <a:ln w="19050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31520" y="3538727"/>
            <a:ext cx="498348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agentic_results.json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résultats légers (question, réponse, chunks)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00400" y="3995927"/>
            <a:ext cx="0" cy="82297"/>
          </a:xfrm>
          <a:prstGeom prst="line">
            <a:avLst/>
          </a:prstGeom>
          <a:ln w="19050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31520" y="4078224"/>
            <a:ext cx="498348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agentic_results_debug.json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résultats complets + tous les états intermédiaires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188720"/>
            <a:ext cx="5440680" cy="3657600"/>
          </a:xfrm>
          <a:prstGeom prst="roundRect">
            <a:avLst>
              <a:gd name="adj" fmla="val 6000"/>
            </a:avLst>
          </a:prstGeom>
          <a:solidFill>
            <a:srgbClr val="FDF0F6"/>
          </a:solidFill>
          <a:ln w="19050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298448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SCORING (rejouable sans ré-exécuter)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572768"/>
            <a:ext cx="5029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E64A4A"/>
                </a:solidFill>
                <a:latin typeface="Segoe UI"/>
              </a:rPr>
              <a:t>evaluate_components.py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1920240"/>
            <a:ext cx="4983480" cy="548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2225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Initialisation RAGAS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gemma2:2b + bge-m3 via Ollama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61120" y="2468880"/>
            <a:ext cx="0" cy="109728"/>
          </a:xfrm>
          <a:prstGeom prst="line">
            <a:avLst/>
          </a:prstGeom>
          <a:ln w="19050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492240" y="2578608"/>
            <a:ext cx="4983480" cy="548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2225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8 briques évaluées indépendamment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① Router ② Retrieval ③ Re-ranking ④ Grading ⑤ Rewriting ⑥ Generation ⑦ Déduplication ⑧ Fusion RRF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961120" y="3127248"/>
            <a:ext cx="0" cy="109728"/>
          </a:xfrm>
          <a:prstGeom prst="line">
            <a:avLst/>
          </a:prstGeom>
          <a:ln w="19050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492240" y="3236976"/>
            <a:ext cx="4983480" cy="548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2225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component_evaluation.csv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1 ligne par question × 25+ colonnes, sauvegarde incrémentale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961120" y="3785615"/>
            <a:ext cx="0" cy="109729"/>
          </a:xfrm>
          <a:prstGeom prst="line">
            <a:avLst/>
          </a:prstGeom>
          <a:ln w="19050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492240" y="3895344"/>
            <a:ext cx="4983480" cy="548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2225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print_summary()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moyennes par brique + par niveau de difficulté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5715000" y="2240280"/>
            <a:ext cx="731520" cy="2057400"/>
          </a:xfrm>
          <a:prstGeom prst="line">
            <a:avLst/>
          </a:prstGeom>
          <a:ln w="31750">
            <a:solidFill>
              <a:srgbClr val="0B1F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623560" y="3063240"/>
            <a:ext cx="914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 i="1">
                <a:solidFill>
                  <a:srgbClr val="0B1F3A"/>
                </a:solidFill>
                <a:latin typeface="Segoe UI"/>
              </a:rPr>
              <a:t>lit les</a:t>
            </a:r>
          </a:p>
          <a:p>
            <a:pPr algn="ctr">
              <a:lnSpc>
                <a:spcPct val="100000"/>
              </a:lnSpc>
            </a:pPr>
            <a:r>
              <a:rPr sz="780" b="1" i="1">
                <a:solidFill>
                  <a:srgbClr val="0B1F3A"/>
                </a:solidFill>
                <a:latin typeface="Segoe UI"/>
              </a:rPr>
              <a:t>états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983480"/>
            <a:ext cx="5440680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4983480"/>
            <a:ext cx="5440680" cy="457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11149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Principe clé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440680"/>
            <a:ext cx="50749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880" b="1">
                <a:solidFill>
                  <a:srgbClr val="2EC4B6"/>
                </a:solidFill>
                <a:latin typeface="Segoe UI"/>
              </a:rPr>
              <a:t>—  </a:t>
            </a:r>
            <a:r>
              <a:rPr sz="880">
                <a:solidFill>
                  <a:srgbClr val="1B1F27"/>
                </a:solidFill>
                <a:latin typeface="Segoe UI"/>
              </a:rPr>
              <a:t>run_agentic_all fait tourner le vrai graph — coûteux en LLM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880" b="1">
                <a:solidFill>
                  <a:srgbClr val="2EC4B6"/>
                </a:solidFill>
                <a:latin typeface="Segoe UI"/>
              </a:rPr>
              <a:t>—  </a:t>
            </a:r>
            <a:r>
              <a:rPr sz="880">
                <a:solidFill>
                  <a:srgbClr val="1B1F27"/>
                </a:solidFill>
                <a:latin typeface="Segoe UI"/>
              </a:rPr>
              <a:t>evaluate_components ne fait que lire et scorer — rejouable à volonté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880" b="1">
                <a:solidFill>
                  <a:srgbClr val="2EC4B6"/>
                </a:solidFill>
                <a:latin typeface="Segoe UI"/>
              </a:rPr>
              <a:t>—  </a:t>
            </a:r>
            <a:r>
              <a:rPr sz="880">
                <a:solidFill>
                  <a:srgbClr val="1B1F27"/>
                </a:solidFill>
                <a:latin typeface="Segoe UI"/>
              </a:rPr>
              <a:t>On peut ajuster un prompt de juge sans refaire tourner le pipeline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4983480"/>
            <a:ext cx="5440680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63640" y="4983480"/>
            <a:ext cx="5440680" cy="45720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511149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Pourquoi instrumenter agent.py plutôt que dupliquer 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5440680"/>
            <a:ext cx="50749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880" b="1">
                <a:solidFill>
                  <a:srgbClr val="E64A4A"/>
                </a:solidFill>
                <a:latin typeface="Segoe UI"/>
              </a:rPr>
              <a:t>—  </a:t>
            </a:r>
            <a:r>
              <a:rPr sz="880">
                <a:solidFill>
                  <a:srgbClr val="1B1F27"/>
                </a:solidFill>
                <a:latin typeface="Segoe UI"/>
              </a:rPr>
              <a:t>agent.py a des champs debug dédiés dans son état (AgentState)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880" b="1">
                <a:solidFill>
                  <a:srgbClr val="E64A4A"/>
                </a:solidFill>
                <a:latin typeface="Segoe UI"/>
              </a:rPr>
              <a:t>—  </a:t>
            </a:r>
            <a:r>
              <a:rPr sz="880">
                <a:solidFill>
                  <a:srgbClr val="1B1F27"/>
                </a:solidFill>
                <a:latin typeface="Segoe UI"/>
              </a:rPr>
              <a:t>Garantit que les données d'évaluation reflètent le comportement réel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880" b="1">
                <a:solidFill>
                  <a:srgbClr val="E64A4A"/>
                </a:solidFill>
                <a:latin typeface="Segoe UI"/>
              </a:rPr>
              <a:t>—  </a:t>
            </a:r>
            <a:r>
              <a:rPr sz="880">
                <a:solidFill>
                  <a:srgbClr val="1B1F27"/>
                </a:solidFill>
                <a:latin typeface="Segoe UI"/>
              </a:rPr>
              <a:t>Aucun risque de divergence entre pipeline réel et logique rejouée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17/32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8A5CF6"/>
                </a:solidFill>
                <a:latin typeface="Segoe UI Semibold"/>
              </a:rPr>
              <a:t>PARTIE 2 — CAPTURE DES ÉTATS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Ce que chaque question produit dans agentic_results_debug.json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0700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Graph LangGraph (agent.py)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36192"/>
            <a:ext cx="5120640" cy="6035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identify_sources</a:t>
            </a:r>
          </a:p>
          <a:p>
            <a:pPr algn="ctr"/>
            <a:r>
              <a:rPr sz="830">
                <a:solidFill>
                  <a:srgbClr val="5B6677"/>
                </a:solidFill>
                <a:latin typeface="Segoe UI"/>
              </a:rPr>
              <a:t>LLM classifie la question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63240" y="2139696"/>
            <a:ext cx="0" cy="109728"/>
          </a:xfrm>
          <a:prstGeom prst="line">
            <a:avLst/>
          </a:prstGeom>
          <a:ln w="19050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2249424"/>
            <a:ext cx="5120640" cy="6035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retrieve_node</a:t>
            </a:r>
          </a:p>
          <a:p>
            <a:pPr algn="ctr"/>
            <a:r>
              <a:rPr sz="830">
                <a:solidFill>
                  <a:srgbClr val="5B6677"/>
                </a:solidFill>
                <a:latin typeface="Segoe UI"/>
              </a:rPr>
              <a:t>1er retrieval : HyDE + sémantique + BM25 + RRF + dédup + rerank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63240" y="2852928"/>
            <a:ext cx="0" cy="109728"/>
          </a:xfrm>
          <a:prstGeom prst="line">
            <a:avLst/>
          </a:prstGeom>
          <a:ln w="19050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2920" y="2962656"/>
            <a:ext cx="5120640" cy="6035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2225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grade_documents</a:t>
            </a:r>
          </a:p>
          <a:p>
            <a:pPr algn="ctr"/>
            <a:r>
              <a:rPr sz="830">
                <a:solidFill>
                  <a:srgbClr val="5B6677"/>
                </a:solidFill>
                <a:latin typeface="Segoe UI"/>
              </a:rPr>
              <a:t>LLM évalue la suffisance (si difficulté ≥ 2)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63240" y="3566160"/>
            <a:ext cx="0" cy="109728"/>
          </a:xfrm>
          <a:prstGeom prst="line">
            <a:avLst/>
          </a:prstGeom>
          <a:ln w="19050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2920" y="3675888"/>
            <a:ext cx="5120640" cy="6035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rewrite_query</a:t>
            </a:r>
          </a:p>
          <a:p>
            <a:pPr algn="ctr"/>
            <a:r>
              <a:rPr sz="830">
                <a:solidFill>
                  <a:srgbClr val="5B6677"/>
                </a:solidFill>
                <a:latin typeface="Segoe UI"/>
              </a:rPr>
              <a:t>reformulation ciblée (si NON au grading)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63240" y="4279392"/>
            <a:ext cx="0" cy="109728"/>
          </a:xfrm>
          <a:prstGeom prst="line">
            <a:avLst/>
          </a:prstGeom>
          <a:ln w="19050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2920" y="4389120"/>
            <a:ext cx="5120640" cy="6035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retrieve_node (2ᵉ)</a:t>
            </a:r>
          </a:p>
          <a:p>
            <a:pPr algn="ctr"/>
            <a:r>
              <a:rPr sz="830">
                <a:solidFill>
                  <a:srgbClr val="5B6677"/>
                </a:solidFill>
                <a:latin typeface="Segoe UI"/>
              </a:rPr>
              <a:t>2ᵉ retrieval — fusion 3 anciens + 2 nouveaux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063240" y="4992624"/>
            <a:ext cx="0" cy="109728"/>
          </a:xfrm>
          <a:prstGeom prst="line">
            <a:avLst/>
          </a:prstGeom>
          <a:ln w="19050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02920" y="5102352"/>
            <a:ext cx="5120640" cy="6035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2225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generate_node</a:t>
            </a:r>
          </a:p>
          <a:p>
            <a:pPr algn="ctr"/>
            <a:r>
              <a:rPr sz="830">
                <a:solidFill>
                  <a:srgbClr val="5B6677"/>
                </a:solidFill>
                <a:latin typeface="Segoe UI"/>
              </a:rPr>
              <a:t>génération de la réponse finale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2070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États capturés (run_agentic_all.py)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536192"/>
            <a:ext cx="5440680" cy="5120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536192"/>
            <a:ext cx="64008" cy="512064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1581912"/>
            <a:ext cx="1920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router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1581912"/>
            <a:ext cx="3200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5B6677"/>
                </a:solidFill>
                <a:latin typeface="Segoe UI"/>
              </a:rPr>
              <a:t>sources: ['ENS.pdf'], difficulty: 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2107691"/>
            <a:ext cx="5440680" cy="5120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2107691"/>
            <a:ext cx="64008" cy="51206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2" y="2153411"/>
            <a:ext cx="1920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pre_rerank_docs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153411"/>
            <a:ext cx="3200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5B6677"/>
                </a:solidFill>
                <a:latin typeface="Segoe UI"/>
              </a:rPr>
              <a:t>chunks après RRF + dédup, AVANT le cross-encoder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2679191"/>
            <a:ext cx="5440680" cy="5120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63640" y="2679191"/>
            <a:ext cx="64008" cy="512064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2724911"/>
            <a:ext cx="1920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post_rerank_docs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2724911"/>
            <a:ext cx="3200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5B6677"/>
                </a:solidFill>
                <a:latin typeface="Segoe UI"/>
              </a:rPr>
              <a:t>chunks APRÈS re-ranking, AVANT tout rewrite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3250691"/>
            <a:ext cx="5440680" cy="5120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63640" y="3250691"/>
            <a:ext cx="64008" cy="512064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3952" y="3296411"/>
            <a:ext cx="1920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grading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3296411"/>
            <a:ext cx="3200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5B6677"/>
                </a:solidFill>
                <a:latin typeface="Segoe UI"/>
              </a:rPr>
              <a:t>performed / sufficient / verdict: 'NON — ...'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3822191"/>
            <a:ext cx="5440680" cy="5120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3822191"/>
            <a:ext cx="64008" cy="5120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73952" y="3867911"/>
            <a:ext cx="1920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rewrite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3867911"/>
            <a:ext cx="3200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5B6677"/>
                </a:solidFill>
                <a:latin typeface="Segoe UI"/>
              </a:rPr>
              <a:t>triggered / new_query / chunks_loop_1 / chunks_loop_2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63640" y="4393692"/>
            <a:ext cx="5440680" cy="5120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63640" y="4393692"/>
            <a:ext cx="64008" cy="512064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73952" y="4439412"/>
            <a:ext cx="1920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chunks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4439412"/>
            <a:ext cx="3200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5B6677"/>
                </a:solidFill>
                <a:latin typeface="Segoe UI"/>
              </a:rPr>
              <a:t>pool FINAL utilisé par generate_node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63640" y="4965192"/>
            <a:ext cx="5440680" cy="5120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63640" y="4965192"/>
            <a:ext cx="64008" cy="512064"/>
          </a:xfrm>
          <a:prstGeom prst="rect">
            <a:avLst/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73952" y="5010912"/>
            <a:ext cx="1920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reponse_llm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5010912"/>
            <a:ext cx="3200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5B6677"/>
                </a:solidFill>
                <a:latin typeface="Segoe UI"/>
              </a:rPr>
              <a:t>réponse réellement générée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63640" y="5541264"/>
            <a:ext cx="5440680" cy="868680"/>
          </a:xfrm>
          <a:prstGeom prst="roundRect">
            <a:avLst>
              <a:gd name="adj" fmla="val 10000"/>
            </a:avLst>
          </a:prstGeom>
          <a:solidFill>
            <a:srgbClr val="ECF8F6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46520" y="5605272"/>
            <a:ext cx="512064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F3A"/>
                </a:solidFill>
                <a:latin typeface="Segoe UI Semibold"/>
              </a:rPr>
              <a:t>Déduction sans champ supplémentaire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6520" y="5852160"/>
            <a:ext cx="51206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30" b="0" i="0">
                <a:solidFill>
                  <a:srgbClr val="5B6677"/>
                </a:solidFill>
                <a:latin typeface="Segoe UI"/>
              </a:rPr>
              <a:t>Rewrite déclenché ? → attempts ≥ 2.  Grading a eu lieu ? → difficulté initiale &gt; 1.</a:t>
            </a:r>
          </a:p>
          <a:p>
            <a:pPr algn="l">
              <a:lnSpc>
                <a:spcPct val="110000"/>
              </a:lnSpc>
            </a:pPr>
            <a:r>
              <a:rPr sz="830" b="0" i="0">
                <a:solidFill>
                  <a:srgbClr val="5B6677"/>
                </a:solidFill>
                <a:latin typeface="Segoe UI"/>
              </a:rPr>
              <a:t>post_rerank_docs = docs_before_rewrite si rewrite, sinon = chunks finaux.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18/32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A86FF"/>
                </a:solidFill>
                <a:latin typeface="Segoe UI Semibold"/>
              </a:rPr>
              <a:t>BRIQUE ① — ROUTER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eval_router() — comparaison exacte, aucun appel LLM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33832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entry['router']</a:t>
            </a:r>
          </a:p>
          <a:p>
            <a:pPr algn="ctr"/>
            <a:r>
              <a:rPr sz="900">
                <a:solidFill>
                  <a:srgbClr val="5B6677"/>
                </a:solidFill>
                <a:latin typeface="Segoe UI"/>
              </a:rPr>
              <a:t>Prédiction capturée
sources: ['ENS.pdf']
difficulty: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14600"/>
            <a:ext cx="33832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5B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meta (questions.json)</a:t>
            </a:r>
          </a:p>
          <a:p>
            <a:pPr algn="ctr"/>
            <a:r>
              <a:rPr sz="900">
                <a:solidFill>
                  <a:srgbClr val="5B6677"/>
                </a:solidFill>
                <a:latin typeface="Segoe UI"/>
              </a:rPr>
              <a:t>Ground truth
source: 'ENS'
niveau: 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931920" y="1801368"/>
            <a:ext cx="502920" cy="393192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3931920" y="2606040"/>
            <a:ext cx="502920" cy="429768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480560" y="1783080"/>
            <a:ext cx="3291840" cy="1691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8A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Résolution ground truth
(eval_common.py)</a:t>
            </a:r>
          </a:p>
          <a:p>
            <a:pPr algn="ctr"/>
            <a:r>
              <a:rPr sz="830">
                <a:solidFill>
                  <a:srgbClr val="5B6677"/>
                </a:solidFill>
                <a:latin typeface="Segoe UI"/>
              </a:rPr>
              <a:t>init_source_map() scanne documents/
ENS → ['ENS.pdf'], Sorbonne → ['SORBONNE.pdf']
expected_sources(meta) / expected_difficulty(meta)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0" y="2606040"/>
            <a:ext cx="50292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321040" y="1783080"/>
            <a:ext cx="3337560" cy="1691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Comparaison</a:t>
            </a:r>
          </a:p>
          <a:p>
            <a:pPr algn="ctr"/>
            <a:r>
              <a:rPr sz="850">
                <a:solidFill>
                  <a:srgbClr val="5B6677"/>
                </a:solidFill>
                <a:latin typeface="Segoe UI"/>
              </a:rPr>
              <a:t>Source : set(pred) == set(exp) ?
(ou les deux = None → toutes sources)
Difficulté : pred_diff == exp_diff 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966960" y="3474720"/>
            <a:ext cx="0" cy="36576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321040" y="3840480"/>
            <a:ext cx="3337560" cy="777240"/>
          </a:xfrm>
          <a:prstGeom prst="roundRect">
            <a:avLst>
              <a:gd name="adj" fmla="val 12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393192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Segoe UI Semibold"/>
              </a:rPr>
              <a:t>router_source_ok : 0 ou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4224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Segoe UI Semibold"/>
              </a:rPr>
              <a:t>router_diff_ok : 0 ou 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892040"/>
            <a:ext cx="11201400" cy="1325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892040"/>
            <a:ext cx="11201400" cy="45720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020056"/>
            <a:ext cx="10835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Points clés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349240"/>
            <a:ext cx="108356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3A86FF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Aucun appel LLM — comparaison pure d'ensembles et d'entiers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3A86FF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Ground truth des sources construite au démarrage par scan du dossier documents/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3A86FF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Appliqué sur les 50 questions sans exception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3A86FF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Résultats mesurés : 58% de source correcte, 64% de difficulté correcte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19/32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BRIQUES ②③ — RETRIEVAL &amp; RE-RANKING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eval_retrieval_and_reranking() — RAGAS ContextPrecision/Recall + MRR (LLM-juge), gemma2:2b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3832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pre_rerank_docs</a:t>
            </a:r>
          </a:p>
          <a:p>
            <a:pPr algn="ctr"/>
            <a:r>
              <a:rPr sz="850">
                <a:solidFill>
                  <a:srgbClr val="5B6677"/>
                </a:solidFill>
                <a:latin typeface="Segoe UI"/>
              </a:rPr>
              <a:t>Chunks avant le cross-encoder
(après RRF + dédup)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23360" y="1234440"/>
            <a:ext cx="33832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post_rerank_docs</a:t>
            </a:r>
          </a:p>
          <a:p>
            <a:pPr algn="ctr"/>
            <a:r>
              <a:rPr sz="850">
                <a:solidFill>
                  <a:srgbClr val="5B6677"/>
                </a:solidFill>
                <a:latin typeface="Segoe UI"/>
              </a:rPr>
              <a:t>Chunks après re-ranking
(avant tout rewrite)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1234440"/>
            <a:ext cx="41148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5B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reponse_attendue</a:t>
            </a:r>
          </a:p>
          <a:p>
            <a:pPr algn="ctr"/>
            <a:r>
              <a:rPr sz="850">
                <a:solidFill>
                  <a:srgbClr val="5B6677"/>
                </a:solidFill>
                <a:latin typeface="Segoe UI"/>
              </a:rPr>
              <a:t>Ground truth (reference RAGAS)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80760" y="2148840"/>
            <a:ext cx="0" cy="27432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Diamond 9"/>
          <p:cNvSpPr/>
          <p:nvPr/>
        </p:nvSpPr>
        <p:spPr>
          <a:xfrm>
            <a:off x="4709160" y="2423160"/>
            <a:ext cx="2743200" cy="960120"/>
          </a:xfrm>
          <a:prstGeom prst="diamond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 Semibold"/>
              </a:rPr>
              <a:t>pre == post ?
(pool ≤ K_FINAL)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377440" y="2788920"/>
            <a:ext cx="2240280" cy="667512"/>
          </a:xfrm>
          <a:prstGeom prst="line">
            <a:avLst/>
          </a:prstGeom>
          <a:ln w="28575">
            <a:solidFill>
              <a:srgbClr val="2EA8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743200" y="2926080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EA86A"/>
                </a:solidFill>
                <a:latin typeface="Segoe UI"/>
              </a:rPr>
              <a:t>OUI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02152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Un seul scoring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RAGAS Precision+Recall sur post_rerank_docs
pre = post → delta = 0 (économise 2 appels)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543800" y="2788920"/>
            <a:ext cx="1234440" cy="667512"/>
          </a:xfrm>
          <a:prstGeom prst="line">
            <a:avLst/>
          </a:prstGeom>
          <a:ln w="28575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863840" y="2926080"/>
            <a:ext cx="1645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E64A4A"/>
                </a:solidFill>
                <a:latin typeface="Segoe UI"/>
              </a:rPr>
              <a:t>NON → re-ranking a eu lieu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4920" y="3502152"/>
            <a:ext cx="310896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③ Avant re-ranking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RAGAS Precision+Recall
+ MRR sur pre_rerank_docs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0" y="3502152"/>
            <a:ext cx="32461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② Après re-ranking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RAGAS Precision+Recall
+ MRR sur post_rerank_docs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4325112"/>
            <a:ext cx="6583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Les 4 appels RAGAS (precision/recall × pre/post) sont lancés en parallèle via asyncio.gather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52628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60857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EC4B6"/>
                </a:solidFill>
                <a:latin typeface="Segoe UI Semibold"/>
              </a:rPr>
              <a:t>② Retrieval (résultat)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90118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Segoe UI"/>
              </a:rPr>
              <a:t>retrieval_ctx_precision = 94.5%  ·  retrieval_ctx_recall = 94.9%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60857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6B35"/>
                </a:solidFill>
                <a:latin typeface="Segoe UI Semibold"/>
              </a:rPr>
              <a:t>③ Re-ranking (résultat)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0118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Segoe UI"/>
              </a:rPr>
              <a:t>Δ precision = +1.3 pt en moyenne  ·  Δ recall = −0.7 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48640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7"/>
                </a:solidFill>
                <a:latin typeface="Segoe UI"/>
              </a:rPr>
              <a:t>ContextPrecision : le LLM juge chaque chunk pertinent vis-à-vis de la réponse, pondéré par rang. ContextRecall : la réponse est découpée en affirmations, chacune doit être attribuable à un chunk. MRR : un LLM-juge labellise chaque chunk pertinent/non pertinent (par lots de 5) pour mesurer la position du premier chunk pertinent avant/après re-ranking.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20/32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6B35"/>
                </a:solidFill>
                <a:latin typeface="Segoe UI Semibold"/>
              </a:rPr>
              <a:t>BRIQUE ④ — GRADING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eval_grading() — juge externe custom, gemma4:12b — difficulté &gt; 1 seulement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39496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Grader réel (pipeline)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Reçoit : question + chunks récupérés
Ne voit PAS la réponse attendue
Verdict capturé : sufficient + verdict texte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234440"/>
            <a:ext cx="539496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Juge externe (évaluation)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Reçoit : question + chunks + réponse attendue
Voit AUSSI la ground truth
Même gemma4:12b, prompt GRADING_JUDGE différent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00400" y="2606040"/>
            <a:ext cx="0" cy="27432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61120" y="2606040"/>
            <a:ext cx="0" cy="27432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02920" y="2697480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Classification (matrice de confusion)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17520"/>
            <a:ext cx="269748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08152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EA86A"/>
                </a:solidFill>
                <a:latin typeface="Segoe UI Semibold"/>
              </a:rPr>
              <a:t>Vrai Positif (TP)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35584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 i="0">
                <a:solidFill>
                  <a:srgbClr val="1B1F27"/>
                </a:solidFill>
                <a:latin typeface="Segoe UI"/>
              </a:rPr>
              <a:t>Grader OUI · Juge OUI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611880"/>
            <a:ext cx="2423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D'accord : suffisant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9272" y="3017520"/>
            <a:ext cx="269748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6432" y="308152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EA86A"/>
                </a:solidFill>
                <a:latin typeface="Segoe UI Semibold"/>
              </a:rPr>
              <a:t>Vrai Négatif (TN)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6432" y="335584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 i="0">
                <a:solidFill>
                  <a:srgbClr val="1B1F27"/>
                </a:solidFill>
                <a:latin typeface="Segoe UI"/>
              </a:rPr>
              <a:t>Grader NON · Juge NON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432" y="3611880"/>
            <a:ext cx="2423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D'accord : insuffisant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3017520"/>
            <a:ext cx="269748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2784" y="308152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64A4A"/>
                </a:solidFill>
                <a:latin typeface="Segoe UI Semibold"/>
              </a:rPr>
              <a:t>Faux Négatif (FN)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2784" y="335584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 i="0">
                <a:solidFill>
                  <a:srgbClr val="1B1F27"/>
                </a:solidFill>
                <a:latin typeface="Segoe UI"/>
              </a:rPr>
              <a:t>Grader NON · Juge OUI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4" y="3611880"/>
            <a:ext cx="2423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Grader trop sévère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51976" y="3017520"/>
            <a:ext cx="269748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89136" y="308152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64A4A"/>
                </a:solidFill>
                <a:latin typeface="Segoe UI Semibold"/>
              </a:rPr>
              <a:t>Faux Positif (FP)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335584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 i="0">
                <a:solidFill>
                  <a:srgbClr val="1B1F27"/>
                </a:solidFill>
                <a:latin typeface="Segoe UI"/>
              </a:rPr>
              <a:t>Grader OUI · Juge NON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3611880"/>
            <a:ext cx="2423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Grader trop laxiste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16052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Métriques dérivées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498848"/>
            <a:ext cx="269748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572000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Accuracy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828032"/>
            <a:ext cx="2423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B6677"/>
                </a:solidFill>
                <a:latin typeface="Segoe UI"/>
              </a:rPr>
              <a:t>(TP+TN)/total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047488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6B35"/>
                </a:solidFill>
                <a:latin typeface="Segoe UI"/>
              </a:rPr>
              <a:t>51.2%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19272" y="4498848"/>
            <a:ext cx="269748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56432" y="4572000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Precision (OUI)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56432" y="4828032"/>
            <a:ext cx="2423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B6677"/>
                </a:solidFill>
                <a:latin typeface="Segoe UI"/>
              </a:rPr>
              <a:t>TP/(TP+FP)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56432" y="5047488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6B35"/>
                </a:solidFill>
                <a:latin typeface="Segoe UI"/>
              </a:rPr>
              <a:t>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35624" y="4498848"/>
            <a:ext cx="269748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2784" y="4572000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Recall (OUI)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72784" y="4828032"/>
            <a:ext cx="2423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B6677"/>
                </a:solidFill>
                <a:latin typeface="Segoe UI"/>
              </a:rPr>
              <a:t>TP/(TP+FN)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72784" y="5047488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6B35"/>
                </a:solidFill>
                <a:latin typeface="Segoe UI"/>
              </a:rPr>
              <a:t>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51976" y="4498848"/>
            <a:ext cx="269748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89136" y="4572000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F1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89136" y="4828032"/>
            <a:ext cx="2423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B6677"/>
                </a:solidFill>
                <a:latin typeface="Segoe UI"/>
              </a:rPr>
              <a:t>2PR/(P+R)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89136" y="5047488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6B35"/>
                </a:solidFill>
                <a:latin typeface="Segoe UI"/>
              </a:rPr>
              <a:t>—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486400"/>
            <a:ext cx="1120140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" y="5486400"/>
            <a:ext cx="11201400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5614416"/>
            <a:ext cx="10835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Pourquoi le même modèle comme juge 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94360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00" b="1">
                <a:solidFill>
                  <a:srgbClr val="FF6B35"/>
                </a:solidFill>
                <a:latin typeface="Segoe UI"/>
              </a:rPr>
              <a:t>—  </a:t>
            </a:r>
            <a:r>
              <a:rPr sz="900">
                <a:solidFill>
                  <a:srgbClr val="1B1F27"/>
                </a:solidFill>
                <a:latin typeface="Segoe UI"/>
              </a:rPr>
              <a:t>Seule différence : le prompt du juge inclut la réponse attendue — pas de modèle supplémentaire à configurer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00" b="1">
                <a:solidFill>
                  <a:srgbClr val="FF6B35"/>
                </a:solidFill>
                <a:latin typeface="Segoe UI"/>
              </a:rPr>
              <a:t>—  </a:t>
            </a:r>
            <a:r>
              <a:rPr sz="900">
                <a:solidFill>
                  <a:srgbClr val="1B1F27"/>
                </a:solidFill>
                <a:latin typeface="Segoe UI"/>
              </a:rPr>
              <a:t>Limite : biais de cohérence possible (un modèle qui se juge lui-même) — alternative plus rigoureuse : gemma2:2b en tiers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21/32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8A5CF6"/>
                </a:solidFill>
                <a:latin typeface="Segoe UI Semibold"/>
              </a:rPr>
              <a:t>BRIQUE ⑤ — QUERY REWRITING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eval_rewriting() — 3 angles de mesure, gemma2:2b — si rewrite déclenché (grading initial = NON)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22/32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19"/>
          <p:cNvSpPr/>
          <p:nvPr/>
        </p:nvSpPr>
        <p:spPr>
          <a:xfrm>
            <a:off x="502920" y="1234440"/>
            <a:ext cx="3623928" cy="440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0"/>
          <p:cNvSpPr/>
          <p:nvPr/>
        </p:nvSpPr>
        <p:spPr>
          <a:xfrm>
            <a:off x="502920" y="1234440"/>
            <a:ext cx="3623928" cy="4572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1"/>
          <p:cNvSpPr txBox="1"/>
          <p:nvPr/>
        </p:nvSpPr>
        <p:spPr>
          <a:xfrm>
            <a:off x="685800" y="1362456"/>
            <a:ext cx="3258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① RAGAS — Gain Precision / Recall</a:t>
            </a:r>
          </a:p>
        </p:txBody>
      </p:sp>
      <p:sp>
        <p:nvSpPr>
          <p:cNvPr id="30" name="TextBox 22"/>
          <p:cNvSpPr txBox="1"/>
          <p:nvPr/>
        </p:nvSpPr>
        <p:spPr>
          <a:xfrm>
            <a:off x="685800" y="1691640"/>
            <a:ext cx="3258168" cy="3842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30" b="1">
                <a:solidFill>
                  <a:srgbClr val="8A5CF6"/>
                </a:solidFill>
                <a:latin typeface="Segoe UI"/>
              </a:rPr>
              <a:t>—  </a:t>
            </a:r>
            <a:r>
              <a:rPr sz="930">
                <a:solidFill>
                  <a:srgbClr val="1B1F27"/>
                </a:solidFill>
                <a:latin typeface="Segoe UI"/>
              </a:rPr>
              <a:t>Baseline (avant rewrite) : scores déjà calculés à la brique ② (retrieval_ctx_precision/recall) — 0 appel LLM supplémentaire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30" b="1">
                <a:solidFill>
                  <a:srgbClr val="8A5CF6"/>
                </a:solidFill>
                <a:latin typeface="Segoe UI"/>
              </a:rPr>
              <a:t>—  </a:t>
            </a:r>
            <a:r>
              <a:rPr sz="930">
                <a:solidFill>
                  <a:srgbClr val="1B1F27"/>
                </a:solidFill>
                <a:latin typeface="Segoe UI"/>
              </a:rPr>
              <a:t>Après rewrite : RAGAS (gemma2:2b juge) sur entry['chunks'], le pool final fusionné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30" b="1">
                <a:solidFill>
                  <a:srgbClr val="8A5CF6"/>
                </a:solidFill>
                <a:latin typeface="Segoe UI"/>
              </a:rPr>
              <a:t>—  </a:t>
            </a:r>
            <a:r>
              <a:rPr sz="930">
                <a:solidFill>
                  <a:srgbClr val="1B1F27"/>
                </a:solidFill>
                <a:latin typeface="Segoe UI"/>
              </a:rPr>
              <a:t>rewrite_precision_gain / rewrite_recall_gain = après − baseline (positif = la reformulation a concrètement amélioré le retrieval)</a:t>
            </a:r>
          </a:p>
        </p:txBody>
      </p:sp>
      <p:sp>
        <p:nvSpPr>
          <p:cNvPr id="31" name="Rounded Rectangle 19"/>
          <p:cNvSpPr/>
          <p:nvPr/>
        </p:nvSpPr>
        <p:spPr>
          <a:xfrm>
            <a:off x="4291656" y="1234440"/>
            <a:ext cx="3623928" cy="440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20"/>
          <p:cNvSpPr/>
          <p:nvPr/>
        </p:nvSpPr>
        <p:spPr>
          <a:xfrm>
            <a:off x="4291656" y="1234440"/>
            <a:ext cx="3623928" cy="4572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21"/>
          <p:cNvSpPr txBox="1"/>
          <p:nvPr/>
        </p:nvSpPr>
        <p:spPr>
          <a:xfrm>
            <a:off x="4474536" y="1362456"/>
            <a:ext cx="3258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② Sufficient après la 2ᵉ boucle</a:t>
            </a:r>
          </a:p>
        </p:txBody>
      </p:sp>
      <p:sp>
        <p:nvSpPr>
          <p:cNvPr id="34" name="TextBox 22"/>
          <p:cNvSpPr txBox="1"/>
          <p:nvPr/>
        </p:nvSpPr>
        <p:spPr>
          <a:xfrm>
            <a:off x="4474536" y="1691640"/>
            <a:ext cx="3258168" cy="3842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30" b="1">
                <a:solidFill>
                  <a:srgbClr val="8A5CF6"/>
                </a:solidFill>
                <a:latin typeface="Segoe UI"/>
              </a:rPr>
              <a:t>—  </a:t>
            </a:r>
            <a:r>
              <a:rPr sz="930">
                <a:solidFill>
                  <a:srgbClr val="1B1F27"/>
                </a:solidFill>
                <a:latin typeface="Segoe UI"/>
              </a:rPr>
              <a:t>Grading final exécuté sur le pool POST-rewrite — rewrite['grading_after']['sufficient']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30" b="1">
                <a:solidFill>
                  <a:srgbClr val="8A5CF6"/>
                </a:solidFill>
                <a:latin typeface="Segoe UI"/>
              </a:rPr>
              <a:t>—  </a:t>
            </a:r>
            <a:r>
              <a:rPr sz="930">
                <a:solidFill>
                  <a:srgbClr val="1B1F27"/>
                </a:solidFill>
                <a:latin typeface="Segoe UI"/>
              </a:rPr>
              <a:t>sufficient = True → la reformulation a comblé le manque identifié par le grading initial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30" b="1">
                <a:solidFill>
                  <a:srgbClr val="8A5CF6"/>
                </a:solidFill>
                <a:latin typeface="Segoe UI"/>
              </a:rPr>
              <a:t>—  </a:t>
            </a:r>
            <a:r>
              <a:rPr sz="930">
                <a:solidFill>
                  <a:srgbClr val="1B1F27"/>
                </a:solidFill>
                <a:latin typeface="Segoe UI"/>
              </a:rPr>
              <a:t>sufficient = False → rewrite_success = 0 : le manque persiste malgré la reformulation</a:t>
            </a:r>
          </a:p>
        </p:txBody>
      </p:sp>
      <p:sp>
        <p:nvSpPr>
          <p:cNvPr id="35" name="Rounded Rectangle 19"/>
          <p:cNvSpPr/>
          <p:nvPr/>
        </p:nvSpPr>
        <p:spPr>
          <a:xfrm>
            <a:off x="8080392" y="1234440"/>
            <a:ext cx="3623928" cy="440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20"/>
          <p:cNvSpPr/>
          <p:nvPr/>
        </p:nvSpPr>
        <p:spPr>
          <a:xfrm>
            <a:off x="8080392" y="1234440"/>
            <a:ext cx="3623928" cy="4572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21"/>
          <p:cNvSpPr txBox="1"/>
          <p:nvPr/>
        </p:nvSpPr>
        <p:spPr>
          <a:xfrm>
            <a:off x="8263272" y="1362456"/>
            <a:ext cx="3258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③ Précision &amp; nouveauté des 2 derniers chunks</a:t>
            </a:r>
          </a:p>
        </p:txBody>
      </p:sp>
      <p:sp>
        <p:nvSpPr>
          <p:cNvPr id="38" name="TextBox 22"/>
          <p:cNvSpPr txBox="1"/>
          <p:nvPr/>
        </p:nvSpPr>
        <p:spPr>
          <a:xfrm>
            <a:off x="8263272" y="1691640"/>
            <a:ext cx="3258168" cy="3842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30" b="1">
                <a:solidFill>
                  <a:srgbClr val="8A5CF6"/>
                </a:solidFill>
                <a:latin typeface="Segoe UI"/>
              </a:rPr>
              <a:t>—  </a:t>
            </a:r>
            <a:r>
              <a:rPr sz="930">
                <a:solidFill>
                  <a:srgbClr val="1B1F27"/>
                </a:solidFill>
                <a:latin typeface="Segoe UI"/>
              </a:rPr>
              <a:t>Pool final = 3 anciens chunks (meilleurs du 1er retrieval) + 2 nouveaux, re-rankés sur la requête reformulée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30" b="1">
                <a:solidFill>
                  <a:srgbClr val="8A5CF6"/>
                </a:solidFill>
                <a:latin typeface="Segoe UI"/>
              </a:rPr>
              <a:t>—  </a:t>
            </a:r>
            <a:r>
              <a:rPr sz="930">
                <a:solidFill>
                  <a:srgbClr val="1B1F27"/>
                </a:solidFill>
                <a:latin typeface="Segoe UI"/>
              </a:rPr>
              <a:t>Nouveauté : chunks de chunks_loop_2 absents de chunks_loop_1 → rewrite_n_new_chunks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30" b="1">
                <a:solidFill>
                  <a:srgbClr val="8A5CF6"/>
                </a:solidFill>
                <a:latin typeface="Segoe UI"/>
              </a:rPr>
              <a:t>—  </a:t>
            </a:r>
            <a:r>
              <a:rPr sz="930">
                <a:solidFill>
                  <a:srgbClr val="1B1F27"/>
                </a:solidFill>
                <a:latin typeface="Segoe UI"/>
              </a:rPr>
              <a:t>Précision : un LLM-juge labellise chaque nouveau chunk → rewrite_new_ratio = pertinents / nouveaux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B8A80"/>
                </a:solidFill>
                <a:latin typeface="Segoe UI Semibold"/>
              </a:rPr>
              <a:t>BRIQUE ⑥ —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eval_generation() — RAGAS Faithfulness, gemma2:2b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320040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5B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00" b="1">
                <a:solidFill>
                  <a:srgbClr val="0B1F3A"/>
                </a:solidFill>
                <a:latin typeface="Segoe UI Semibold"/>
              </a:rPr>
              <a:t>Données lues</a:t>
            </a:r>
          </a:p>
          <a:p>
            <a:pPr algn="ctr"/>
            <a:r>
              <a:rPr sz="900">
                <a:solidFill>
                  <a:srgbClr val="5B6677"/>
                </a:solidFill>
                <a:latin typeface="Segoe UI"/>
              </a:rPr>
              <a:t>reponse_llm — réponse réellement générée
chunks — réellement utilisés par generate_node
question posée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749039" y="1965960"/>
            <a:ext cx="411481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06240" y="1280160"/>
            <a:ext cx="429768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1B8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41732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RAGAS Faithfulness (gemma2:2b juge)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783080"/>
            <a:ext cx="777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B8A80"/>
                </a:solidFill>
                <a:latin typeface="Segoe UI Semibold"/>
              </a:rPr>
              <a:t>Étape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178308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Décompose la réponse en affirmations atomiques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404872"/>
            <a:ext cx="777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B8A80"/>
                </a:solidFill>
                <a:latin typeface="Segoe UI Semibold"/>
              </a:rPr>
              <a:t>Étape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240487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Pour chaque affirmation, vérifie si elle est dérivable du contexte (les chunks)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3026664"/>
            <a:ext cx="777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B8A80"/>
                </a:solidFill>
                <a:latin typeface="Segoe UI Semibold"/>
              </a:rPr>
              <a:t>Étape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3026664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Score = proportion d'affirmations vérifiables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503920" y="2578608"/>
            <a:ext cx="41148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961120" y="1280160"/>
            <a:ext cx="2697480" cy="260604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141732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Segoe UI Semibold"/>
              </a:rPr>
              <a:t>gen_faithfulness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178308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C9D6E6"/>
                </a:solidFill>
                <a:latin typeface="Segoe UI"/>
              </a:rPr>
              <a:t>1.0 = aucune hallucination</a:t>
            </a:r>
          </a:p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C9D6E6"/>
                </a:solidFill>
                <a:latin typeface="Segoe UI"/>
              </a:rPr>
              <a:t>0.5 = moitié inventée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2606040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EC4B6"/>
                </a:solidFill>
                <a:latin typeface="Segoe UI"/>
              </a:rPr>
              <a:t>Mesuré : 83.5%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3200400"/>
            <a:ext cx="2377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1">
                <a:solidFill>
                  <a:srgbClr val="C9D6E6"/>
                </a:solidFill>
                <a:latin typeface="Segoe UI"/>
              </a:rPr>
              <a:t>Ne compare PAS à la réponse attendue — seulement au contexte fourni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114800"/>
            <a:ext cx="5440680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114800"/>
            <a:ext cx="5440680" cy="45720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24281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Pourquoi Faithfulness et pas AnswerCorrectness 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572000"/>
            <a:ext cx="5074920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19" b="1">
                <a:solidFill>
                  <a:srgbClr val="1B8A80"/>
                </a:solidFill>
                <a:latin typeface="Segoe UI"/>
              </a:rPr>
              <a:t>—  </a:t>
            </a:r>
            <a:r>
              <a:rPr sz="919">
                <a:solidFill>
                  <a:srgbClr val="1B1F27"/>
                </a:solidFill>
                <a:latin typeface="Segoe UI"/>
              </a:rPr>
              <a:t>Faithfulness mesure la fidélité aux chunks — pas si la réponse a raison vs la ground truth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19" b="1">
                <a:solidFill>
                  <a:srgbClr val="1B8A80"/>
                </a:solidFill>
                <a:latin typeface="Segoe UI"/>
              </a:rPr>
              <a:t>—  </a:t>
            </a:r>
            <a:r>
              <a:rPr sz="919">
                <a:solidFill>
                  <a:srgbClr val="1B1F27"/>
                </a:solidFill>
                <a:latin typeface="Segoe UI"/>
              </a:rPr>
              <a:t>Mesure d'hallucination pure : « le LLM invente-t-il des choses ? »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19" b="1">
                <a:solidFill>
                  <a:srgbClr val="1B8A80"/>
                </a:solidFill>
                <a:latin typeface="Segoe UI"/>
              </a:rPr>
              <a:t>—  </a:t>
            </a:r>
            <a:r>
              <a:rPr sz="919">
                <a:solidFill>
                  <a:srgbClr val="1B1F27"/>
                </a:solidFill>
                <a:latin typeface="Segoe UI"/>
              </a:rPr>
              <a:t>Chunks bons + réponse qui invente → problème de génération (cette brique le détecte)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19" b="1">
                <a:solidFill>
                  <a:srgbClr val="1B8A80"/>
                </a:solidFill>
                <a:latin typeface="Segoe UI"/>
              </a:rPr>
              <a:t>—  </a:t>
            </a:r>
            <a:r>
              <a:rPr sz="919">
                <a:solidFill>
                  <a:srgbClr val="1B1F27"/>
                </a:solidFill>
                <a:latin typeface="Segoe UI"/>
              </a:rPr>
              <a:t>Chunks mauvais + réponse fidèle → problème de retrieval (briques ②③ le détectent)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114800"/>
            <a:ext cx="5440680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4114800"/>
            <a:ext cx="5440680" cy="45720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4281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Chunks utilisés = les vrais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4572000"/>
            <a:ext cx="5074920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19" b="1">
                <a:solidFill>
                  <a:srgbClr val="3A86FF"/>
                </a:solidFill>
                <a:latin typeface="Segoe UI"/>
              </a:rPr>
              <a:t>—  </a:t>
            </a:r>
            <a:r>
              <a:rPr sz="919">
                <a:solidFill>
                  <a:srgbClr val="1B1F27"/>
                </a:solidFill>
                <a:latin typeface="Segoe UI"/>
              </a:rPr>
              <a:t>Toujours entry['chunks'] — le pool réellement fourni à generate_node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19" b="1">
                <a:solidFill>
                  <a:srgbClr val="3A86FF"/>
                </a:solidFill>
                <a:latin typeface="Segoe UI"/>
              </a:rPr>
              <a:t>—  </a:t>
            </a:r>
            <a:r>
              <a:rPr sz="919">
                <a:solidFill>
                  <a:srgbClr val="1B1F27"/>
                </a:solidFill>
                <a:latin typeface="Segoe UI"/>
              </a:rPr>
              <a:t>Si un rewrite a eu lieu : pool post-rewrite (3+2 fusionnés)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19" b="1">
                <a:solidFill>
                  <a:srgbClr val="3A86FF"/>
                </a:solidFill>
                <a:latin typeface="Segoe UI"/>
              </a:rPr>
              <a:t>—  </a:t>
            </a:r>
            <a:r>
              <a:rPr sz="919">
                <a:solidFill>
                  <a:srgbClr val="1B1F27"/>
                </a:solidFill>
                <a:latin typeface="Segoe UI"/>
              </a:rPr>
              <a:t>Sinon : pool direct du 1er retrieval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19" b="1">
                <a:solidFill>
                  <a:srgbClr val="3A86FF"/>
                </a:solidFill>
                <a:latin typeface="Segoe UI"/>
              </a:rPr>
              <a:t>—  </a:t>
            </a:r>
            <a:r>
              <a:rPr sz="919">
                <a:solidFill>
                  <a:srgbClr val="1B1F27"/>
                </a:solidFill>
                <a:latin typeface="Segoe UI"/>
              </a:rPr>
              <a:t>La fidélité est mesurée par rapport à ce qui a vraiment servi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23/32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6B35"/>
                </a:solidFill>
                <a:latin typeface="Segoe UI Semibold"/>
              </a:rPr>
              <a:t>BRIQUE ⑦ — DÉDUPLICATION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eval_dedup() — comparaison directe chunk écarté vs chunk conservé, LLM-juge gemma2:2b — perte d'info réelle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39496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dedup_removed_docs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Chunk écarté par la dédup Jaccard (seuil 90%)
Quasi-doublon du chunk conservé à sa place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234440"/>
            <a:ext cx="539496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dedup_kept_docs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Chunk conservé (même index, mieux classé par RRF)
A remplacé l'écarté dans le pool fusionné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00400" y="2606040"/>
            <a:ext cx="0" cy="27432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61120" y="2606040"/>
            <a:ext cx="0" cy="27432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02920" y="2697480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Méthode de mesure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17520"/>
            <a:ext cx="269748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08152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EA86A"/>
                </a:solidFill>
                <a:latin typeface="Segoe UI Semibold"/>
              </a:rPr>
              <a:t>① Paires alignées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35584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 i="0">
                <a:solidFill>
                  <a:srgbClr val="1B1F27"/>
                </a:solidFill>
                <a:latin typeface="Segoe UI"/>
              </a:rPr>
              <a:t>dedup_removed_docs[i] / dedup_kept_docs[i]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611880"/>
            <a:ext cx="2423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capturées dans _dedup() (ask.py)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9272" y="3017520"/>
            <a:ext cx="269748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6432" y="308152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EA86A"/>
                </a:solidFill>
                <a:latin typeface="Segoe UI Semibold"/>
              </a:rPr>
              <a:t>② LLM-juge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6432" y="335584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 i="0">
                <a:solidFill>
                  <a:srgbClr val="1B1F27"/>
                </a:solidFill>
                <a:latin typeface="Segoe UI"/>
              </a:rPr>
              <a:t>DEDUP_LOSS_JUDGE compare les 2 extraits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432" y="3611880"/>
            <a:ext cx="2423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le conservé couvre-t-il l'écarté 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3017520"/>
            <a:ext cx="269748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2784" y="308152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64A4A"/>
                </a:solidFill>
                <a:latin typeface="Segoe UI Semibold"/>
              </a:rPr>
              <a:t>③ Verdict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2784" y="335584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 i="0">
                <a:solidFill>
                  <a:srgbClr val="1B1F27"/>
                </a:solidFill>
                <a:latin typeface="Segoe UI"/>
              </a:rPr>
              <a:t>OUI = info perdue · NON = couverte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4" y="3611880"/>
            <a:ext cx="2423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pas de jugement isolé du chunk écarté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51976" y="3017520"/>
            <a:ext cx="269748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89136" y="308152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64A4A"/>
                </a:solidFill>
                <a:latin typeface="Segoe UI Semibold"/>
              </a:rPr>
              <a:t>④ Disponibilité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335584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 i="0">
                <a:solidFill>
                  <a:srgbClr val="1B1F27"/>
                </a:solidFill>
                <a:latin typeface="Segoe UI"/>
              </a:rPr>
              <a:t>dedup_available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3611880"/>
            <a:ext cx="2423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0 si dedup_removed_docs absent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16052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Métriques dérivées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498848"/>
            <a:ext cx="269748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572000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Chunks écartés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828032"/>
            <a:ext cx="2423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B6677"/>
                </a:solidFill>
                <a:latin typeface="Segoe UI"/>
              </a:rPr>
              <a:t>dedup_n_retires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047488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6B35"/>
                </a:solidFill>
                <a:latin typeface="Segoe UI"/>
              </a:rPr>
              <a:t>par question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19272" y="4498848"/>
            <a:ext cx="269748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56432" y="4572000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Pertes réelles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56432" y="4828032"/>
            <a:ext cx="2423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B6677"/>
                </a:solidFill>
                <a:latin typeface="Segoe UI"/>
              </a:rPr>
              <a:t>dedup_n_pertes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56432" y="5047488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6B35"/>
                </a:solidFill>
                <a:latin typeface="Segoe UI"/>
              </a:rPr>
              <a:t>sous-ensemble des écartés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35624" y="4498848"/>
            <a:ext cx="269748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2784" y="4572000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Ratio de perte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72784" y="4828032"/>
            <a:ext cx="2423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B6677"/>
                </a:solidFill>
                <a:latin typeface="Segoe UI"/>
              </a:rPr>
              <a:t>dedup_perte_ratio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72784" y="5047488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6B35"/>
                </a:solidFill>
                <a:latin typeface="Segoe UI"/>
              </a:rPr>
              <a:t>0 = aucune perte dommageable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51976" y="4498848"/>
            <a:ext cx="269748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89136" y="4572000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Seuil Jaccard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89136" y="4828032"/>
            <a:ext cx="2423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B6677"/>
                </a:solidFill>
                <a:latin typeface="Segoe UI"/>
              </a:rPr>
              <a:t>DEDUP_THRESHOLD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89136" y="5047488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6B35"/>
                </a:solidFill>
                <a:latin typeface="Segoe UI"/>
              </a:rPr>
              <a:t>0.9 (90% tokens communs)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486400"/>
            <a:ext cx="1120140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" y="5486400"/>
            <a:ext cx="11201400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5614416"/>
            <a:ext cx="10835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Pourquoi comparer les 2 chunks directement 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94360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00" b="1">
                <a:solidFill>
                  <a:srgbClr val="FF6B35"/>
                </a:solidFill>
                <a:latin typeface="Segoe UI"/>
              </a:rPr>
              <a:t>—  </a:t>
            </a:r>
            <a:r>
              <a:rPr sz="900">
                <a:solidFill>
                  <a:srgbClr val="1B1F27"/>
                </a:solidFill>
                <a:latin typeface="Segoe UI"/>
              </a:rPr>
              <a:t>Ancienne méthode (juger le chunk écarté isolément) trop pessimiste : comptait comme « perte » tout chunk pertinent écarté, même si son doublon conservé couvrait déjà la même info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00" b="1">
                <a:solidFill>
                  <a:srgbClr val="FF6B35"/>
                </a:solidFill>
                <a:latin typeface="Segoe UI"/>
              </a:rPr>
              <a:t>—  </a:t>
            </a:r>
            <a:r>
              <a:rPr sz="900">
                <a:solidFill>
                  <a:srgbClr val="1B1F27"/>
                </a:solidFill>
                <a:latin typeface="Segoe UI"/>
              </a:rPr>
              <a:t>Données pas encore disponibles sur le dataset actuel : nécessite un re-run de run_agentic_all.py pour capturer dedup_removed_docs / dedup_kept_docs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24/32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6B35"/>
                </a:solidFill>
                <a:latin typeface="Segoe UI Semibold"/>
              </a:rPr>
              <a:t>BRIQUE ⑧ — FUSION RRF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eval_rrf() — sémantique vs BM25 vs fusion, LLM-juge gemma2:2b — complémentarité des 2 méthodes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39496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semantic_docs / bm25_docs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Résultats bruts de chaque méthode, avant fusion
bge-m3 + MMR (25) · BM25 normalisé (25)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234440"/>
            <a:ext cx="539496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pre_dedup_docs (fusion RRF)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Pool fusionné par Reciprocal Rank Fusion
Référence pour mesurer le gain de la fusion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00400" y="2606040"/>
            <a:ext cx="0" cy="27432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61120" y="2606040"/>
            <a:ext cx="0" cy="27432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02920" y="2697480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Méthode de mesure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17520"/>
            <a:ext cx="269748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08152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EA86A"/>
                </a:solidFill>
                <a:latin typeface="Segoe UI Semibold"/>
              </a:rPr>
              <a:t>① Top N aligné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35584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 i="0">
                <a:solidFill>
                  <a:srgbClr val="1B1F27"/>
                </a:solidFill>
                <a:latin typeface="Segoe UI"/>
              </a:rPr>
              <a:t>semantic[:n] / bm25[:n] / rrf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611880"/>
            <a:ext cx="2423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n = taille du pool fusionné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9272" y="3017520"/>
            <a:ext cx="269748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6432" y="308152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EA86A"/>
                </a:solidFill>
                <a:latin typeface="Segoe UI Semibold"/>
              </a:rPr>
              <a:t>② LLM-juge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6432" y="335584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 i="0">
                <a:solidFill>
                  <a:srgbClr val="1B1F27"/>
                </a:solidFill>
                <a:latin typeface="Segoe UI"/>
              </a:rPr>
              <a:t>_judge_relevance() par lots de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432" y="3611880"/>
            <a:ext cx="2423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labellise chaque ensemble séparément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3017520"/>
            <a:ext cx="269748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2784" y="308152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64A4A"/>
                </a:solidFill>
                <a:latin typeface="Segoe UI Semibold"/>
              </a:rPr>
              <a:t>③ Complémentarité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2784" y="335584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 i="0">
                <a:solidFill>
                  <a:srgbClr val="1B1F27"/>
                </a:solidFill>
                <a:latin typeface="Segoe UI"/>
              </a:rPr>
              <a:t>exclusifs sém. / exclusifs BM25 / communs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4" y="3611880"/>
            <a:ext cx="2423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origine des chunks retenus par le RRF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51976" y="3017520"/>
            <a:ext cx="269748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89136" y="308152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64A4A"/>
                </a:solidFill>
                <a:latin typeface="Segoe UI Semibold"/>
              </a:rPr>
              <a:t>④ Disponibilité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335584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 i="0">
                <a:solidFill>
                  <a:srgbClr val="1B1F27"/>
                </a:solidFill>
                <a:latin typeface="Segoe UI"/>
              </a:rPr>
              <a:t>rrf_available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3611880"/>
            <a:ext cx="2423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0 si semantic/bm25_docs absents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16052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Métriques dérivées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498848"/>
            <a:ext cx="269748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572000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Pertinence sémantique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828032"/>
            <a:ext cx="2423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B6677"/>
                </a:solidFill>
                <a:latin typeface="Segoe UI"/>
              </a:rPr>
              <a:t>rrf_semantic_ratio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047488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6B35"/>
                </a:solidFill>
                <a:latin typeface="Segoe UI"/>
              </a:rPr>
              <a:t>% pertinents, sémantique seul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19272" y="4498848"/>
            <a:ext cx="269748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56432" y="4572000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Pertinence BM25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56432" y="4828032"/>
            <a:ext cx="2423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B6677"/>
                </a:solidFill>
                <a:latin typeface="Segoe UI"/>
              </a:rPr>
              <a:t>rrf_bm25_ratio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56432" y="5047488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6B35"/>
                </a:solidFill>
                <a:latin typeface="Segoe UI"/>
              </a:rPr>
              <a:t>% pertinents, BM25 seul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35624" y="4498848"/>
            <a:ext cx="269748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2784" y="4572000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Pertinence fusion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72784" y="4828032"/>
            <a:ext cx="2423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B6677"/>
                </a:solidFill>
                <a:latin typeface="Segoe UI"/>
              </a:rPr>
              <a:t>rrf_fusion_ratio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72784" y="5047488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6B35"/>
                </a:solidFill>
                <a:latin typeface="Segoe UI"/>
              </a:rPr>
              <a:t>% pertinents, après RRF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51976" y="4498848"/>
            <a:ext cx="269748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89136" y="4572000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Chunks communs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89136" y="4828032"/>
            <a:ext cx="2423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B6677"/>
                </a:solidFill>
                <a:latin typeface="Segoe UI"/>
              </a:rPr>
              <a:t>rrf_communs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89136" y="5047488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6B35"/>
                </a:solidFill>
                <a:latin typeface="Segoe UI"/>
              </a:rPr>
              <a:t>présents dans les 2 méthodes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486400"/>
            <a:ext cx="1120140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" y="5486400"/>
            <a:ext cx="11201400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5614416"/>
            <a:ext cx="10835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Ce que cette brique vérifie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94360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00" b="1">
                <a:solidFill>
                  <a:srgbClr val="FF6B35"/>
                </a:solidFill>
                <a:latin typeface="Segoe UI"/>
              </a:rPr>
              <a:t>—  </a:t>
            </a:r>
            <a:r>
              <a:rPr sz="900">
                <a:solidFill>
                  <a:srgbClr val="1B1F27"/>
                </a:solidFill>
                <a:latin typeface="Segoe UI"/>
              </a:rPr>
              <a:t>La fusion RRF doit faire mieux que chaque méthode seule — sinon la complexité ajoutée n'apporte rien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00" b="1">
                <a:solidFill>
                  <a:srgbClr val="FF6B35"/>
                </a:solidFill>
                <a:latin typeface="Segoe UI"/>
              </a:rPr>
              <a:t>—  </a:t>
            </a:r>
            <a:r>
              <a:rPr sz="900">
                <a:solidFill>
                  <a:srgbClr val="1B1F27"/>
                </a:solidFill>
                <a:latin typeface="Segoe UI"/>
              </a:rPr>
              <a:t>Données déjà disponibles sur le dataset actuel (semantic_docs/bm25_docs capturés) — un nouveau passage de evaluate_components.py suffit pour produire les scores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25/32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8A5CF6"/>
                </a:solidFill>
                <a:latin typeface="Segoe UI Semibold"/>
              </a:rPr>
              <a:t>FLUX COMPLET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Exemple : une question niveau 2, avec rewrite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325880"/>
            <a:ext cx="411480" cy="411480"/>
          </a:xfrm>
          <a:prstGeom prst="ellipse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①</a:t>
            </a:r>
          </a:p>
        </p:txBody>
      </p:sp>
      <p:sp>
        <p:nvSpPr>
          <p:cNvPr id="7" name="Rectangle 6"/>
          <p:cNvSpPr/>
          <p:nvPr/>
        </p:nvSpPr>
        <p:spPr>
          <a:xfrm>
            <a:off x="695960" y="1737360"/>
            <a:ext cx="25400" cy="50292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1280160"/>
            <a:ext cx="1060704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1280160"/>
            <a:ext cx="54864" cy="804672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3533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eval_router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645919"/>
            <a:ext cx="6400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5B6677"/>
                </a:solidFill>
                <a:latin typeface="Segoe UI"/>
              </a:rPr>
              <a:t>set(pred_src)==set(exp_src) ? · pred_diff==exp_diff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1481328"/>
            <a:ext cx="3749039" cy="42062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 Semibold"/>
              </a:rPr>
              <a:t>router_source_ok=1, router_diff_ok=0</a:t>
            </a:r>
          </a:p>
        </p:txBody>
      </p:sp>
      <p:sp>
        <p:nvSpPr>
          <p:cNvPr id="13" name="Oval 12"/>
          <p:cNvSpPr/>
          <p:nvPr/>
        </p:nvSpPr>
        <p:spPr>
          <a:xfrm>
            <a:off x="502920" y="2240279"/>
            <a:ext cx="411480" cy="41148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②③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5960" y="2651760"/>
            <a:ext cx="25400" cy="50292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97280" y="2194560"/>
            <a:ext cx="1060704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0" y="2194560"/>
            <a:ext cx="54864" cy="80467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22677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eval_retrieval_and_reranking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2560320"/>
            <a:ext cx="6400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5B6677"/>
                </a:solidFill>
                <a:latin typeface="Segoe UI"/>
              </a:rPr>
              <a:t>RAGAS Precision/Recall sur pre et post (4 appels parallèles)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18120" y="2395728"/>
            <a:ext cx="3749039" cy="420624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 Semibold"/>
              </a:rPr>
              <a:t>Δ precision=+0.289 · Δ recall=+0.250</a:t>
            </a:r>
          </a:p>
        </p:txBody>
      </p:sp>
      <p:sp>
        <p:nvSpPr>
          <p:cNvPr id="20" name="Oval 19"/>
          <p:cNvSpPr/>
          <p:nvPr/>
        </p:nvSpPr>
        <p:spPr>
          <a:xfrm>
            <a:off x="502920" y="3154679"/>
            <a:ext cx="411480" cy="41148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④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5960" y="3566160"/>
            <a:ext cx="25400" cy="50292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97280" y="3108960"/>
            <a:ext cx="1060704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97280" y="3108960"/>
            <a:ext cx="54864" cy="80467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0160" y="31821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eval_grading (diff &gt;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3474720"/>
            <a:ext cx="6400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5B6677"/>
                </a:solidFill>
                <a:latin typeface="Segoe UI"/>
              </a:rPr>
              <a:t>Grader (capturé)=NON · Juge gemma4:12b(question,chunks,ground truth)=NON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3310128"/>
            <a:ext cx="3749039" cy="420624"/>
          </a:xfrm>
          <a:prstGeom prst="roundRect">
            <a:avLst>
              <a:gd name="adj" fmla="val 5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 Semibold"/>
              </a:rPr>
              <a:t>vrai négatif ✅</a:t>
            </a:r>
          </a:p>
        </p:txBody>
      </p:sp>
      <p:sp>
        <p:nvSpPr>
          <p:cNvPr id="27" name="Oval 26"/>
          <p:cNvSpPr/>
          <p:nvPr/>
        </p:nvSpPr>
        <p:spPr>
          <a:xfrm>
            <a:off x="502920" y="4069080"/>
            <a:ext cx="411480" cy="411480"/>
          </a:xfrm>
          <a:prstGeom prst="ellipse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5960" y="4480560"/>
            <a:ext cx="25400" cy="50292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97280" y="4023360"/>
            <a:ext cx="1060704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97280" y="4023360"/>
            <a:ext cx="54864" cy="804672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80160" y="40965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eval_rewriting (déclenché)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4389120"/>
            <a:ext cx="6400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5B6677"/>
                </a:solidFill>
                <a:latin typeface="Segoe UI"/>
              </a:rPr>
              <a:t>RAGAS Precision/Recall sur les chunks finaux post-rewrite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18120" y="4224528"/>
            <a:ext cx="3749039" cy="420624"/>
          </a:xfrm>
          <a:prstGeom prst="roundRect">
            <a:avLst>
              <a:gd name="adj" fmla="val 50000"/>
            </a:avLst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 Semibold"/>
              </a:rPr>
              <a:t>Δ precision=+0.061 · Δ recall=+0.250</a:t>
            </a:r>
          </a:p>
        </p:txBody>
      </p:sp>
      <p:sp>
        <p:nvSpPr>
          <p:cNvPr id="34" name="Oval 33"/>
          <p:cNvSpPr/>
          <p:nvPr/>
        </p:nvSpPr>
        <p:spPr>
          <a:xfrm>
            <a:off x="502920" y="4983480"/>
            <a:ext cx="411480" cy="411480"/>
          </a:xfrm>
          <a:prstGeom prst="ellipse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97280" y="4937760"/>
            <a:ext cx="1060704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97280" y="4937760"/>
            <a:ext cx="54864" cy="804672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50109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eval_generation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80160" y="5303520"/>
            <a:ext cx="6400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5B6677"/>
                </a:solidFill>
                <a:latin typeface="Segoe UI"/>
              </a:rPr>
              <a:t>RAGAS Faithfulness(reponse_llm, chunks)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818120" y="5138928"/>
            <a:ext cx="3749039" cy="420624"/>
          </a:xfrm>
          <a:prstGeom prst="roundRect">
            <a:avLst>
              <a:gd name="adj" fmla="val 50000"/>
            </a:avLst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 Semibold"/>
              </a:rPr>
              <a:t>score = 0.875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94360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FFFFFF"/>
                </a:solidFill>
                <a:latin typeface="Segoe UI"/>
              </a:rPr>
              <a:t>→ Sauvegarde de la ligne (25+ colonnes) dans component_evaluation.csv — reprise automatique si crash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26/32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B8A80"/>
                </a:solidFill>
                <a:latin typeface="Segoe UI Semibold"/>
              </a:rPr>
              <a:t>RÉCAPITULATIF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Ce que chaque brique mesure, avec quel outil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11201400" cy="41148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371600"/>
            <a:ext cx="3474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Segoe UI Semibold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1371600"/>
            <a:ext cx="14447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Segoe UI Semibold"/>
              </a:rPr>
              <a:t>Brique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87752" y="1371600"/>
            <a:ext cx="222199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Segoe UI Semibold"/>
              </a:rPr>
              <a:t>Fonction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19472" y="1371600"/>
            <a:ext cx="313639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Segoe UI Semibold"/>
              </a:rPr>
              <a:t>Outil d'évaluation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65592" y="1371600"/>
            <a:ext cx="1307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Segoe UI Semibold"/>
              </a:rPr>
              <a:t>Appel 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82912" y="1371600"/>
            <a:ext cx="208483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Segoe UI Semibold"/>
              </a:rPr>
              <a:t>Applicable si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691639"/>
            <a:ext cx="11201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691639"/>
            <a:ext cx="54864" cy="566928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1764792"/>
            <a:ext cx="320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0B1F3A"/>
                </a:solidFill>
                <a:latin typeface="Segoe UI"/>
              </a:rPr>
              <a:t>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1764792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0B1F3A"/>
                </a:solidFill>
                <a:latin typeface="Segoe UI"/>
              </a:rPr>
              <a:t>Router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1764792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eval_router()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1764792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Comparaison exacte avec questions.json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1764792"/>
            <a:ext cx="1280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Aucun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1764792"/>
            <a:ext cx="2057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Toujours (50 q.)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258568"/>
            <a:ext cx="11201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258568"/>
            <a:ext cx="54864" cy="56692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331720"/>
            <a:ext cx="320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0B1F3A"/>
                </a:solidFill>
                <a:latin typeface="Segoe UI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2331720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0B1F3A"/>
                </a:solidFill>
                <a:latin typeface="Segoe UI"/>
              </a:rPr>
              <a:t>Retrieval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2331720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eval_retrieval_and_reranking()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59" y="2331720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RAGAS ContextPrecision + ContextRecall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2331720"/>
            <a:ext cx="1280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gemma2:2b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2331720"/>
            <a:ext cx="2057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Toujours (50 q.)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825496"/>
            <a:ext cx="11201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2825496"/>
            <a:ext cx="54864" cy="566928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2898648"/>
            <a:ext cx="320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0B1F3A"/>
                </a:solidFill>
                <a:latin typeface="Segoe UI"/>
              </a:rPr>
              <a:t>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2898648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0B1F3A"/>
                </a:solidFill>
                <a:latin typeface="Segoe UI"/>
              </a:rPr>
              <a:t>Re-ranking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06040" y="2898648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eval_retrieval_and_reranking()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59" y="2898648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Delta RAGAS avant vs après re-ranking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79" y="2898648"/>
            <a:ext cx="1280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gemma2:2b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2898648"/>
            <a:ext cx="2057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Δ=0 si pool ≤ K_FINAL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3392424"/>
            <a:ext cx="11201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3392424"/>
            <a:ext cx="54864" cy="56692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3465576"/>
            <a:ext cx="320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0B1F3A"/>
                </a:solidFill>
                <a:latin typeface="Segoe UI"/>
              </a:rPr>
              <a:t>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3465576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0B1F3A"/>
                </a:solidFill>
                <a:latin typeface="Segoe UI"/>
              </a:rPr>
              <a:t>Grading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06040" y="3465576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eval_grading()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37759" y="3465576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Juge externe custom (GRADING_JUDGE)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83879" y="3465576"/>
            <a:ext cx="1280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gemma4:12b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3465576"/>
            <a:ext cx="2057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Difficulté &gt; 1 seulement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3959352"/>
            <a:ext cx="11201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" y="3959352"/>
            <a:ext cx="54864" cy="566928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4032504"/>
            <a:ext cx="320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0B1F3A"/>
                </a:solidFill>
                <a:latin typeface="Segoe UI"/>
              </a:rPr>
              <a:t>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" y="4032504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0B1F3A"/>
                </a:solidFill>
                <a:latin typeface="Segoe UI"/>
              </a:rPr>
              <a:t>Query Rewriting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06040" y="4032504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eval_rewriting()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37759" y="4032504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RAGAS Precision + Recall (gain)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83879" y="4032504"/>
            <a:ext cx="1280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gemma2:2b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0" y="4032504"/>
            <a:ext cx="2057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Rewrite déclenché seulement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4526280"/>
            <a:ext cx="11201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02920" y="4526280"/>
            <a:ext cx="54864" cy="566928"/>
          </a:xfrm>
          <a:prstGeom prst="rect">
            <a:avLst/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360" y="4599432"/>
            <a:ext cx="320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0B1F3A"/>
                </a:solidFill>
                <a:latin typeface="Segoe UI"/>
              </a:rPr>
              <a:t>⑥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1560" y="4599432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0B1F3A"/>
                </a:solidFill>
                <a:latin typeface="Segoe UI"/>
              </a:rPr>
              <a:t>Generation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06040" y="4599432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eval_generation()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37759" y="4599432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RAGAS Faithfulness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83879" y="4599432"/>
            <a:ext cx="1280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gemma2:2b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01200" y="4599432"/>
            <a:ext cx="2057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Toujours (50 q.)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27/32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52 row7"/>
          <p:cNvSpPr/>
          <p:nvPr/>
        </p:nvSpPr>
        <p:spPr>
          <a:xfrm>
            <a:off x="502920" y="5093208"/>
            <a:ext cx="11201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53 row7"/>
          <p:cNvSpPr/>
          <p:nvPr/>
        </p:nvSpPr>
        <p:spPr>
          <a:xfrm>
            <a:off x="502920" y="5093208"/>
            <a:ext cx="54864" cy="566928"/>
          </a:xfrm>
          <a:prstGeom prst="rect">
            <a:avLst/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54 row7"/>
          <p:cNvSpPr txBox="1"/>
          <p:nvPr/>
        </p:nvSpPr>
        <p:spPr>
          <a:xfrm>
            <a:off x="594360" y="5166360"/>
            <a:ext cx="320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0B1F3A"/>
                </a:solidFill>
                <a:latin typeface="Segoe UI"/>
              </a:rPr>
              <a:t>⑦</a:t>
            </a:r>
          </a:p>
        </p:txBody>
      </p:sp>
      <p:sp>
        <p:nvSpPr>
          <p:cNvPr id="67" name="TextBox 55 row7"/>
          <p:cNvSpPr txBox="1"/>
          <p:nvPr/>
        </p:nvSpPr>
        <p:spPr>
          <a:xfrm>
            <a:off x="1051560" y="5166360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0B1F3A"/>
                </a:solidFill>
                <a:latin typeface="Segoe UI"/>
              </a:rPr>
              <a:t>Déduplication</a:t>
            </a:r>
          </a:p>
        </p:txBody>
      </p:sp>
      <p:sp>
        <p:nvSpPr>
          <p:cNvPr id="68" name="TextBox 56 row7"/>
          <p:cNvSpPr txBox="1"/>
          <p:nvPr/>
        </p:nvSpPr>
        <p:spPr>
          <a:xfrm>
            <a:off x="2606040" y="5166360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eval_dedup()</a:t>
            </a:r>
          </a:p>
        </p:txBody>
      </p:sp>
      <p:sp>
        <p:nvSpPr>
          <p:cNvPr id="69" name="TextBox 57 row7"/>
          <p:cNvSpPr txBox="1"/>
          <p:nvPr/>
        </p:nvSpPr>
        <p:spPr>
          <a:xfrm>
            <a:off x="4937759" y="5166360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Compare chaque chunk écarté au doublon conservé (perte d'info réelle)</a:t>
            </a:r>
          </a:p>
        </p:txBody>
      </p:sp>
      <p:sp>
        <p:nvSpPr>
          <p:cNvPr id="70" name="TextBox 58 row7"/>
          <p:cNvSpPr txBox="1"/>
          <p:nvPr/>
        </p:nvSpPr>
        <p:spPr>
          <a:xfrm>
            <a:off x="8183879" y="5166360"/>
            <a:ext cx="1280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gemma2:2b</a:t>
            </a:r>
          </a:p>
        </p:txBody>
      </p:sp>
      <p:sp>
        <p:nvSpPr>
          <p:cNvPr id="71" name="TextBox 59 row7"/>
          <p:cNvSpPr txBox="1"/>
          <p:nvPr/>
        </p:nvSpPr>
        <p:spPr>
          <a:xfrm>
            <a:off x="9601200" y="5166360"/>
            <a:ext cx="2057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Si dedup_removed/kept_docs dispo</a:t>
            </a:r>
          </a:p>
        </p:txBody>
      </p:sp>
      <p:sp>
        <p:nvSpPr>
          <p:cNvPr id="72" name="Rectangle 52 row8"/>
          <p:cNvSpPr/>
          <p:nvPr/>
        </p:nvSpPr>
        <p:spPr>
          <a:xfrm>
            <a:off x="502920" y="5660136"/>
            <a:ext cx="11201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53 row8"/>
          <p:cNvSpPr/>
          <p:nvPr/>
        </p:nvSpPr>
        <p:spPr>
          <a:xfrm>
            <a:off x="502920" y="5660136"/>
            <a:ext cx="54864" cy="566928"/>
          </a:xfrm>
          <a:prstGeom prst="rect">
            <a:avLst/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54 row8"/>
          <p:cNvSpPr txBox="1"/>
          <p:nvPr/>
        </p:nvSpPr>
        <p:spPr>
          <a:xfrm>
            <a:off x="594360" y="5733288"/>
            <a:ext cx="320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0B1F3A"/>
                </a:solidFill>
                <a:latin typeface="Segoe UI"/>
              </a:rPr>
              <a:t>⑧</a:t>
            </a:r>
          </a:p>
        </p:txBody>
      </p:sp>
      <p:sp>
        <p:nvSpPr>
          <p:cNvPr id="75" name="TextBox 55 row8"/>
          <p:cNvSpPr txBox="1"/>
          <p:nvPr/>
        </p:nvSpPr>
        <p:spPr>
          <a:xfrm>
            <a:off x="1051560" y="5733288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0B1F3A"/>
                </a:solidFill>
                <a:latin typeface="Segoe UI"/>
              </a:rPr>
              <a:t>Fusion RRF</a:t>
            </a:r>
          </a:p>
        </p:txBody>
      </p:sp>
      <p:sp>
        <p:nvSpPr>
          <p:cNvPr id="76" name="TextBox 56 row8"/>
          <p:cNvSpPr txBox="1"/>
          <p:nvPr/>
        </p:nvSpPr>
        <p:spPr>
          <a:xfrm>
            <a:off x="2606040" y="5733288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eval_rrf()</a:t>
            </a:r>
          </a:p>
        </p:txBody>
      </p:sp>
      <p:sp>
        <p:nvSpPr>
          <p:cNvPr id="77" name="TextBox 57 row8"/>
          <p:cNvSpPr txBox="1"/>
          <p:nvPr/>
        </p:nvSpPr>
        <p:spPr>
          <a:xfrm>
            <a:off x="4937759" y="5733288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LLM-juge : % pertinents sémantique seul vs BM25 seul vs fusion</a:t>
            </a:r>
          </a:p>
        </p:txBody>
      </p:sp>
      <p:sp>
        <p:nvSpPr>
          <p:cNvPr id="78" name="TextBox 58 row8"/>
          <p:cNvSpPr txBox="1"/>
          <p:nvPr/>
        </p:nvSpPr>
        <p:spPr>
          <a:xfrm>
            <a:off x="8183879" y="5733288"/>
            <a:ext cx="1280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gemma2:2b</a:t>
            </a:r>
          </a:p>
        </p:txBody>
      </p:sp>
      <p:sp>
        <p:nvSpPr>
          <p:cNvPr id="79" name="TextBox 59 row8"/>
          <p:cNvSpPr txBox="1"/>
          <p:nvPr/>
        </p:nvSpPr>
        <p:spPr>
          <a:xfrm>
            <a:off x="9601200" y="5733288"/>
            <a:ext cx="2057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Si semantic/bm25_docs dispo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A86A"/>
                </a:solidFill>
                <a:latin typeface="Segoe UI Semibold"/>
              </a:rPr>
              <a:t>RÉSULTATS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Mesures réelles sur les 50 questions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64008" cy="109728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08176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1F3A"/>
                </a:solidFill>
                <a:latin typeface="Segoe UI"/>
              </a:rPr>
              <a:t>94.5%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38528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677"/>
                </a:solidFill>
                <a:latin typeface="Segoe UI"/>
              </a:rPr>
              <a:t>Context Precision (retrieval)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280160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280160"/>
            <a:ext cx="64008" cy="109728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408176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1F3A"/>
                </a:solidFill>
                <a:latin typeface="Segoe UI"/>
              </a:rPr>
              <a:t>94.9%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1938528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677"/>
                </a:solidFill>
                <a:latin typeface="Segoe UI"/>
              </a:rPr>
              <a:t>Context Recall (retrieval)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280160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280160"/>
            <a:ext cx="64008" cy="1097280"/>
          </a:xfrm>
          <a:prstGeom prst="rect">
            <a:avLst/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408176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1F3A"/>
                </a:solidFill>
                <a:latin typeface="Segoe UI"/>
              </a:rPr>
              <a:t>83.5%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938528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677"/>
                </a:solidFill>
                <a:latin typeface="Segoe UI"/>
              </a:rPr>
              <a:t>Faithfulness (génération)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6060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Le Routeur (identify_sources)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063240"/>
            <a:ext cx="2468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1F27"/>
                </a:solidFill>
                <a:latin typeface="Segoe UI"/>
              </a:rPr>
              <a:t>Source identifiée correctement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08960" y="3090672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108960" y="3090672"/>
            <a:ext cx="1219809" cy="23774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49240" y="3063240"/>
            <a:ext cx="777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"/>
              </a:rPr>
              <a:t>58%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520440"/>
            <a:ext cx="2468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1F27"/>
                </a:solidFill>
                <a:latin typeface="Segoe UI"/>
              </a:rPr>
              <a:t>Difficulté identifiée correctement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08960" y="3547872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108960" y="3547872"/>
            <a:ext cx="1345996" cy="23774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49240" y="3520440"/>
            <a:ext cx="777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"/>
              </a:rPr>
              <a:t>64%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1605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Boucle de correction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5262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00" b="1">
                <a:solidFill>
                  <a:srgbClr val="FF6B35"/>
                </a:solidFill>
                <a:latin typeface="Segoe UI"/>
              </a:rPr>
              <a:t>—  </a:t>
            </a:r>
            <a:r>
              <a:rPr sz="1100">
                <a:solidFill>
                  <a:srgbClr val="1B1F27"/>
                </a:solidFill>
                <a:latin typeface="Segoe UI"/>
              </a:rPr>
              <a:t>Grading déclenché sur 82% des questions (non factuelles)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00" b="1">
                <a:solidFill>
                  <a:srgbClr val="FF6B35"/>
                </a:solidFill>
                <a:latin typeface="Segoe UI"/>
              </a:rPr>
              <a:t>—  </a:t>
            </a:r>
            <a:r>
              <a:rPr sz="1100">
                <a:solidFill>
                  <a:srgbClr val="1B1F27"/>
                </a:solidFill>
                <a:latin typeface="Segoe UI"/>
              </a:rPr>
              <a:t>Reformulation effectivement lancée sur 28% des questions au global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00" b="1">
                <a:solidFill>
                  <a:srgbClr val="FF6B35"/>
                </a:solidFill>
                <a:latin typeface="Segoe UI"/>
              </a:rPr>
              <a:t>—  </a:t>
            </a:r>
            <a:r>
              <a:rPr sz="1100">
                <a:solidFill>
                  <a:srgbClr val="1B1F27"/>
                </a:solidFill>
                <a:latin typeface="Segoe UI"/>
              </a:rPr>
              <a:t>Re-ranking : précision améliorée de +1.3 point en moyenne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260604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Comparaison par niveau de difficulté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3017520"/>
            <a:ext cx="521208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629400" y="3108960"/>
            <a:ext cx="4937760" cy="365760"/>
          </a:xfrm>
          <a:prstGeom prst="roundRect">
            <a:avLst>
              <a:gd name="adj" fmla="val 2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3163824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Segoe UI Semibold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3163824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Segoe UI Semibold"/>
              </a:rPr>
              <a:t>Niveau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55480" y="3163824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Segoe UI Semibold"/>
              </a:rPr>
              <a:t>Niveau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0" y="3163824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Segoe UI Semibold"/>
              </a:rPr>
              <a:t>Niveau 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3547872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"/>
              </a:rPr>
              <a:t>Questions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35478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55480" y="35478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19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35478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29400" y="3931920"/>
            <a:ext cx="493776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29400" y="4005072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"/>
              </a:rPr>
              <a:t>Chunks moy.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40050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2.6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55480" y="40050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2.8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0" y="40050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3.2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29400" y="4389120"/>
            <a:ext cx="493776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29400" y="4462272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"/>
              </a:rPr>
              <a:t>Reformulation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12480" y="44622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55480" y="44622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21%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98480" y="44622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50%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28/32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64A4A"/>
                </a:solidFill>
                <a:latin typeface="Segoe UI Semibold"/>
              </a:rPr>
              <a:t>LIMITES CONNUES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Biais et compromis de l'évaluation par composant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11201400" cy="15544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11201400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08176"/>
            <a:ext cx="10835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④ Grading — biais de cohérence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37360"/>
            <a:ext cx="108356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Le juge externe utilise le même modèle (gemma4:12b) que le grader évalué — seul le prompt diffère (le juge voit la ground truth)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Un modèle indépendant (gemma2:2b ou un tiers) serait un juge plus rigoureux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Compromis accepté : coût d'un appel LLM supplémentaire vers un modèle différent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71800"/>
            <a:ext cx="1120140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971800"/>
            <a:ext cx="11201400" cy="4572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099816"/>
            <a:ext cx="10835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③ Re-ranking — granularité limitée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429000"/>
            <a:ext cx="10835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8A5CF6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pre_rerank_docs capture le pool fusionné du 1er retrieval uniquement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8A5CF6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Pour la difficulté 3 (sous-requêtes), c'est le pool fusionné de toutes les sous-requêtes avant le rerank global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8A5CF6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Pas d'état intermédiaire capturé par sous-requête individuelle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480560"/>
            <a:ext cx="1120140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480560"/>
            <a:ext cx="11201400" cy="45720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608576"/>
            <a:ext cx="10835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Coût en appels LLM par question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937760"/>
            <a:ext cx="10835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3A86FF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run_agentic_all.py (exécution, une fois) reste le plus coûteux : pipeline agentique complet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3A86FF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evaluate_components.py : 15 à 40 appels gemma2:2b (RAGAS + LLM-juge MRR/dédup/RRF/ciblage rewrite) par question + 1 appel gemma4:12b pour le juge de grading (si difficulté &gt; 1)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3A86FF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Total scoring estimé : ~900 appels LLM pour les 50 questions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3A86FF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Brique ⑦ (Déduplication) nécessite un re-run de run_agentic_all.py (champs dedup_removed_docs/dedup_kept_docs pas encore capturés) — brique ⑧ (Fusion RRF) est déjà prête (semantic_docs/bm25_docs disponibles)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29/32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SYNTHÈSE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Ce qui rend Aquila différent d'un RAG classique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82296" cy="84124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81328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Agentique, pas linéaire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536192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677"/>
                </a:solidFill>
                <a:latin typeface="Segoe UI"/>
              </a:rPr>
              <a:t>Le système décide, juge sa propre qualité et se corrige — au lieu d'un retrieve→generate figé.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331720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331720"/>
            <a:ext cx="82296" cy="841248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41448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Hybride et robuste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496312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677"/>
                </a:solidFill>
                <a:latin typeface="Segoe UI"/>
              </a:rPr>
              <a:t>Sémantique + lexical + re-ranking + déduplication : moins de chunks hors-sujet ou redondants.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91839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291839"/>
            <a:ext cx="82296" cy="8412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401568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Anti-hallucination dès l'ingestion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3456432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677"/>
                </a:solidFill>
                <a:latin typeface="Segoe UI"/>
              </a:rPr>
              <a:t>Le split par LLM est validé mot à mot ; en cas de doute, un découpage déterministe prend le relais.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251959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251959"/>
            <a:ext cx="82296" cy="841248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361688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Auto-évalué en continu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4416551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677"/>
                </a:solidFill>
                <a:latin typeface="Segoe UI"/>
              </a:rPr>
              <a:t>RAGAS + évaluation par composant permettent de savoir précisément quelle brique sous-performe.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212079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5212079"/>
            <a:ext cx="82296" cy="841248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321807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100% local et reproductible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5376671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677"/>
                </a:solidFill>
                <a:latin typeface="Segoe UI"/>
              </a:rPr>
              <a:t>Ollama + ChromaDB : aucune dépendance à une API externe, déployable en local ou sur Colab.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30/32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6B35"/>
                </a:solidFill>
                <a:latin typeface="Segoe UI Semibold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Bilan et pistes d'amélioration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440680" cy="2057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5440680" cy="384048"/>
          </a:xfrm>
          <a:prstGeom prst="roundRect">
            <a:avLst>
              <a:gd name="adj" fmla="val 16000"/>
            </a:avLst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✓  Points forts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64208"/>
            <a:ext cx="502920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2EA86A"/>
                </a:solidFill>
                <a:latin typeface="Segoe UI"/>
              </a:rPr>
              <a:t>—  </a:t>
            </a:r>
            <a:r>
              <a:rPr sz="1000">
                <a:solidFill>
                  <a:srgbClr val="1B1F27"/>
                </a:solidFill>
                <a:latin typeface="Segoe UI"/>
              </a:rPr>
              <a:t>Retrieval très solide : ~95% de précision et de rappel de contexte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2EA86A"/>
                </a:solidFill>
                <a:latin typeface="Segoe UI"/>
              </a:rPr>
              <a:t>—  </a:t>
            </a:r>
            <a:r>
              <a:rPr sz="1000">
                <a:solidFill>
                  <a:srgbClr val="1B1F27"/>
                </a:solidFill>
                <a:latin typeface="Segoe UI"/>
              </a:rPr>
              <a:t>Génération fidèle au contexte dans 83.5% des cas (Faithfulness)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2EA86A"/>
                </a:solidFill>
                <a:latin typeface="Segoe UI"/>
              </a:rPr>
              <a:t>—  </a:t>
            </a:r>
            <a:r>
              <a:rPr sz="1000">
                <a:solidFill>
                  <a:srgbClr val="1B1F27"/>
                </a:solidFill>
                <a:latin typeface="Segoe UI"/>
              </a:rPr>
              <a:t>Architecture modulaire, testable composant par composant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2EA86A"/>
                </a:solidFill>
                <a:latin typeface="Segoe UI"/>
              </a:rPr>
              <a:t>—  </a:t>
            </a:r>
            <a:r>
              <a:rPr sz="1000">
                <a:solidFill>
                  <a:srgbClr val="1B1F27"/>
                </a:solidFill>
                <a:latin typeface="Segoe UI"/>
              </a:rPr>
              <a:t>Anti-hallucination dès l'ingestion (validation mot à mot)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188720"/>
            <a:ext cx="5440680" cy="2057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1188720"/>
            <a:ext cx="5440680" cy="384048"/>
          </a:xfrm>
          <a:prstGeom prst="roundRect">
            <a:avLst>
              <a:gd name="adj" fmla="val 16000"/>
            </a:avLst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26187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✗  Points faibles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664208"/>
            <a:ext cx="502920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E64A4A"/>
                </a:solidFill>
                <a:latin typeface="Segoe UI"/>
              </a:rPr>
              <a:t>—  </a:t>
            </a:r>
            <a:r>
              <a:rPr sz="1000">
                <a:solidFill>
                  <a:srgbClr val="1B1F27"/>
                </a:solidFill>
                <a:latin typeface="Segoe UI"/>
              </a:rPr>
              <a:t>Re-ranking : gain de précision marginal (+1.3 pt) et léger recul du rappel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E64A4A"/>
                </a:solidFill>
                <a:latin typeface="Segoe UI"/>
              </a:rPr>
              <a:t>—  </a:t>
            </a:r>
            <a:r>
              <a:rPr sz="1000">
                <a:solidFill>
                  <a:srgbClr val="1B1F27"/>
                </a:solidFill>
                <a:latin typeface="Segoe UI"/>
              </a:rPr>
              <a:t>Une seule reformulation possible, même pour les questions les plus complexes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429000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Pistes d'amélioration détaillées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767328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767328"/>
            <a:ext cx="54864" cy="78638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3840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Fiabiliser le Routeur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4133088"/>
            <a:ext cx="51023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 i="0">
                <a:solidFill>
                  <a:srgbClr val="5B6677"/>
                </a:solidFill>
                <a:latin typeface="Segoe UI"/>
              </a:rPr>
              <a:t>Enrichir le prompt avec des exemples (few-shot) de classification source/difficulté.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681728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681728"/>
            <a:ext cx="54864" cy="78638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7548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Recalibrer le grading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" y="5047488"/>
            <a:ext cx="51023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 i="0">
                <a:solidFill>
                  <a:srgbClr val="5B6677"/>
                </a:solidFill>
                <a:latin typeface="Segoe UI"/>
              </a:rPr>
              <a:t>Ajuster les critères de suffisance pour réduire l'écart avec le juge externe.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596128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5596128"/>
            <a:ext cx="54864" cy="78638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" y="56692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Étendre le corpus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" y="5961888"/>
            <a:ext cx="51023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 i="0">
                <a:solidFill>
                  <a:srgbClr val="5B6677"/>
                </a:solidFill>
                <a:latin typeface="Segoe UI"/>
              </a:rPr>
              <a:t>Ajouter d'autres brochures pour généraliser le pipeline hors ENS/Sorbonne.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67328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3767328"/>
            <a:ext cx="54864" cy="78638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840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Re-ranking adaptatif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4133088"/>
            <a:ext cx="51023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 i="0">
                <a:solidFill>
                  <a:srgbClr val="5B6677"/>
                </a:solidFill>
                <a:latin typeface="Segoe UI"/>
              </a:rPr>
              <a:t>Faire varier le seuil de pertinence selon la difficulté plutôt qu'un seuil fixe (0.5).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4681728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17920" y="4681728"/>
            <a:ext cx="54864" cy="78638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47548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Plus de reformulations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088" y="5047488"/>
            <a:ext cx="51023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 i="0">
                <a:solidFill>
                  <a:srgbClr val="5B6677"/>
                </a:solidFill>
                <a:latin typeface="Segoe UI"/>
              </a:rPr>
              <a:t>Autoriser plus d'une reformulation pour les questions niveau 3 les plus complexes.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5596128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7920" y="5596128"/>
            <a:ext cx="54864" cy="78638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9088" y="56692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Sous-requêtes étendues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19088" y="5961888"/>
            <a:ext cx="51023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 i="0">
                <a:solidFill>
                  <a:srgbClr val="5B6677"/>
                </a:solidFill>
                <a:latin typeface="Segoe UI"/>
              </a:rPr>
              <a:t>Gérer plus de 2 sous-requêtes pour les comparaisons entre 3 entités ou plus.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31/32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0" y="-1188720"/>
            <a:ext cx="5029200" cy="5029200"/>
          </a:xfrm>
          <a:prstGeom prst="ellipse">
            <a:avLst/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4572000"/>
            <a:ext cx="4114800" cy="4114800"/>
          </a:xfrm>
          <a:prstGeom prst="ellipse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Segoe UI"/>
              </a:rPr>
              <a:t>Merci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2EC4B6"/>
                </a:solidFill>
                <a:latin typeface="Segoe UI"/>
              </a:rPr>
              <a:t>Questions sur le projet RAG Aquila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5B6677"/>
                </a:solidFill>
                <a:latin typeface="Segoe UI"/>
              </a:rPr>
              <a:t>Projet Aquila — RAG Agentique sur documents académiques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32/32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