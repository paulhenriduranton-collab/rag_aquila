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371600"/>
            <a:ext cx="5486400" cy="5486400"/>
          </a:xfrm>
          <a:prstGeom prst="ellipse">
            <a:avLst/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548640"/>
            <a:ext cx="164592" cy="16459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548640"/>
            <a:ext cx="164592" cy="164592"/>
          </a:xfrm>
          <a:prstGeom prst="ellipse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548640"/>
            <a:ext cx="164592" cy="164592"/>
          </a:xfrm>
          <a:prstGeom prst="ellipse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19072" y="548640"/>
            <a:ext cx="164592" cy="16459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C4B6"/>
                </a:solidFill>
                <a:latin typeface="Segoe UI Semibold"/>
              </a:rPr>
              <a:t>PROJET AQUILA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432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Segoe UI"/>
              </a:rPr>
              <a:t>RAG Agentique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6E6"/>
                </a:solidFill>
                <a:latin typeface="Segoe UI"/>
              </a:rPr>
              <a:t>Un système de question-réponse local, agentique et auto-évalué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6E6"/>
                </a:solidFill>
                <a:latin typeface="Segoe UI"/>
              </a:rPr>
              <a:t>sur des documents académiques (ENS · Sorbonne)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1613916" cy="384048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LangGraph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63724" y="4892040"/>
            <a:ext cx="3959352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Ollama / bge-m3 / gemma4:12b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4244" y="4892040"/>
            <a:ext cx="1490472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ChromaDB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5883" y="4892040"/>
            <a:ext cx="1120140" cy="384048"/>
          </a:xfrm>
          <a:prstGeom prst="roundRect">
            <a:avLst>
              <a:gd name="adj" fmla="val 50000"/>
            </a:avLst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RAGAS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677"/>
                </a:solidFill>
                <a:latin typeface="Segoe UI"/>
              </a:rPr>
              <a:t>Présentation technique complète du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01/20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Plan de la présentation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3492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82296" cy="10607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3560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EC4B6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44752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Contexte &amp; objectifs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013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677"/>
                </a:solidFill>
                <a:latin typeface="Segoe UI"/>
              </a:rPr>
              <a:t>Pourquoi un RAG agentique local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32888"/>
            <a:ext cx="53492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32888"/>
            <a:ext cx="82296" cy="1060704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642616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A86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517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Cas d'usage &amp;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0837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677"/>
                </a:solidFill>
                <a:latin typeface="Segoe UI"/>
              </a:rPr>
              <a:t>50 questions, brochures ENS / Sorbonne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39896"/>
            <a:ext cx="53492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39896"/>
            <a:ext cx="82296" cy="10607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849624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6B35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58768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Architecture globale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15384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677"/>
                </a:solidFill>
                <a:latin typeface="Segoe UI"/>
              </a:rPr>
              <a:t>3 phases : ingestion, agent, évaluation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46904"/>
            <a:ext cx="53492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946904"/>
            <a:ext cx="82296" cy="1060704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5056632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8A5CF6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065776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Pipeline d'ingestion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422392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677"/>
                </a:solidFill>
                <a:latin typeface="Segoe UI"/>
              </a:rPr>
              <a:t>Du PDF à la base vectorielle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325880"/>
            <a:ext cx="53492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325880"/>
            <a:ext cx="82296" cy="1060704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143560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B8A80"/>
                </a:solidFill>
                <a:latin typeface="Segoe U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1444752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Cœur agentique (LangGraph)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18013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677"/>
                </a:solidFill>
                <a:latin typeface="Segoe UI"/>
              </a:rPr>
              <a:t>Routeur, retrieval, grading, rewrite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2532888"/>
            <a:ext cx="53492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2532888"/>
            <a:ext cx="82296" cy="1060704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2642616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A86FF"/>
                </a:solidFill>
                <a:latin typeface="Segoe U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26517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Les 3 niveaux de difficulté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00837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677"/>
                </a:solidFill>
                <a:latin typeface="Segoe UI"/>
              </a:rPr>
              <a:t>Factuel, synthèse, complexe : 3 schémas dédiés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3739896"/>
            <a:ext cx="53492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739896"/>
            <a:ext cx="82296" cy="10607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3849624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6B35"/>
                </a:solidFill>
                <a:latin typeface="Segoe U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3858768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Retrieval hybride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215384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677"/>
                </a:solidFill>
                <a:latin typeface="Segoe UI"/>
              </a:rPr>
              <a:t>MMR + BM25 + RRF + re-ranking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4946904"/>
            <a:ext cx="53492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4946904"/>
            <a:ext cx="82296" cy="1060704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5056632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8A5CF6"/>
                </a:solidFill>
                <a:latin typeface="Segoe U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5065776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Évaluation, stack &amp; déploiement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422392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677"/>
                </a:solidFill>
                <a:latin typeface="Segoe UI"/>
              </a:rPr>
              <a:t>RAGAS, composants, infra locale/Colab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02/20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Pourquoi un RAG agentique local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Segoe UI Semibold"/>
              </a:rPr>
              <a:t>Le problème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Les étudiants doivent fouiller des brochures PDF longues et denses (ENS, Sorbonne) pour trouver une information précise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Un chatbot généraliste (ChatGPT) ne connaît pas le contenu exact de ces brochures et peut halluciner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Les données académiques ne doivent pas être envoyées à des API externes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Une simple recherche par mots-clés échoue sur les questions de synthèse ou de comparaison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9844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Segoe UI Semibold"/>
              </a:rPr>
              <a:t>La réponse : RAG agentique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100% local : LLM (Ollama) + base vectorielle (ChromaDB) — aucune donnée ne sort de la machine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Agentique : un graphe de décision (LangGraph) choisit la source, juge la qualité du contexte et reformule si besoin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Retrieval hybride avancé : recherche sémantique + lexicale fusionnées et re-classées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Auto-évalué : pipeline testé sur 50 questions avec métriques RAGAS et évaluation par composant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760720"/>
            <a:ext cx="11201400" cy="566928"/>
          </a:xfrm>
          <a:prstGeom prst="roundRect">
            <a:avLst>
              <a:gd name="adj" fmla="val 18000"/>
            </a:avLst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FFFFFF"/>
                </a:solidFill>
                <a:latin typeface="Segoe UI"/>
              </a:rPr>
              <a:t>Objectif : remplacer une recherche manuelle dans un PDF par un agent qui retrouve, vérifie et cite la bonne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03/20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CAS D'USAGE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Données et jeu de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Documents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27632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0B1F3A"/>
                </a:solidFill>
                <a:latin typeface="Segoe UI Semibold"/>
              </a:rPr>
              <a:t>ENS.pdf</a:t>
            </a:r>
          </a:p>
          <a:p>
            <a:pPr algn="ctr"/>
            <a:r>
              <a:rPr sz="1050">
                <a:solidFill>
                  <a:srgbClr val="5B6677"/>
                </a:solidFill>
                <a:latin typeface="Segoe UI"/>
              </a:rPr>
              <a:t>Brochure DMA 2024-2025
78 pages · ~1.4 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627632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0B1F3A"/>
                </a:solidFill>
                <a:latin typeface="Segoe UI Semibold"/>
              </a:rPr>
              <a:t>SORBONNE.pdf</a:t>
            </a:r>
          </a:p>
          <a:p>
            <a:pPr algn="ctr"/>
            <a:r>
              <a:rPr sz="1050">
                <a:solidFill>
                  <a:srgbClr val="5B6677"/>
                </a:solidFill>
                <a:latin typeface="Segoe UI"/>
              </a:rPr>
              <a:t>Brochure Master 2025-2026
~764 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Dataset de test : 50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1874519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Niveau 1
Factuel</a:t>
            </a:r>
          </a:p>
          <a:p>
            <a:pPr algn="ctr"/>
            <a:r>
              <a:rPr sz="1050">
                <a:solidFill>
                  <a:srgbClr val="5B6677"/>
                </a:solidFill>
                <a:latin typeface="Segoe UI"/>
              </a:rPr>
              <a:t>11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6312" y="3657600"/>
            <a:ext cx="1874519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Niveau 2
Synthèse</a:t>
            </a:r>
          </a:p>
          <a:p>
            <a:pPr algn="ctr"/>
            <a:r>
              <a:rPr sz="1050">
                <a:solidFill>
                  <a:srgbClr val="5B6677"/>
                </a:solidFill>
                <a:latin typeface="Segoe UI"/>
              </a:rPr>
              <a:t>19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4" y="3657600"/>
            <a:ext cx="1874519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Niveau 3
Complexe</a:t>
            </a:r>
          </a:p>
          <a:p>
            <a:pPr algn="ctr"/>
            <a:r>
              <a:rPr sz="1050">
                <a:solidFill>
                  <a:srgbClr val="5B6677"/>
                </a:solidFill>
                <a:latin typeface="Segoe UI"/>
              </a:rPr>
              <a:t>20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2344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Répartition par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1F27"/>
                </a:solidFill>
                <a:latin typeface="Segoe UI"/>
              </a:rPr>
              <a:t>Sorbonne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719072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58200" y="1719072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1691640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9456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1F27"/>
                </a:solidFill>
                <a:latin typeface="Segoe UI"/>
              </a:rPr>
              <a:t>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2221992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58200" y="2221992"/>
            <a:ext cx="1496290" cy="23774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0" y="2194560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"/>
              </a:rPr>
              <a:t>82%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9748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1F27"/>
                </a:solidFill>
                <a:latin typeface="Segoe UI"/>
              </a:rPr>
              <a:t>ENS + Sorbonne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2724912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58200" y="2724912"/>
            <a:ext cx="831272" cy="237744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2697480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"/>
              </a:rPr>
              <a:t>45%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832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Chaque question référence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49039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250">
                <a:solidFill>
                  <a:srgbClr val="1B1F27"/>
                </a:solidFill>
                <a:latin typeface="Segoe UI"/>
              </a:rPr>
              <a:t>Une réponse attendue (vérité terrain) pour l'évaluation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250">
                <a:solidFill>
                  <a:srgbClr val="1B1F27"/>
                </a:solidFill>
                <a:latin typeface="Segoe UI"/>
              </a:rPr>
              <a:t>Le(s) document(s) et page(s) sources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250">
                <a:solidFill>
                  <a:srgbClr val="1B1F27"/>
                </a:solidFill>
                <a:latin typeface="Segoe UI"/>
              </a:rPr>
              <a:t>Un niveau de difficulté RAG (1 à 3) fixé au départ — utilisé comme référence d'évaluation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250">
                <a:solidFill>
                  <a:srgbClr val="1B1F27"/>
                </a:solidFill>
                <a:latin typeface="Segoe UI"/>
              </a:rPr>
              <a:t>Une section thématique du 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04/20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ARCHITECTURE GLOBALE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Trois phases du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3423513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3423513" cy="960120"/>
          </a:xfrm>
          <a:prstGeom prst="roundRect">
            <a:avLst>
              <a:gd name="adj" fmla="val 5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64208"/>
            <a:ext cx="3423513" cy="5943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371600"/>
            <a:ext cx="302117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18488"/>
            <a:ext cx="302117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313432"/>
            <a:ext cx="302117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677"/>
                </a:solidFill>
                <a:latin typeface="Segoe UI"/>
              </a:rPr>
              <a:t>Une seule fois, par document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" y="2606040"/>
            <a:ext cx="3021177" cy="292608"/>
          </a:xfrm>
          <a:prstGeom prst="roundRect">
            <a:avLst>
              <a:gd name="adj" fmla="val 25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633472"/>
            <a:ext cx="287487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2EC4B6"/>
                </a:solidFill>
                <a:latin typeface="Segoe UI Semibold"/>
              </a:rPr>
              <a:t>ingest.py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99923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_load_pdf() — extraction PDF → Markdown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64991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_concat_pages() — recollement + repères de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73075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_presplit_by_headers() — découpe par titres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09651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_agentic_split_section() — LLM (gemma4:12b)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46227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_fallback_split_large() — sécurité déterministe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" y="5897880"/>
            <a:ext cx="3021177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989320"/>
            <a:ext cx="302117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2EC4B6"/>
                </a:solidFill>
                <a:latin typeface="Segoe UI Semibold"/>
              </a:rPr>
              <a:t>→ produit : vector_db/ (ChromaDB)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44721" y="3703320"/>
            <a:ext cx="374904" cy="0"/>
          </a:xfrm>
          <a:prstGeom prst="line">
            <a:avLst/>
          </a:prstGeom>
          <a:ln w="3810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83633" y="1298448"/>
            <a:ext cx="3423513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3633" y="1298448"/>
            <a:ext cx="3423513" cy="96012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3633" y="1664208"/>
            <a:ext cx="3423513" cy="5943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4801" y="1371600"/>
            <a:ext cx="302117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4801" y="1618488"/>
            <a:ext cx="302117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Question / Réponse agentique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4801" y="2313432"/>
            <a:ext cx="302117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677"/>
                </a:solidFill>
                <a:latin typeface="Segoe UI"/>
              </a:rPr>
              <a:t>À chaque question posée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84801" y="2606040"/>
            <a:ext cx="3021177" cy="292608"/>
          </a:xfrm>
          <a:prstGeom prst="roundRect">
            <a:avLst>
              <a:gd name="adj" fmla="val 25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4529" y="2633472"/>
            <a:ext cx="287487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FF6B35"/>
                </a:solidFill>
                <a:latin typeface="Segoe UI Semibold"/>
              </a:rPr>
              <a:t>agent.py (graphe LangGraph)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4801" y="299923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identify_sources — le Routeur (source + difficulté)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4801" y="3364991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retrieve_node — retrieval hybride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4801" y="373075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grade_documents — juge la suffisance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4801" y="409651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rewrite_query — reformule si besoin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4801" y="446227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generate_node — génère la réponse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84801" y="5897880"/>
            <a:ext cx="3021177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84801" y="5989320"/>
            <a:ext cx="302117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F6B35"/>
                </a:solidFill>
                <a:latin typeface="Segoe UI Semibold"/>
              </a:rPr>
              <a:t>→ produit : une réponse + un historique d'exécution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25434" y="3703320"/>
            <a:ext cx="374904" cy="0"/>
          </a:xfrm>
          <a:prstGeom prst="line">
            <a:avLst/>
          </a:prstGeom>
          <a:ln w="3810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264347" y="1298448"/>
            <a:ext cx="3423513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64347" y="1298448"/>
            <a:ext cx="3423513" cy="960120"/>
          </a:xfrm>
          <a:prstGeom prst="roundRect">
            <a:avLst>
              <a:gd name="adj" fmla="val 5000"/>
            </a:avLst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64347" y="1664208"/>
            <a:ext cx="3423513" cy="594360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65515" y="1371600"/>
            <a:ext cx="302117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PHASE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5515" y="1618488"/>
            <a:ext cx="302117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Évaluation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65515" y="2313432"/>
            <a:ext cx="302117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677"/>
                </a:solidFill>
                <a:latin typeface="Segoe UI"/>
              </a:rPr>
              <a:t>Sur l'ensemble du dataset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65515" y="2606040"/>
            <a:ext cx="3021177" cy="292608"/>
          </a:xfrm>
          <a:prstGeom prst="roundRect">
            <a:avLst>
              <a:gd name="adj" fmla="val 25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75243" y="2633472"/>
            <a:ext cx="287487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8A5CF6"/>
                </a:solidFill>
                <a:latin typeface="Segoe UI Semibold"/>
              </a:rPr>
              <a:t>run_agentic_all.py / evaluate_*.py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5515" y="299923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run_agentic_all.py — exécute les 50 questions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65515" y="3364991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→ agentic_results_debug.json (états détaillés)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65515" y="373075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evaluate_ragas.py — 5 métriques RAGAS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65515" y="409651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evaluate_components.py — 8 briques (relit le debug)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65515" y="5897880"/>
            <a:ext cx="3021177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65515" y="5989320"/>
            <a:ext cx="302117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8A5CF6"/>
                </a:solidFill>
                <a:latin typeface="Segoe UI Semibold"/>
              </a:rPr>
              <a:t>→ produit : ragas_evaluation.csv / component_evaluation.csv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05/20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PHASE 1 —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Du PDF brut à la base vectorielle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316736"/>
            <a:ext cx="365760" cy="36576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73100" y="1682496"/>
            <a:ext cx="25400" cy="2286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1280160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280160"/>
            <a:ext cx="54864" cy="566927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1321308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Extraction page par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321308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Chaque page du PDF est convertie en texte Markdown séparément (pymupdf4llm).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947671"/>
            <a:ext cx="365760" cy="36576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100" y="2313431"/>
            <a:ext cx="25400" cy="2286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1911095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" y="1911095"/>
            <a:ext cx="54864" cy="566927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1952243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Nettoyage du texte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952243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Réparation des problèmes d'encodage et suppression automatique des sommaires détectés.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2578608"/>
            <a:ext cx="365760" cy="365760"/>
          </a:xfrm>
          <a:prstGeom prst="ellipse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3100" y="2944368"/>
            <a:ext cx="25400" cy="2286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51560" y="2542032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2542032"/>
            <a:ext cx="54864" cy="566927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258318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Recollement en un seul texte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583180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Les pages sont mises bout à bout ; un repère discret garde juste en mémoire le numéro de page d'origine, pour pouvoir citer la source plus tard.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3209544"/>
            <a:ext cx="365760" cy="365760"/>
          </a:xfrm>
          <a:prstGeom prst="ellipse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3100" y="3575304"/>
            <a:ext cx="25400" cy="2286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1560" y="3172968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" y="3172968"/>
            <a:ext cx="54864" cy="566927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61872" y="3214116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Découpage par titres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214116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Le document est coupé selon ses titres et sous-titres — ce découpage ignore volontairement les frontières de page.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" y="384048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3100" y="4206240"/>
            <a:ext cx="25400" cy="2286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51560" y="3803904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51560" y="3803904"/>
            <a:ext cx="54864" cy="566927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61872" y="3845052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Affinage par un LLM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845052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gemma4:12b relit chaque grande section et insère des séparateurs entre sous-parties cohérentes, sans jamais réécrire le texte original.</a:t>
            </a:r>
          </a:p>
        </p:txBody>
      </p:sp>
      <p:sp>
        <p:nvSpPr>
          <p:cNvPr id="36" name="Oval 35"/>
          <p:cNvSpPr/>
          <p:nvPr/>
        </p:nvSpPr>
        <p:spPr>
          <a:xfrm>
            <a:off x="502920" y="4471416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3100" y="4837176"/>
            <a:ext cx="25400" cy="2286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51560" y="4434840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1560" y="4434840"/>
            <a:ext cx="54864" cy="566927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61872" y="4475988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Vérification anti-hallucination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4475988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On vérifie qu'au moins 60% des mots du texte d'origine sont toujours présents ; sinon, le découpage du LLM est ignoré.</a:t>
            </a:r>
          </a:p>
        </p:txBody>
      </p:sp>
      <p:sp>
        <p:nvSpPr>
          <p:cNvPr id="42" name="Oval 41"/>
          <p:cNvSpPr/>
          <p:nvPr/>
        </p:nvSpPr>
        <p:spPr>
          <a:xfrm>
            <a:off x="502920" y="5102351"/>
            <a:ext cx="365760" cy="365760"/>
          </a:xfrm>
          <a:prstGeom prst="ellipse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3100" y="5468111"/>
            <a:ext cx="25400" cy="2286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51560" y="5065775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51560" y="5065775"/>
            <a:ext cx="54864" cy="566927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61872" y="5106923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Sécurité finale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06923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Si un morceau reste trop long malgré tout, un découpage automatique (sans LLM) prend le relais.</a:t>
            </a:r>
          </a:p>
        </p:txBody>
      </p:sp>
      <p:sp>
        <p:nvSpPr>
          <p:cNvPr id="48" name="Oval 47"/>
          <p:cNvSpPr/>
          <p:nvPr/>
        </p:nvSpPr>
        <p:spPr>
          <a:xfrm>
            <a:off x="502920" y="5733288"/>
            <a:ext cx="365760" cy="36576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1560" y="5696712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51560" y="5696712"/>
            <a:ext cx="54864" cy="566927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61872" y="573786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Mise en contexte et vectorisation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737860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Chaque chunk reçoit un en-tête (document, page, titres, mots-clés), puis est transformé en vecteur (bge-m3) et stocké dans ChromaDB.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06/20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6B35"/>
                </a:solidFill>
                <a:latin typeface="Segoe UI Semibold"/>
              </a:rPr>
              <a:t>ZOOM —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Le split agentique anti-hallucination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7"/>
                </a:solidFill>
                <a:latin typeface="Segoe UI"/>
              </a:rPr>
              <a:t>Un LLM (gemma4:12b) découpe les longues sections en sous-parties cohérentes, sans jamais réécrire le texte.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22860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5B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Bloc de section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Texte brut Markdown
(&gt; 800 caractères)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468880"/>
            <a:ext cx="41148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91840" y="1874519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LLM gemma4:12b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Insère uniquement des
marqueurs ===SPLIT===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468880"/>
            <a:ext cx="41148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492240" y="1691640"/>
            <a:ext cx="2286000" cy="1554480"/>
          </a:xfrm>
          <a:prstGeom prst="diamond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≥ 60% des mots
d'origine présents ?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778240" y="2011680"/>
            <a:ext cx="502920" cy="91440"/>
          </a:xfrm>
          <a:prstGeom prst="line">
            <a:avLst/>
          </a:prstGeom>
          <a:ln w="28575">
            <a:solidFill>
              <a:srgbClr val="2EA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281160" y="1691640"/>
            <a:ext cx="242316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Validé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Sous-chunks conservés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2834640"/>
            <a:ext cx="502920" cy="91440"/>
          </a:xfrm>
          <a:prstGeom prst="line">
            <a:avLst/>
          </a:prstGeom>
          <a:ln w="28575">
            <a:solidFill>
              <a:srgbClr val="E6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81160" y="2606040"/>
            <a:ext cx="242316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E6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Rejeté</a:t>
            </a:r>
          </a:p>
          <a:p>
            <a:pPr algn="ctr"/>
            <a:r>
              <a:rPr sz="950">
                <a:solidFill>
                  <a:srgbClr val="5B6677"/>
                </a:solidFill>
                <a:latin typeface="Segoe UI"/>
              </a:rPr>
              <a:t>Fallback : bloc original conservé intact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Règles absolues respectées par le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9476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794760"/>
            <a:ext cx="269748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9776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Segoe UI Semibold"/>
              </a:rPr>
              <a:t>Ne jamais couper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370832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677"/>
                </a:solidFill>
                <a:latin typeface="Segoe UI"/>
              </a:rPr>
              <a:t>un tableau Markdown au milieu d'une ligne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379476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9272" y="3794760"/>
            <a:ext cx="269748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3864" y="39776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Segoe UI Semibold"/>
              </a:rPr>
              <a:t>Ne jamais couper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3864" y="4370832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677"/>
                </a:solidFill>
                <a:latin typeface="Segoe UI"/>
              </a:rPr>
              <a:t>une liste à puces ou numérotée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35624" y="379476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35624" y="3794760"/>
            <a:ext cx="269748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39776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Segoe UI Semibold"/>
              </a:rPr>
              <a:t>Ne jamais résumer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4370832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677"/>
                </a:solidFill>
                <a:latin typeface="Segoe UI"/>
              </a:rPr>
              <a:t>ou reformuler — uniquement insérer des marqueurs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1976" y="379476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51976" y="3794760"/>
            <a:ext cx="269748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6567" y="39776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Segoe UI Semibold"/>
              </a:rPr>
              <a:t>Toujours garder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370832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677"/>
                </a:solidFill>
                <a:latin typeface="Segoe UI"/>
              </a:rPr>
              <a:t>le texte source identique caractère pour caractère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486400"/>
            <a:ext cx="11201400" cy="822960"/>
          </a:xfrm>
          <a:prstGeom prst="roundRect">
            <a:avLst>
              <a:gd name="adj" fmla="val 15000"/>
            </a:avLst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60527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Garde-fou final : si le split agentique échoue ou produit un bloc encore trop long, un découpage déterministe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(sans LLM, basé sur la taille et la structure du texte) prend le relais. Zéro appel LLM à cette étape = zéro hallucination possible.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07/20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6B35"/>
                </a:solidFill>
                <a:latin typeface="Segoe UI Semibold"/>
              </a:rPr>
              <a:t>PHASE 2 — CŒUR AGENTIQUE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Le graphe de décision LangGraph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103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0B1F3A"/>
                </a:solidFill>
                <a:latin typeface="Segoe UI Semibold"/>
              </a:rPr>
              <a:t>① Routeur</a:t>
            </a:r>
          </a:p>
          <a:p>
            <a:pPr algn="ctr"/>
            <a:r>
              <a:rPr sz="869">
                <a:solidFill>
                  <a:srgbClr val="5B6677"/>
                </a:solidFill>
                <a:latin typeface="Segoe UI"/>
              </a:rPr>
              <a:t>identify_sources
source(s) + difficulté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417320"/>
            <a:ext cx="2103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0B1F3A"/>
                </a:solidFill>
                <a:latin typeface="Segoe UI Semibold"/>
              </a:rPr>
              <a:t>② Retrieval</a:t>
            </a:r>
          </a:p>
          <a:p>
            <a:pPr algn="ctr"/>
            <a:r>
              <a:rPr sz="869">
                <a:solidFill>
                  <a:srgbClr val="5B6677"/>
                </a:solidFill>
                <a:latin typeface="Segoe UI"/>
              </a:rPr>
              <a:t>retrieve_node
MMR + BM25 + RRF + rerank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417320"/>
            <a:ext cx="2103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0B1F3A"/>
                </a:solidFill>
                <a:latin typeface="Segoe UI Semibold"/>
              </a:rPr>
              <a:t>⑥ Génération</a:t>
            </a:r>
          </a:p>
          <a:p>
            <a:pPr algn="ctr"/>
            <a:r>
              <a:rPr sz="869">
                <a:solidFill>
                  <a:srgbClr val="5B6677"/>
                </a:solidFill>
                <a:latin typeface="Segoe UI"/>
              </a:rPr>
              <a:t>generate_node
temperature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554480"/>
            <a:ext cx="1005840" cy="502920"/>
          </a:xfrm>
          <a:prstGeom prst="roundRect">
            <a:avLst>
              <a:gd name="adj" fmla="val 50000"/>
            </a:avLst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1805940"/>
            <a:ext cx="27432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83480" y="1805940"/>
            <a:ext cx="27432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34840" y="1188720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5B6677"/>
                </a:solidFill>
                <a:latin typeface="Segoe UI"/>
              </a:rPr>
              <a:t>Difficulté 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60920" y="1805940"/>
            <a:ext cx="246888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2743200" y="2606040"/>
            <a:ext cx="2377440" cy="1188720"/>
          </a:xfrm>
          <a:prstGeom prst="diamond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emibold"/>
              </a:rPr>
              <a:t>③ Grading
(grade_documents)
Chunks suffisants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069080"/>
            <a:ext cx="237744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8A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④ upgrade_difficulty</a:t>
            </a:r>
          </a:p>
          <a:p>
            <a:pPr algn="ctr"/>
            <a:r>
              <a:rPr sz="830">
                <a:solidFill>
                  <a:srgbClr val="5B6677"/>
                </a:solidFill>
                <a:latin typeface="Segoe UI"/>
              </a:rPr>
              <a:t>passe la difficulté à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4069080"/>
            <a:ext cx="237744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⑤ rewrite_query</a:t>
            </a:r>
          </a:p>
          <a:p>
            <a:pPr algn="ctr"/>
            <a:r>
              <a:rPr sz="830">
                <a:solidFill>
                  <a:srgbClr val="5B6677"/>
                </a:solidFill>
                <a:latin typeface="Segoe UI"/>
              </a:rPr>
              <a:t>reformule la requête ciblée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2194560"/>
            <a:ext cx="0" cy="41148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23360" y="2249424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5B6677"/>
                </a:solidFill>
                <a:latin typeface="Segoe UI"/>
              </a:rPr>
              <a:t>Difficulté 2/3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074920" y="2212848"/>
            <a:ext cx="914400" cy="667512"/>
          </a:xfrm>
          <a:prstGeom prst="line">
            <a:avLst/>
          </a:prstGeom>
          <a:ln w="28575">
            <a:solidFill>
              <a:srgbClr val="2EA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66360" y="251460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EA86A"/>
                </a:solidFill>
                <a:latin typeface="Segoe UI"/>
              </a:rPr>
              <a:t>OUI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31920" y="3794760"/>
            <a:ext cx="0" cy="274320"/>
          </a:xfrm>
          <a:prstGeom prst="line">
            <a:avLst/>
          </a:prstGeom>
          <a:ln w="28575">
            <a:solidFill>
              <a:srgbClr val="E6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41648" y="3822191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E64A4A"/>
                </a:solidFill>
                <a:latin typeface="Segoe UI"/>
              </a:rPr>
              <a:t>NON (diff&lt;3)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46320" y="3657600"/>
            <a:ext cx="777240" cy="411480"/>
          </a:xfrm>
          <a:prstGeom prst="line">
            <a:avLst/>
          </a:prstGeom>
          <a:ln w="28575">
            <a:solidFill>
              <a:srgbClr val="E6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715000" y="3520440"/>
            <a:ext cx="1508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 i="1">
                <a:solidFill>
                  <a:srgbClr val="E64A4A"/>
                </a:solidFill>
                <a:latin typeface="Segoe UI"/>
              </a:rPr>
              <a:t>NON (diff=3)</a:t>
            </a:r>
          </a:p>
          <a:p>
            <a:pPr algn="l">
              <a:lnSpc>
                <a:spcPct val="100000"/>
              </a:lnSpc>
            </a:pPr>
            <a:r>
              <a:rPr sz="770" b="0" i="1">
                <a:solidFill>
                  <a:srgbClr val="E64A4A"/>
                </a:solidFill>
                <a:latin typeface="Segoe UI"/>
              </a:rPr>
              <a:t>direct, sans upgrade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20640" y="4366260"/>
            <a:ext cx="27432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4366260"/>
            <a:ext cx="237744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149840" y="1143000"/>
            <a:ext cx="0" cy="320040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931920" y="1143000"/>
            <a:ext cx="617220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931920" y="1143000"/>
            <a:ext cx="0" cy="27432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80760" y="1161288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1">
                <a:solidFill>
                  <a:srgbClr val="5B6677"/>
                </a:solidFill>
                <a:latin typeface="Segoe UI"/>
              </a:rPr>
              <a:t>2ᵉ tentative reformulée — maximum 1 fois (MAX_ATTEMPTS = 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44068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Logique d'optimisation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742432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3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Difficulté 1 (factuel) : aucun grading, réponse directe après le 1er retrieval — économise des appels LLM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3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Difficulté 3 : la requête est décomposée en sous-questions dès le Routeur, sans HyDE au 1er passage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08/20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NIVEAU 1 — FACTUEL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Question factuelle : une information directe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11201400" cy="502920"/>
          </a:xfrm>
          <a:prstGeom prst="roundRect">
            <a:avLst>
              <a:gd name="adj" fmla="val 25000"/>
            </a:avLst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25296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FFFFFF"/>
                </a:solidFill>
                <a:latin typeface="Segoe UI"/>
              </a:rPr>
              <a:t>⚖  Ce niveau est jugé par le Routeur LLM (gemma4:12b) à chaque question — il peut différer du niveau réel fixé dans le dataset de test, et même être réévalué en cours de route si le contexte récupéré est insuffisant.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520440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Ce que c'est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31089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Une date, un nombre, un nom, une liste courte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Une seule information suffit à répondre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Ex. : "Combien d'étudiant·e·s/an le DMA sélectionne-t-il 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94560"/>
            <a:ext cx="22860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0B1F3A"/>
                </a:solidFill>
                <a:latin typeface="Segoe UI Semibold"/>
              </a:rPr>
              <a:t>① Routeur</a:t>
            </a:r>
          </a:p>
          <a:p>
            <a:pPr algn="ctr"/>
            <a:r>
              <a:rPr sz="950">
                <a:solidFill>
                  <a:srgbClr val="5B6677"/>
                </a:solidFill>
                <a:latin typeface="Segoe UI"/>
              </a:rPr>
              <a:t>difficulté = 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29400" y="2578608"/>
            <a:ext cx="36576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040880" y="2194560"/>
            <a:ext cx="22860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0B1F3A"/>
                </a:solidFill>
                <a:latin typeface="Segoe UI Semibold"/>
              </a:rPr>
              <a:t>② Retrieval</a:t>
            </a:r>
          </a:p>
          <a:p>
            <a:pPr algn="ctr"/>
            <a:r>
              <a:rPr sz="950">
                <a:solidFill>
                  <a:srgbClr val="5B6677"/>
                </a:solidFill>
                <a:latin typeface="Segoe UI"/>
              </a:rPr>
              <a:t>HyDE désactivé
1 seul passage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69480" y="3063239"/>
            <a:ext cx="0" cy="365761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06640" y="3081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B6677"/>
                </a:solidFill>
                <a:latin typeface="Segoe UI"/>
              </a:rPr>
              <a:t>pas de grading — réponse directe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474720"/>
            <a:ext cx="22860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0B1F3A"/>
                </a:solidFill>
                <a:latin typeface="Segoe UI Semibold"/>
              </a:rPr>
              <a:t>⑥ Génération</a:t>
            </a:r>
          </a:p>
          <a:p>
            <a:pPr algn="ctr"/>
            <a:r>
              <a:rPr sz="950">
                <a:solidFill>
                  <a:srgbClr val="5B6677"/>
                </a:solidFill>
                <a:latin typeface="Segoe UI"/>
              </a:rPr>
              <a:t>réponse finale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29400" y="3858768"/>
            <a:ext cx="36576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40880" y="3639312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 Semibold"/>
              </a:rPr>
              <a:t>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40680" y="2971800"/>
            <a:ext cx="0" cy="502920"/>
          </a:xfrm>
          <a:prstGeom prst="line">
            <a:avLst/>
          </a:prstGeom>
          <a:ln w="2857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44348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Pourquoi cette logique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00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EC4B6"/>
                </a:solidFill>
                <a:latin typeface="Segoe UI"/>
              </a:rPr>
              <a:t>—  </a:t>
            </a:r>
            <a:r>
              <a:rPr sz="1100">
                <a:solidFill>
                  <a:srgbClr val="1B1F27"/>
                </a:solidFill>
                <a:latin typeface="Segoe UI"/>
              </a:rPr>
              <a:t>Inutile de générer une réponse hypothétique (HyDE) ou de faire juger le contexte par un LLM pour une information unique et explicite — cela économise 2 à 3 appels LLM par question.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48640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486400"/>
            <a:ext cx="2697480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632704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11 / 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05332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questions de ce niveau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dans le dataset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548640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37560" y="5486400"/>
            <a:ext cx="2697480" cy="54864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5632704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89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605332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durée moyenne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par question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548640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5486400"/>
            <a:ext cx="269748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632704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≈ 2.6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605332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chunks récupérés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en moyenne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548640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06840" y="5486400"/>
            <a:ext cx="2697480" cy="54864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5632704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605332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reformulations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déclenchées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09/20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86FF"/>
                </a:solidFill>
                <a:latin typeface="Segoe UI Semibold"/>
              </a:rPr>
              <a:t>NIVEAU 2 — 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Question de synthèse : combiner plusieurs informations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11201400" cy="502920"/>
          </a:xfrm>
          <a:prstGeom prst="roundRect">
            <a:avLst>
              <a:gd name="adj" fmla="val 25000"/>
            </a:avLst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25296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FFFFFF"/>
                </a:solidFill>
                <a:latin typeface="Segoe UI"/>
              </a:rPr>
              <a:t>⚖  Ce niveau est jugé par le Routeur LLM (gemma4:12b) à chaque question — il peut différer du niveau réel fixé dans le dataset de test, et même être réévalué en cours de route si le contexte récupéré est insuffisant.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520440" cy="54864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Ce que c'est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31089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3A86FF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Nécessite de combiner plusieurs informations d'un même document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3A86FF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Demande d'expliquer un fonctionnement, pas juste un fait isolé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3A86FF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Ex. : "Comment fonctionne le tutorat à l'ENS 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8308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① Routeur</a:t>
            </a:r>
          </a:p>
          <a:p>
            <a:pPr algn="ctr"/>
            <a:r>
              <a:rPr sz="900">
                <a:solidFill>
                  <a:srgbClr val="5B6677"/>
                </a:solidFill>
                <a:latin typeface="Segoe UI"/>
              </a:rPr>
              <a:t>difficulté = 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331720"/>
            <a:ext cx="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97680" y="24231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② Retrieval</a:t>
            </a:r>
          </a:p>
          <a:p>
            <a:pPr algn="ctr"/>
            <a:r>
              <a:rPr sz="869">
                <a:solidFill>
                  <a:srgbClr val="5B6677"/>
                </a:solidFill>
                <a:latin typeface="Segoe UI"/>
              </a:rPr>
              <a:t>HyDE activé — réponse fictive générée puis vectorisée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63640" y="2971800"/>
            <a:ext cx="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iamond 15"/>
          <p:cNvSpPr/>
          <p:nvPr/>
        </p:nvSpPr>
        <p:spPr>
          <a:xfrm>
            <a:off x="4800600" y="3063240"/>
            <a:ext cx="2926080" cy="868680"/>
          </a:xfrm>
          <a:prstGeom prst="diamond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emibold"/>
              </a:rPr>
              <a:t>③ Grading
Chunks suffisants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78308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30" b="1">
                <a:solidFill>
                  <a:srgbClr val="0B1F3A"/>
                </a:solidFill>
                <a:latin typeface="Segoe UI Semibold"/>
              </a:rPr>
              <a:t>⑥ Génération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réponse finale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1874519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END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515600" y="2057400"/>
            <a:ext cx="210312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726679" y="2331720"/>
            <a:ext cx="1051561" cy="914400"/>
          </a:xfrm>
          <a:prstGeom prst="line">
            <a:avLst/>
          </a:prstGeom>
          <a:ln w="28575">
            <a:solidFill>
              <a:srgbClr val="2EA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18120" y="288036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EA86A"/>
                </a:solidFill>
                <a:latin typeface="Segoe UI"/>
              </a:rPr>
              <a:t>OUI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63640" y="3931920"/>
            <a:ext cx="0" cy="91440"/>
          </a:xfrm>
          <a:prstGeom prst="line">
            <a:avLst/>
          </a:prstGeom>
          <a:ln w="28575">
            <a:solidFill>
              <a:srgbClr val="E6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83879" y="4069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E64A4A"/>
                </a:solidFill>
                <a:latin typeface="Segoe UI"/>
              </a:rPr>
              <a:t>NON → remonte à difficulté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402336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8A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④ upgrade_difficulty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63640" y="4480560"/>
            <a:ext cx="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34840" y="457200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⑤ rewrite_query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92440" y="4800600"/>
            <a:ext cx="342900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521440" y="2697480"/>
            <a:ext cx="0" cy="2084832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229600" y="2697480"/>
            <a:ext cx="3273552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21040" y="4572000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677"/>
                </a:solidFill>
                <a:latin typeface="Segoe UI"/>
              </a:rPr>
              <a:t>2ᵉ retrieval — pool = 3 anciens</a:t>
            </a:r>
          </a:p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677"/>
                </a:solidFill>
                <a:latin typeface="Segoe UI"/>
              </a:rPr>
              <a:t>chunks + 2 nouveaux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1937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677"/>
                </a:solidFill>
                <a:latin typeface="Segoe UI"/>
              </a:rPr>
              <a:t>Le HyDE rapproche la recherche vectorielle de l'espace des réponses attendues, utile quand l'information est diffuse dans le document.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53212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532120"/>
            <a:ext cx="2697480" cy="54864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678424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19 / 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099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questions de ce niveau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dans le dataset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37560" y="553212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37560" y="5532120"/>
            <a:ext cx="2697480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678424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156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6099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durée moyenne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par question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553212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5532120"/>
            <a:ext cx="269748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5678424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≈ 2.8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6099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chunks récupérés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en moyenne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06840" y="553212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06840" y="5532120"/>
            <a:ext cx="2697480" cy="54864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5678424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21%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6099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reformulations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déclenchées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10/20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6B35"/>
                </a:solidFill>
                <a:latin typeface="Segoe UI Semibold"/>
              </a:rPr>
              <a:t>NIVEAU 3 — COMPLEXE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Question complexe : comparaison ou raisonnement croisé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11201400" cy="502920"/>
          </a:xfrm>
          <a:prstGeom prst="roundRect">
            <a:avLst>
              <a:gd name="adj" fmla="val 25000"/>
            </a:avLst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25296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FFFFFF"/>
                </a:solidFill>
                <a:latin typeface="Segoe UI"/>
              </a:rPr>
              <a:t>⚖  Ce niveau est jugé par le Routeur LLM (gemma4:12b) à chaque question — il peut différer du niveau réel fixé dans le dataset de test, et même être réévalué en cours de route si le contexte récupéré est insuffisant.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52044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Ce que c'est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31089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FF6B35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Nécessite de croiser plusieurs sources ou sections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FF6B35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Comparaisons, raisonnement multi-documents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FF6B35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Ex. : "Compare les ECTS L3 et M1 à l'ENS"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8308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① Routeur</a:t>
            </a:r>
          </a:p>
          <a:p>
            <a:pPr algn="ctr"/>
            <a:r>
              <a:rPr sz="869">
                <a:solidFill>
                  <a:srgbClr val="5B6677"/>
                </a:solidFill>
                <a:latin typeface="Segoe UI"/>
              </a:rPr>
              <a:t>difficulté = 3 — jusqu'à 2 sous-requêtes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212080" y="2331720"/>
            <a:ext cx="27432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80" y="2331720"/>
            <a:ext cx="27432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7680" y="2423160"/>
            <a:ext cx="1874519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50" b="1">
                <a:solidFill>
                  <a:srgbClr val="0B1F3A"/>
                </a:solidFill>
                <a:latin typeface="Segoe UI Semibold"/>
              </a:rPr>
              <a:t>Retrieval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sous-requête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423160"/>
            <a:ext cx="1874519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50" b="1">
                <a:solidFill>
                  <a:srgbClr val="0B1F3A"/>
                </a:solidFill>
                <a:latin typeface="Segoe UI Semibold"/>
              </a:rPr>
              <a:t>Retrieval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sous-requête 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12080" y="2926080"/>
            <a:ext cx="73152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583680" y="2926080"/>
            <a:ext cx="73152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97680" y="3017520"/>
            <a:ext cx="393192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Fusion + rerank global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sur la question originale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63640" y="3520440"/>
            <a:ext cx="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4800600" y="3611880"/>
            <a:ext cx="2926080" cy="868680"/>
          </a:xfrm>
          <a:prstGeom prst="diamond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emibold"/>
              </a:rPr>
              <a:t>③ Grading
Chunks suffisants 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178308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30" b="1">
                <a:solidFill>
                  <a:srgbClr val="0B1F3A"/>
                </a:solidFill>
                <a:latin typeface="Segoe UI Semibold"/>
              </a:rPr>
              <a:t>⑥ Génération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réponse finale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44200" y="1874519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END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515600" y="2057400"/>
            <a:ext cx="210312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726679" y="2331720"/>
            <a:ext cx="1051561" cy="1463040"/>
          </a:xfrm>
          <a:prstGeom prst="line">
            <a:avLst/>
          </a:prstGeom>
          <a:ln w="28575">
            <a:solidFill>
              <a:srgbClr val="2EA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18120" y="342900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EA86A"/>
                </a:solidFill>
                <a:latin typeface="Segoe UI"/>
              </a:rPr>
              <a:t>OUI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63640" y="4480560"/>
            <a:ext cx="0" cy="91440"/>
          </a:xfrm>
          <a:prstGeom prst="line">
            <a:avLst/>
          </a:prstGeom>
          <a:ln w="28575">
            <a:solidFill>
              <a:srgbClr val="E6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83879" y="46177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E64A4A"/>
                </a:solidFill>
                <a:latin typeface="Segoe UI"/>
              </a:rPr>
              <a:t>NON → rewrite direct</a:t>
            </a:r>
          </a:p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E64A4A"/>
                </a:solidFill>
                <a:latin typeface="Segoe UI"/>
              </a:rPr>
              <a:t>(déjà diff. 3)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57200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⑤ rewrite_query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92440" y="4800600"/>
            <a:ext cx="342900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521440" y="3268980"/>
            <a:ext cx="0" cy="1513332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229600" y="3268980"/>
            <a:ext cx="3273552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21040" y="3310128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677"/>
                </a:solidFill>
                <a:latin typeface="Segoe UI"/>
              </a:rPr>
              <a:t>2ᵉ retrieval — pool = 3 anciens</a:t>
            </a:r>
          </a:p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677"/>
                </a:solidFill>
                <a:latin typeface="Segoe UI"/>
              </a:rPr>
              <a:t>chunks + 2 nouveaux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1937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677"/>
                </a:solidFill>
                <a:latin typeface="Segoe UI"/>
              </a:rPr>
              <a:t>Le Routeur peut générer jusqu'à 2 sous-requêtes lorsque la question compare deux entités ; chacune est cherchée séparément avant fusion.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53212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532120"/>
            <a:ext cx="269748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678424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20 / 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099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questions de ce niveau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dans le dataset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37560" y="553212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37560" y="5532120"/>
            <a:ext cx="2697480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5678424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158 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6099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durée moyenne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par question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553212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5532120"/>
            <a:ext cx="2697480" cy="54864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5678424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≈ 3.2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6099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chunks récupérés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en moyenne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06840" y="553212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06840" y="5532120"/>
            <a:ext cx="2697480" cy="54864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0" y="5678424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50%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6099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reformulations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déclenchées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11/20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86FF"/>
                </a:solidFill>
                <a:latin typeface="Segoe UI Semibold"/>
              </a:rPr>
              <a:t>ZOOM —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Retrieval hybride : sémantique + lexical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234440"/>
            <a:ext cx="274320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Question (+ HyDE si niveau 2)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291840" y="1828800"/>
            <a:ext cx="2103120" cy="41148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80960" y="1828800"/>
            <a:ext cx="1097280" cy="41148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63040" y="2286000"/>
            <a:ext cx="2743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Recherche sémantique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bge-m3 + MMR
25 chunks parmi 100 (λ=0.5)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286000"/>
            <a:ext cx="2743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Recherche lexicale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BM25 normalisé (sans accents)
25 chunks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3291840"/>
            <a:ext cx="2560320" cy="41148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766560" y="3291840"/>
            <a:ext cx="1554480" cy="41148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09160" y="3749039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Fusion RRF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score = Σ 1 / (60 + rang)
→ 15 candidats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4526280"/>
            <a:ext cx="0" cy="3200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09160" y="489204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8A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Déduplication Jaccard</a:t>
            </a:r>
          </a:p>
          <a:p>
            <a:pPr algn="ctr"/>
            <a:r>
              <a:rPr sz="950">
                <a:solidFill>
                  <a:srgbClr val="5B6677"/>
                </a:solidFill>
                <a:latin typeface="Segoe UI"/>
              </a:rPr>
              <a:t>seuil 90% de tokens communs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49039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5B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0B1F3A"/>
                </a:solidFill>
                <a:latin typeface="Segoe UI Semibold"/>
              </a:rPr>
              <a:t>Filtrage multi-source</a:t>
            </a:r>
          </a:p>
          <a:p>
            <a:pPr algn="ctr"/>
            <a:r>
              <a:rPr sz="900">
                <a:solidFill>
                  <a:srgbClr val="5B6677"/>
                </a:solidFill>
                <a:latin typeface="Segoe UI"/>
              </a:rPr>
              <a:t>max. 3 chunks par document
(désactivé si 1 seule source)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9080" y="4069080"/>
            <a:ext cx="594360" cy="0"/>
          </a:xfrm>
          <a:prstGeom prst="line">
            <a:avLst/>
          </a:prstGeom>
          <a:ln w="2857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52360" y="5212080"/>
            <a:ext cx="731519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0" y="4846320"/>
            <a:ext cx="33832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Re-ranking CrossEncoder</a:t>
            </a:r>
          </a:p>
          <a:p>
            <a:pPr algn="ctr"/>
            <a:r>
              <a:rPr sz="950">
                <a:solidFill>
                  <a:srgbClr val="5B6677"/>
                </a:solidFill>
                <a:latin typeface="Segoe UI"/>
              </a:rPr>
              <a:t>BAAI/bge-reranker-v2-m3 — seuil 0.5
→ Top 5 chunks finaux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B6677"/>
                </a:solidFill>
                <a:latin typeface="Segoe UI"/>
              </a:rPr>
              <a:t>Ce retrieval hybride est partagé par les 3 niveaux de difficulté — seules les options HyDE et sous-requêtes varient selon le niveau jugé par le Routeur.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12/20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A5CF6"/>
                </a:solidFill>
                <a:latin typeface="Segoe UI Semibold"/>
              </a:rPr>
              <a:t>ZOOM — BOUCLE DE CONTRÔLE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Grading, reformulation et sous-requêtes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7"/>
                </a:solidFill>
                <a:latin typeface="Segoe UI"/>
              </a:rPr>
              <a:t>Avant de répondre, l'agent vérifie lui-même la qualité de son contexte — et se corrige s'il est insuffisant.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331720"/>
            <a:ext cx="365760" cy="36576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496312"/>
            <a:ext cx="1417319" cy="279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34639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1ᵉʳ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7296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5 chunks récupérés</a:t>
            </a:r>
          </a:p>
        </p:txBody>
      </p:sp>
      <p:sp>
        <p:nvSpPr>
          <p:cNvPr id="11" name="Oval 10"/>
          <p:cNvSpPr/>
          <p:nvPr/>
        </p:nvSpPr>
        <p:spPr>
          <a:xfrm>
            <a:off x="2606040" y="2331720"/>
            <a:ext cx="365760" cy="3657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2496312"/>
            <a:ext cx="1417319" cy="279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2834639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Grading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17296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LLM juge : suffisant ?</a:t>
            </a:r>
          </a:p>
        </p:txBody>
      </p:sp>
      <p:sp>
        <p:nvSpPr>
          <p:cNvPr id="15" name="Oval 14"/>
          <p:cNvSpPr/>
          <p:nvPr/>
        </p:nvSpPr>
        <p:spPr>
          <a:xfrm>
            <a:off x="4389120" y="2331720"/>
            <a:ext cx="365760" cy="365760"/>
          </a:xfrm>
          <a:prstGeom prst="ellipse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496312"/>
            <a:ext cx="1417319" cy="279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834639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Verdict 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17296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ce qui manque est précisé</a:t>
            </a:r>
          </a:p>
        </p:txBody>
      </p:sp>
      <p:sp>
        <p:nvSpPr>
          <p:cNvPr id="19" name="Oval 18"/>
          <p:cNvSpPr/>
          <p:nvPr/>
        </p:nvSpPr>
        <p:spPr>
          <a:xfrm>
            <a:off x="6172200" y="23317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496312"/>
            <a:ext cx="1417319" cy="279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834639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Rewrite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17296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requête reformulée</a:t>
            </a:r>
          </a:p>
        </p:txBody>
      </p:sp>
      <p:sp>
        <p:nvSpPr>
          <p:cNvPr id="23" name="Oval 22"/>
          <p:cNvSpPr/>
          <p:nvPr/>
        </p:nvSpPr>
        <p:spPr>
          <a:xfrm>
            <a:off x="7955279" y="2331720"/>
            <a:ext cx="365760" cy="36576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39" y="2496312"/>
            <a:ext cx="1417319" cy="279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59" y="2834639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2ᵉ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39" y="317296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3 anciens + 2 nouveaux chunks</a:t>
            </a:r>
          </a:p>
        </p:txBody>
      </p:sp>
      <p:sp>
        <p:nvSpPr>
          <p:cNvPr id="27" name="Oval 26"/>
          <p:cNvSpPr/>
          <p:nvPr/>
        </p:nvSpPr>
        <p:spPr>
          <a:xfrm>
            <a:off x="9738360" y="2331720"/>
            <a:ext cx="365760" cy="365760"/>
          </a:xfrm>
          <a:prstGeom prst="ellipse">
            <a:avLst/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834639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Génération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17296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réponse finale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160520"/>
            <a:ext cx="54406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160520"/>
            <a:ext cx="5440680" cy="41148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251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Ce que vérifie le grading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663440"/>
            <a:ext cx="49377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Le LLM reçoit l'ensemble des chunks récupérés et juge s'ils couvrent entièrement la question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Verdict binaire : OUI (suffisant) → génération directe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NON — le LLM précise ce qui manque → reformulation ciblée sur ce manque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160520"/>
            <a:ext cx="548640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17920" y="4160520"/>
            <a:ext cx="5486400" cy="41148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251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Décomposition en sous-requêtes (niveau 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663440"/>
            <a:ext cx="50292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Le Routeur peut générer jusqu'à 2 sous-requêtes pour une question de comparaison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Chaque sous-requête lance son propre retrieval, en parallèle conceptuel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Les résultats sont fusionnés puis re-classés sur la question originale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199632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13/20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A5CF6"/>
                </a:solidFill>
                <a:latin typeface="Segoe UI Semibold"/>
              </a:rPr>
              <a:t>PHASE 3 — ÉVALUATION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Mesurer la qualité à deux niveaux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201400" cy="914400"/>
          </a:xfrm>
          <a:prstGeom prst="roundRect">
            <a:avLst>
              <a:gd name="adj" fmla="val 12000"/>
            </a:avLst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82296" cy="9144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run_agentic_all.py exécute les 50 questions et écrit agentic_results_debug.json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D8E0EC"/>
                </a:solidFill>
                <a:latin typeface="Segoe UI"/>
              </a:rPr>
              <a:t>Ce fichier contient TOUS les états intermédiaires (routeur, chunks avant/après reranking, verdict de grading, requête reformulée).</a:t>
            </a:r>
          </a:p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D8E0EC"/>
                </a:solidFill>
                <a:latin typeface="Segoe UI"/>
              </a:rPr>
              <a:t>→ evaluate_components.py ne relance JAMAIS le pipeline : il relit uniquement ce fichier pour scorer chacune des 8 briques.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Évaluation globale — RAGAS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97480"/>
            <a:ext cx="5440680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97480"/>
            <a:ext cx="64008" cy="621792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752344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Faithfulness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00837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677"/>
                </a:solidFill>
                <a:latin typeface="Segoe UI"/>
              </a:rPr>
              <a:t>La réponse est-elle fondée sur le contexte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92424"/>
            <a:ext cx="5440680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392424"/>
            <a:ext cx="64008" cy="621792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447288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Answer Relevancy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7033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677"/>
                </a:solidFill>
                <a:latin typeface="Segoe UI"/>
              </a:rPr>
              <a:t>La réponse répond-elle à la question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87368"/>
            <a:ext cx="5440680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087368"/>
            <a:ext cx="64008" cy="621792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142231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Context 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9826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677"/>
                </a:solidFill>
                <a:latin typeface="Segoe UI"/>
              </a:rPr>
              <a:t>Les chunks récupérés sont-ils pertinents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82312"/>
            <a:ext cx="5440680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782312"/>
            <a:ext cx="64008" cy="621792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837175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Context Recall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093207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677"/>
                </a:solidFill>
                <a:latin typeface="Segoe UI"/>
              </a:rPr>
              <a:t>Le contexte couvre-t-il la réponse attendue 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77255"/>
            <a:ext cx="5440680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477255"/>
            <a:ext cx="64008" cy="621792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532119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Answer Correctness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788151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677"/>
                </a:solidFill>
                <a:latin typeface="Segoe UI"/>
              </a:rPr>
              <a:t>La réponse est-elle correcte vs référence 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3317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Évaluation par composant (8 briques)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2697480"/>
            <a:ext cx="5440680" cy="4228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2697480"/>
            <a:ext cx="64008" cy="42282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2727681"/>
            <a:ext cx="182880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8" b="1" i="0">
                <a:solidFill>
                  <a:srgbClr val="0B1F3A"/>
                </a:solidFill>
                <a:latin typeface="Segoe UI Semibold"/>
              </a:rPr>
              <a:t>① Router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727681"/>
            <a:ext cx="338328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7" b="0" i="0">
                <a:solidFill>
                  <a:srgbClr val="5B6677"/>
                </a:solidFill>
                <a:latin typeface="Segoe UI"/>
              </a:rPr>
              <a:t>Source / difficulté vs vérité terrain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173152"/>
            <a:ext cx="5440680" cy="4228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173152"/>
            <a:ext cx="64008" cy="42282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3203353"/>
            <a:ext cx="182880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8" b="1" i="0">
                <a:solidFill>
                  <a:srgbClr val="0B1F3A"/>
                </a:solidFill>
                <a:latin typeface="Segoe UI Semibold"/>
              </a:rPr>
              <a:t>② Retrieval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203353"/>
            <a:ext cx="338328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7" b="0" i="0">
                <a:solidFill>
                  <a:srgbClr val="5B6677"/>
                </a:solidFill>
                <a:latin typeface="Segoe UI"/>
              </a:rPr>
              <a:t>Context Precision + Recall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648824"/>
            <a:ext cx="5440680" cy="4228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648824"/>
            <a:ext cx="64008" cy="42282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3679025"/>
            <a:ext cx="182880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8" b="1" i="0">
                <a:solidFill>
                  <a:srgbClr val="0B1F3A"/>
                </a:solidFill>
                <a:latin typeface="Segoe UI Semibold"/>
              </a:rPr>
              <a:t>③ Re-ranking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679025"/>
            <a:ext cx="338328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7" b="0" i="0">
                <a:solidFill>
                  <a:srgbClr val="5B6677"/>
                </a:solidFill>
                <a:latin typeface="Segoe UI"/>
              </a:rPr>
              <a:t>Gain de précision avant/après CrossEncoder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4124496"/>
            <a:ext cx="5440680" cy="4228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4124496"/>
            <a:ext cx="64008" cy="42282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3952" y="4154697"/>
            <a:ext cx="182880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8" b="1" i="0">
                <a:solidFill>
                  <a:srgbClr val="0B1F3A"/>
                </a:solidFill>
                <a:latin typeface="Segoe UI Semibold"/>
              </a:rPr>
              <a:t>④ Grading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154697"/>
            <a:ext cx="338328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7" b="0" i="0">
                <a:solidFill>
                  <a:srgbClr val="5B6677"/>
                </a:solidFill>
                <a:latin typeface="Segoe UI"/>
              </a:rPr>
              <a:t>Verdict vs juge externe (gemma4:12b)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4600168"/>
            <a:ext cx="5440680" cy="4228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4600168"/>
            <a:ext cx="64008" cy="42282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3952" y="4630369"/>
            <a:ext cx="182880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8" b="1" i="0">
                <a:solidFill>
                  <a:srgbClr val="0B1F3A"/>
                </a:solidFill>
                <a:latin typeface="Segoe UI Semibold"/>
              </a:rPr>
              <a:t>⑤ Rewriting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630369"/>
            <a:ext cx="338328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7" b="0" i="0">
                <a:solidFill>
                  <a:srgbClr val="5B6677"/>
                </a:solidFill>
                <a:latin typeface="Segoe UI"/>
              </a:rPr>
              <a:t>Gain de précision après reformulation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5075840"/>
            <a:ext cx="5440680" cy="4228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63640" y="5075840"/>
            <a:ext cx="64008" cy="42282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73952" y="5106041"/>
            <a:ext cx="182880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8" b="1" i="0">
                <a:solidFill>
                  <a:srgbClr val="0B1F3A"/>
                </a:solidFill>
                <a:latin typeface="Segoe UI Semibold"/>
              </a:rPr>
              <a:t>⑥ Generation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106041"/>
            <a:ext cx="338328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7" b="0" i="0">
                <a:solidFill>
                  <a:srgbClr val="5B6677"/>
                </a:solidFill>
                <a:latin typeface="Segoe UI"/>
              </a:rPr>
              <a:t>Faithfulness de la réponse finale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14/20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1 newrow1"/>
          <p:cNvSpPr/>
          <p:nvPr/>
        </p:nvSpPr>
        <p:spPr>
          <a:xfrm>
            <a:off x="6263640" y="5551512"/>
            <a:ext cx="5440680" cy="4228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2 newrow1"/>
          <p:cNvSpPr/>
          <p:nvPr/>
        </p:nvSpPr>
        <p:spPr>
          <a:xfrm>
            <a:off x="6263640" y="5551512"/>
            <a:ext cx="64008" cy="42282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53 newrow1"/>
          <p:cNvSpPr txBox="1"/>
          <p:nvPr/>
        </p:nvSpPr>
        <p:spPr>
          <a:xfrm>
            <a:off x="6473952" y="5581713"/>
            <a:ext cx="182880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8" b="1" i="0">
                <a:solidFill>
                  <a:srgbClr val="0B1F3A"/>
                </a:solidFill>
                <a:latin typeface="Segoe UI Semibold"/>
              </a:rPr>
              <a:t>⑦ Déduplication</a:t>
            </a:r>
          </a:p>
        </p:txBody>
      </p:sp>
      <p:sp>
        <p:nvSpPr>
          <p:cNvPr id="62" name="TextBox 54 newrow1"/>
          <p:cNvSpPr txBox="1"/>
          <p:nvPr/>
        </p:nvSpPr>
        <p:spPr>
          <a:xfrm>
            <a:off x="8229600" y="5581713"/>
            <a:ext cx="338328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7" b="0" i="0">
                <a:solidFill>
                  <a:srgbClr val="5B6677"/>
                </a:solidFill>
                <a:latin typeface="Segoe UI"/>
              </a:rPr>
              <a:t>Perte d’info réelle (chunk écarté vs conservé)</a:t>
            </a:r>
          </a:p>
        </p:txBody>
      </p:sp>
      <p:sp>
        <p:nvSpPr>
          <p:cNvPr id="63" name="Rounded Rectangle 51 newrow2"/>
          <p:cNvSpPr/>
          <p:nvPr/>
        </p:nvSpPr>
        <p:spPr>
          <a:xfrm>
            <a:off x="6263640" y="6027184"/>
            <a:ext cx="5440680" cy="4228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52 newrow2"/>
          <p:cNvSpPr/>
          <p:nvPr/>
        </p:nvSpPr>
        <p:spPr>
          <a:xfrm>
            <a:off x="6263640" y="6027184"/>
            <a:ext cx="64008" cy="42282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53 newrow2"/>
          <p:cNvSpPr txBox="1"/>
          <p:nvPr/>
        </p:nvSpPr>
        <p:spPr>
          <a:xfrm>
            <a:off x="6473952" y="6057385"/>
            <a:ext cx="182880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8" b="1" i="0">
                <a:solidFill>
                  <a:srgbClr val="0B1F3A"/>
                </a:solidFill>
                <a:latin typeface="Segoe UI Semibold"/>
              </a:rPr>
              <a:t>⑧ Fusion RRF</a:t>
            </a:r>
          </a:p>
        </p:txBody>
      </p:sp>
      <p:sp>
        <p:nvSpPr>
          <p:cNvPr id="66" name="TextBox 54 newrow2"/>
          <p:cNvSpPr txBox="1"/>
          <p:nvPr/>
        </p:nvSpPr>
        <p:spPr>
          <a:xfrm>
            <a:off x="8229600" y="6057385"/>
            <a:ext cx="3383280" cy="3624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7" b="0" i="0">
                <a:solidFill>
                  <a:srgbClr val="5B6677"/>
                </a:solidFill>
                <a:latin typeface="Segoe UI"/>
              </a:rPr>
              <a:t>Sémantique vs BM25 vs fusion (complémentarité)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STACK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Modèles et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Modèles (servis par Ollama)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27632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64008" cy="84124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19072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bge-m3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 Semibold"/>
              </a:rPr>
              <a:t>~570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48256"/>
            <a:ext cx="5074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Embeddings multilingues — 1024 dim, fenêtre 8192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6032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60320"/>
            <a:ext cx="64008" cy="8412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gemma4:12b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670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 Semibold"/>
              </a:rPr>
              <a:t>~7 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80944"/>
            <a:ext cx="5074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Split agentique · HyDE · grading · rewrite · génération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93008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64008" cy="841248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84448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gemma2:2b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602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 Semibold"/>
              </a:rPr>
              <a:t>~1.6 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13632"/>
            <a:ext cx="5074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Juge RAGAS léger pour accélérer l'évaluation (Colab)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25696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425696"/>
            <a:ext cx="64008" cy="841248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1713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bge-reranker-v2-m3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453542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 Semibold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5074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Re-ranking CrossEncoder (sentence-transformers)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234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Frameworks &amp; librairies clés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6276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LangGraph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16276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Orchestration du graphe agentique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011680"/>
            <a:ext cx="548640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15798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LangChain (+ Ollama / Chroma)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15798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Connecteurs LLM, embeddings, base vectorielle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542032"/>
            <a:ext cx="548640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68833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ChromaDB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268833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Base vectorielle locale persistée sur disque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072384"/>
            <a:ext cx="548640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2186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rank_bm25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32186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Recherche lexicale BM25 normalisée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602736"/>
            <a:ext cx="548640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74903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pymupdf4llm / ftfy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74903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Extraction PDF → Markdown + réparation encodage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133087"/>
            <a:ext cx="548640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27939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RAGAS + datasets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427939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Évaluation LLM-judge (5 métriques)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663440"/>
            <a:ext cx="548640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097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FastAPI / uvicorn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48097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Serveur API compatible OpenAI (Open WebUI)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5193792"/>
            <a:ext cx="548640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15/20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DÉPLOIEMENT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Local vs Google Colab — défis d'ingénierie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0B1F3A"/>
                </a:solidFill>
                <a:latin typeface="Segoe UI Semibold"/>
              </a:rPr>
              <a:t>Local (Windows)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Ollama + ChromaDB sur le poste
Base vectorielle : C:/vector_db_aquila
(hors OneDrive — évite la corruption SQLite)
Interface : Open WebUI / Gradio / terminal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887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0B1F3A"/>
                </a:solidFill>
                <a:latin typeface="Segoe UI Semibold"/>
              </a:rPr>
              <a:t>Google Colab (GPU)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GPU recommandé : L4 (24 Go) — T4 (16 Go) acceptable
vector_db/ versionnée dans le repo Git
Drive monté pour sauvegarder les résultats
Évaluation RAGAS avec gemma2:2b (plus rapide)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Problèmes rencontrés et solutions d'ingénierie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27248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127248"/>
            <a:ext cx="54864" cy="105156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2004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llama-server crash sur Colab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493008"/>
            <a:ext cx="510235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2EA86A"/>
                </a:solidFill>
                <a:latin typeface="Segoe UI"/>
              </a:rPr>
              <a:t>→ Notebook alternatif (colab_run_vllm.ipynb) : la génération tourne sur un serveur vLLM (gemma4:12b quantifié) plutôt que sur Ollama, qui reste stable ; Ollama garde uniquement les embeddings.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88536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288536"/>
            <a:ext cx="54864" cy="105156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436168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Latence croissante (KV-cache)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654296"/>
            <a:ext cx="510235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2EA86A"/>
                </a:solidFill>
                <a:latin typeface="Segoe UI"/>
              </a:rPr>
              <a:t>→ Redémarrage préventif d'Ollama toutes les 2 questions.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449824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449824"/>
            <a:ext cx="54864" cy="105156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522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Crash sur 700+ appels LLM (ingestion)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5815584"/>
            <a:ext cx="510235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2EA86A"/>
                </a:solidFill>
                <a:latin typeface="Segoe UI"/>
              </a:rPr>
              <a:t>→ 3 tentatives, avec redémarrage d'Ollama entre chaque essai.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27248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127248"/>
            <a:ext cx="54864" cy="105156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2004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Session Colab coupée en cours de route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93008"/>
            <a:ext cx="510235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2EA86A"/>
                </a:solidFill>
                <a:latin typeface="Segoe UI"/>
              </a:rPr>
              <a:t>→ Sauvegarde après chaque page + copie automatique du Drive vers le dépôt Git.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288536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288536"/>
            <a:ext cx="54864" cy="105156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436168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Le code modifié n'était pas pris en compte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654296"/>
            <a:ext cx="510235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2EA86A"/>
                </a:solidFill>
                <a:latin typeface="Segoe UI"/>
              </a:rPr>
              <a:t>→ Colab garde l'ancien code en mémoire d'une cellule à l'autre : on force la relecture des fichiers à jour avant chaque lancement, avec une vérification qui bloque si une vieille version est détectée.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449824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5449824"/>
            <a:ext cx="54864" cy="105156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5522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Les PDF surlignés ne s'ouvraient plus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815584"/>
            <a:ext cx="510235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2EA86A"/>
                </a:solidFill>
                <a:latin typeface="Segoe UI"/>
              </a:rPr>
              <a:t>→ Gradio 5 a changé sa façon de servir les fichiers derrière le proxy web de Colab (erreur 404 à l'ouverture) ; on reste donc sur Gradio 4, qui fonctionne correctement.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16/20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6A"/>
                </a:solidFill>
                <a:latin typeface="Segoe UI Semibold"/>
              </a:rPr>
              <a:t>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Mesures réelles sur les 50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65760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64008" cy="10972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08176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Segoe UI"/>
              </a:rPr>
              <a:t>94.5%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677"/>
                </a:solidFill>
                <a:latin typeface="Segoe UI"/>
              </a:rPr>
              <a:t>Context Precision (retrieval)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65760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64008" cy="10972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08176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Segoe UI"/>
              </a:rPr>
              <a:t>94.9%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38528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677"/>
                </a:solidFill>
                <a:latin typeface="Segoe UI"/>
              </a:rPr>
              <a:t>Context Recall (retrieval)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80160"/>
            <a:ext cx="365760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80160"/>
            <a:ext cx="64008" cy="1097280"/>
          </a:xfrm>
          <a:prstGeom prst="rect">
            <a:avLst/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08176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Segoe UI"/>
              </a:rPr>
              <a:t>83.5%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38528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677"/>
                </a:solidFill>
                <a:latin typeface="Segoe UI"/>
              </a:rPr>
              <a:t>Faithfulness (génération)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Le Routeur (identify_sources)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063240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1F27"/>
                </a:solidFill>
                <a:latin typeface="Segoe UI"/>
              </a:rPr>
              <a:t>Source identifiée correctement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3090672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08960" y="3090672"/>
            <a:ext cx="1219809" cy="23774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3063240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"/>
              </a:rPr>
              <a:t>58%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520440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1F27"/>
                </a:solidFill>
                <a:latin typeface="Segoe UI"/>
              </a:rPr>
              <a:t>Difficulté identifiée correctement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3547872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08960" y="3547872"/>
            <a:ext cx="1345996" cy="23774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3520440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"/>
              </a:rPr>
              <a:t>64%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160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Boucle de correction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5262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FF6B35"/>
                </a:solidFill>
                <a:latin typeface="Segoe UI"/>
              </a:rPr>
              <a:t>—  </a:t>
            </a:r>
            <a:r>
              <a:rPr sz="1100">
                <a:solidFill>
                  <a:srgbClr val="1B1F27"/>
                </a:solidFill>
                <a:latin typeface="Segoe UI"/>
              </a:rPr>
              <a:t>Grading déclenché sur 82% des questions (non factuelles)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FF6B35"/>
                </a:solidFill>
                <a:latin typeface="Segoe UI"/>
              </a:rPr>
              <a:t>—  </a:t>
            </a:r>
            <a:r>
              <a:rPr sz="1100">
                <a:solidFill>
                  <a:srgbClr val="1B1F27"/>
                </a:solidFill>
                <a:latin typeface="Segoe UI"/>
              </a:rPr>
              <a:t>Reformulation effectivement lancée sur 28% des questions au global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FF6B35"/>
                </a:solidFill>
                <a:latin typeface="Segoe UI"/>
              </a:rPr>
              <a:t>—  </a:t>
            </a:r>
            <a:r>
              <a:rPr sz="1100">
                <a:solidFill>
                  <a:srgbClr val="1B1F27"/>
                </a:solidFill>
                <a:latin typeface="Segoe UI"/>
              </a:rPr>
              <a:t>Re-ranking : précision améliorée de +1.3 point en moyenne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6060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Comparaison par niveau de difficulté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017520"/>
            <a:ext cx="52120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29400" y="3108960"/>
            <a:ext cx="4937760" cy="365760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163824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163824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Niveau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3163824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Niveau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3163824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Niveau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54787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"/>
              </a:rPr>
              <a:t>Questions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5478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35478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35478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3931920"/>
            <a:ext cx="493776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00507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"/>
              </a:rPr>
              <a:t>Durée moy.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0050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89 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40050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156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40050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158 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4389120"/>
            <a:ext cx="493776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446227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"/>
              </a:rPr>
              <a:t>Chunks moy.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4622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2.6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5480" y="44622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2.8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0" y="44622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3.2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4846320"/>
            <a:ext cx="493776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9400" y="491947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"/>
              </a:rPr>
              <a:t>Reformulation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9194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55480" y="49194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21%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49194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50%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17/20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Ce qui rend Aquila différent d'un RAG classique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82296" cy="84124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Agentique, pas linéaire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536192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677"/>
                </a:solidFill>
                <a:latin typeface="Segoe UI"/>
              </a:rPr>
              <a:t>Le système décide, juge sa propre qualité et se corrige — au lieu d'un retrieve→generate figé.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112014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82296" cy="841248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41448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Hybride et robuste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496312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677"/>
                </a:solidFill>
                <a:latin typeface="Segoe UI"/>
              </a:rPr>
              <a:t>Sémantique + lexical + re-ranking + déduplication : moins de chunks hors-sujet ou redondants.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91839"/>
            <a:ext cx="112014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291839"/>
            <a:ext cx="82296" cy="8412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01568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Anti-hallucination dès l'ingestion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456432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677"/>
                </a:solidFill>
                <a:latin typeface="Segoe UI"/>
              </a:rPr>
              <a:t>Le split par LLM est validé mot à mot ; en cas de doute, un découpage déterministe prend le relais.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51959"/>
            <a:ext cx="112014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51959"/>
            <a:ext cx="82296" cy="841248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61688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Auto-évalué en continu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416551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677"/>
                </a:solidFill>
                <a:latin typeface="Segoe UI"/>
              </a:rPr>
              <a:t>RAGAS + évaluation par composant permettent de savoir précisément quelle brique sous-performe.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12079"/>
            <a:ext cx="112014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212079"/>
            <a:ext cx="82296" cy="841248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21807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100% local et reproductible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376671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677"/>
                </a:solidFill>
                <a:latin typeface="Segoe UI"/>
              </a:rPr>
              <a:t>Ollama + ChromaDB : aucune dépendance à une API externe, déployable en local ou sur Colab.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18/20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6B35"/>
                </a:solidFill>
                <a:latin typeface="Segoe UI Semibold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Bilan et pistes d'amélioration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40680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5440680" cy="384048"/>
          </a:xfrm>
          <a:prstGeom prst="roundRect">
            <a:avLst>
              <a:gd name="adj" fmla="val 16000"/>
            </a:avLst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✓  Points forts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50292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2EA86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Retrieval très solide : ~95% de précision et de rappel de contexte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2EA86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Génération fidèle au contexte dans 83.5% des cas (Faithfulness)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2EA86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Architecture modulaire, testable composant par composant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2EA86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Anti-hallucination dès l'ingestion (validation mot à mot)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88720"/>
            <a:ext cx="5440680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E6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440680" cy="384048"/>
          </a:xfrm>
          <a:prstGeom prst="roundRect">
            <a:avLst>
              <a:gd name="adj" fmla="val 16000"/>
            </a:avLst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6187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✗  Points faibles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64208"/>
            <a:ext cx="50292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E64A4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Routeur peu fiable sur l'identification de la source (58% de précision)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E64A4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Grading parfois trop laxiste comparé à un juge externe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E64A4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Re-ranking : gain de précision marginal (+1.3 pt) et léger recul du rappel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E64A4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Une seule reformulation possible, même pour les questions les plus complexes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290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Pistes d'amélioration détaillées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67328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67328"/>
            <a:ext cx="54864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840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Fiabiliser le Routeur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133088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 i="0">
                <a:solidFill>
                  <a:srgbClr val="5B6677"/>
                </a:solidFill>
                <a:latin typeface="Segoe UI"/>
              </a:rPr>
              <a:t>Enrichir le prompt avec des exemples (few-shot) de classification source/difficulté.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81728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681728"/>
            <a:ext cx="54864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7548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Recalibrer le grading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5047488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 i="0">
                <a:solidFill>
                  <a:srgbClr val="5B6677"/>
                </a:solidFill>
                <a:latin typeface="Segoe UI"/>
              </a:rPr>
              <a:t>Ajuster les critères de suffisance pour réduire l'écart avec le juge externe.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96128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596128"/>
            <a:ext cx="54864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6692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Étendre le corpus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961888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 i="0">
                <a:solidFill>
                  <a:srgbClr val="5B6677"/>
                </a:solidFill>
                <a:latin typeface="Segoe UI"/>
              </a:rPr>
              <a:t>Ajouter d'autres brochures pour généraliser le pipeline hors ENS/Sorbonne.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67328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767328"/>
            <a:ext cx="54864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840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Re-ranking adaptatif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133088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 i="0">
                <a:solidFill>
                  <a:srgbClr val="5B6677"/>
                </a:solidFill>
                <a:latin typeface="Segoe UI"/>
              </a:rPr>
              <a:t>Faire varier le seuil de pertinence selon la difficulté plutôt qu'un seuil fixe (0.5).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681728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681728"/>
            <a:ext cx="54864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7548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Plus de reformulations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5047488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 i="0">
                <a:solidFill>
                  <a:srgbClr val="5B6677"/>
                </a:solidFill>
                <a:latin typeface="Segoe UI"/>
              </a:rPr>
              <a:t>Autoriser plus d'une reformulation pour les questions niveau 3 les plus complexes.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5596128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5596128"/>
            <a:ext cx="54864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6692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Sous-requêtes étendues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5961888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 i="0">
                <a:solidFill>
                  <a:srgbClr val="5B6677"/>
                </a:solidFill>
                <a:latin typeface="Segoe UI"/>
              </a:rPr>
              <a:t>Gérer plus de 2 sous-requêtes pour les comparaisons entre 3 entités ou plus.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19/20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188720"/>
            <a:ext cx="5029200" cy="5029200"/>
          </a:xfrm>
          <a:prstGeom prst="ellipse">
            <a:avLst/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EC4B6"/>
                </a:solidFill>
                <a:latin typeface="Segoe UI"/>
              </a:rPr>
              <a:t>Questions sur le projet RAG Aquila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B6677"/>
                </a:solidFill>
                <a:latin typeface="Segoe UI"/>
              </a:rPr>
              <a:t>Projet Aquila — RAG Agentique sur documents académiques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20/20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